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59" d="100"/>
          <a:sy n="159" d="100"/>
        </p:scale>
        <p:origin x="336"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00647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68"/>
        </a:solidFill>
        <a:effectLst/>
      </p:bgPr>
    </p:bg>
    <p:spTree>
      <p:nvGrpSpPr>
        <p:cNvPr id="1" name=""/>
        <p:cNvGrpSpPr/>
        <p:nvPr/>
      </p:nvGrpSpPr>
      <p:grpSpPr>
        <a:xfrm>
          <a:off x="0" y="0"/>
          <a:ext cx="0" cy="0"/>
          <a:chOff x="0" y="0"/>
          <a:chExt cx="0" cy="0"/>
        </a:xfrm>
      </p:grpSpPr>
      <p:sp>
        <p:nvSpPr>
          <p:cNvPr id="2" name="Shape 0"/>
          <p:cNvSpPr/>
          <p:nvPr/>
        </p:nvSpPr>
        <p:spPr>
          <a:xfrm>
            <a:off x="0" y="0"/>
            <a:ext cx="274320" cy="6858000"/>
          </a:xfrm>
          <a:prstGeom prst="rect">
            <a:avLst/>
          </a:prstGeom>
          <a:solidFill>
            <a:srgbClr val="F59E0B"/>
          </a:solidFill>
          <a:ln w="12700">
            <a:solidFill>
              <a:srgbClr val="F59E0B"/>
            </a:solidFill>
            <a:prstDash val="solid"/>
          </a:ln>
        </p:spPr>
        <p:txBody>
          <a:bodyPr/>
          <a:lstStyle/>
          <a:p>
            <a:endParaRPr lang="en-US"/>
          </a:p>
        </p:txBody>
      </p:sp>
      <p:sp>
        <p:nvSpPr>
          <p:cNvPr id="3" name="Text 1"/>
          <p:cNvSpPr/>
          <p:nvPr/>
        </p:nvSpPr>
        <p:spPr>
          <a:xfrm>
            <a:off x="914400" y="1554480"/>
            <a:ext cx="10058400" cy="457200"/>
          </a:xfrm>
          <a:prstGeom prst="rect">
            <a:avLst/>
          </a:prstGeom>
          <a:noFill/>
          <a:ln/>
        </p:spPr>
        <p:txBody>
          <a:bodyPr wrap="square" lIns="0" tIns="0" rIns="0" bIns="0" rtlCol="0" anchor="ctr"/>
          <a:lstStyle/>
          <a:p>
            <a:pPr marL="0" indent="0">
              <a:buNone/>
            </a:pPr>
            <a:r>
              <a:rPr lang="en-US" sz="1400" b="1" kern="0" spc="600" dirty="0">
                <a:solidFill>
                  <a:srgbClr val="F59E0B"/>
                </a:solidFill>
                <a:latin typeface="Calibri" pitchFamily="34" charset="0"/>
                <a:ea typeface="Calibri" pitchFamily="34" charset="-122"/>
                <a:cs typeface="Calibri" pitchFamily="34" charset="-120"/>
              </a:rPr>
              <a:t>RESEARCH PROJECT</a:t>
            </a:r>
            <a:endParaRPr lang="en-US" sz="1400" dirty="0"/>
          </a:p>
        </p:txBody>
      </p:sp>
      <p:sp>
        <p:nvSpPr>
          <p:cNvPr id="4" name="Text 2"/>
          <p:cNvSpPr/>
          <p:nvPr/>
        </p:nvSpPr>
        <p:spPr>
          <a:xfrm>
            <a:off x="914400" y="2011680"/>
            <a:ext cx="10332720" cy="146304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Predicting Hotel Booking Cancellations Using Machine Learning</a:t>
            </a:r>
            <a:endParaRPr lang="en-US" sz="4000" dirty="0"/>
          </a:p>
        </p:txBody>
      </p:sp>
      <p:sp>
        <p:nvSpPr>
          <p:cNvPr id="5" name="Text 3"/>
          <p:cNvSpPr/>
          <p:nvPr/>
        </p:nvSpPr>
        <p:spPr>
          <a:xfrm>
            <a:off x="914400" y="3291840"/>
            <a:ext cx="10332720" cy="548640"/>
          </a:xfrm>
          <a:prstGeom prst="rect">
            <a:avLst/>
          </a:prstGeom>
          <a:noFill/>
          <a:ln/>
        </p:spPr>
        <p:txBody>
          <a:bodyPr wrap="square" lIns="0" tIns="0" rIns="0" bIns="0" rtlCol="0" anchor="ctr"/>
          <a:lstStyle/>
          <a:p>
            <a:pPr marL="0" indent="0">
              <a:buNone/>
            </a:pPr>
            <a:r>
              <a:rPr lang="en-US" sz="2200" i="1" dirty="0">
                <a:solidFill>
                  <a:srgbClr val="CADCFC"/>
                </a:solidFill>
                <a:latin typeface="Calibri" pitchFamily="34" charset="0"/>
                <a:ea typeface="Calibri" pitchFamily="34" charset="-122"/>
                <a:cs typeface="Calibri" pitchFamily="34" charset="-120"/>
              </a:rPr>
              <a:t>Across Multiple Datasets</a:t>
            </a:r>
            <a:endParaRPr lang="en-US" sz="2200" dirty="0"/>
          </a:p>
        </p:txBody>
      </p:sp>
      <p:sp>
        <p:nvSpPr>
          <p:cNvPr id="6" name="Shape 4"/>
          <p:cNvSpPr/>
          <p:nvPr/>
        </p:nvSpPr>
        <p:spPr>
          <a:xfrm>
            <a:off x="914400" y="4114800"/>
            <a:ext cx="2743200" cy="0"/>
          </a:xfrm>
          <a:prstGeom prst="line">
            <a:avLst/>
          </a:prstGeom>
          <a:noFill/>
          <a:ln w="38100">
            <a:solidFill>
              <a:srgbClr val="F59E0B"/>
            </a:solidFill>
            <a:prstDash val="solid"/>
          </a:ln>
        </p:spPr>
        <p:txBody>
          <a:bodyPr/>
          <a:lstStyle/>
          <a:p>
            <a:endParaRPr lang="en-US"/>
          </a:p>
        </p:txBody>
      </p:sp>
      <p:sp>
        <p:nvSpPr>
          <p:cNvPr id="7" name="Text 5"/>
          <p:cNvSpPr/>
          <p:nvPr/>
        </p:nvSpPr>
        <p:spPr>
          <a:xfrm>
            <a:off x="914400" y="4297680"/>
            <a:ext cx="1033272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Team 32  </a:t>
            </a:r>
            <a:r>
              <a:rPr lang="en-US" sz="1400" dirty="0">
                <a:solidFill>
                  <a:srgbClr val="FFFFFF"/>
                </a:solidFill>
                <a:latin typeface="Calibri" pitchFamily="34" charset="0"/>
                <a:ea typeface="Calibri" pitchFamily="34" charset="-122"/>
                <a:cs typeface="Calibri" pitchFamily="34" charset="-120"/>
              </a:rPr>
              <a:t>·  Ali Hassan Sulaiman  ·  Mohamed Waleed Galal  ·  Omar Hassan Mostafa  ·  Zyad Tarek Mohamed</a:t>
            </a:r>
            <a:endParaRPr lang="en-US" sz="1400" dirty="0"/>
          </a:p>
        </p:txBody>
      </p:sp>
      <p:sp>
        <p:nvSpPr>
          <p:cNvPr id="8" name="Text 6"/>
          <p:cNvSpPr/>
          <p:nvPr/>
        </p:nvSpPr>
        <p:spPr>
          <a:xfrm>
            <a:off x="914400" y="4754880"/>
            <a:ext cx="10332720" cy="365760"/>
          </a:xfrm>
          <a:prstGeom prst="rect">
            <a:avLst/>
          </a:prstGeom>
          <a:noFill/>
          <a:ln/>
        </p:spPr>
        <p:txBody>
          <a:bodyPr wrap="square" lIns="0" tIns="0" rIns="0" bIns="0" rtlCol="0" anchor="ctr"/>
          <a:lstStyle/>
          <a:p>
            <a:pPr marL="0" indent="0">
              <a:buNone/>
            </a:pPr>
            <a:r>
              <a:rPr lang="en-US" sz="1200" dirty="0">
                <a:solidFill>
                  <a:srgbClr val="9CB3D1"/>
                </a:solidFill>
                <a:latin typeface="Calibri" pitchFamily="34" charset="0"/>
                <a:ea typeface="Calibri" pitchFamily="34" charset="-122"/>
                <a:cs typeface="Calibri" pitchFamily="34" charset="-120"/>
              </a:rPr>
              <a:t>Faculty of Computer Science  ·  Misr International University, Cairo, Egypt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0972800" cy="274320"/>
          </a:xfrm>
          <a:prstGeom prst="rect">
            <a:avLst/>
          </a:prstGeom>
          <a:noFill/>
          <a:ln/>
        </p:spPr>
        <p:txBody>
          <a:bodyPr wrap="square" lIns="0" tIns="0" rIns="0" bIns="0" rtlCol="0" anchor="ctr"/>
          <a:lstStyle/>
          <a:p>
            <a:pPr marL="0" indent="0">
              <a:buNone/>
            </a:pPr>
            <a:r>
              <a:rPr lang="en-US" sz="1100" b="1" kern="0" spc="400" dirty="0">
                <a:solidFill>
                  <a:srgbClr val="F59E0B"/>
                </a:solidFill>
                <a:latin typeface="Calibri" pitchFamily="34" charset="0"/>
                <a:ea typeface="Calibri" pitchFamily="34" charset="-122"/>
                <a:cs typeface="Calibri" pitchFamily="34" charset="-120"/>
              </a:rPr>
              <a:t>WHAT WE WILL COVER</a:t>
            </a:r>
            <a:endParaRPr lang="en-US" sz="1100" dirty="0"/>
          </a:p>
        </p:txBody>
      </p:sp>
      <p:sp>
        <p:nvSpPr>
          <p:cNvPr id="3" name="Text 1"/>
          <p:cNvSpPr/>
          <p:nvPr/>
        </p:nvSpPr>
        <p:spPr>
          <a:xfrm>
            <a:off x="548640" y="594360"/>
            <a:ext cx="10972800" cy="640080"/>
          </a:xfrm>
          <a:prstGeom prst="rect">
            <a:avLst/>
          </a:prstGeom>
          <a:noFill/>
          <a:ln/>
        </p:spPr>
        <p:txBody>
          <a:bodyPr wrap="square" lIns="0" tIns="0" rIns="0" bIns="0" rtlCol="0" anchor="ctr"/>
          <a:lstStyle/>
          <a:p>
            <a:pPr marL="0" indent="0">
              <a:buNone/>
            </a:pPr>
            <a:r>
              <a:rPr lang="en-US" sz="3000" b="1" dirty="0">
                <a:solidFill>
                  <a:srgbClr val="1E3A68"/>
                </a:solidFill>
                <a:latin typeface="Calibri" pitchFamily="34" charset="0"/>
                <a:ea typeface="Calibri" pitchFamily="34" charset="-122"/>
                <a:cs typeface="Calibri" pitchFamily="34" charset="-120"/>
              </a:rPr>
              <a:t>Agenda</a:t>
            </a:r>
            <a:endParaRPr lang="en-US" sz="3000" dirty="0"/>
          </a:p>
        </p:txBody>
      </p:sp>
      <p:sp>
        <p:nvSpPr>
          <p:cNvPr id="4" name="Shape 2"/>
          <p:cNvSpPr/>
          <p:nvPr/>
        </p:nvSpPr>
        <p:spPr>
          <a:xfrm>
            <a:off x="548640" y="1737360"/>
            <a:ext cx="2697480" cy="2103120"/>
          </a:xfrm>
          <a:prstGeom prst="rect">
            <a:avLst/>
          </a:prstGeom>
          <a:solidFill>
            <a:srgbClr val="F0F4FA"/>
          </a:solidFill>
          <a:ln w="12700">
            <a:solidFill>
              <a:srgbClr val="F0F4FA"/>
            </a:solidFill>
            <a:prstDash val="solid"/>
          </a:ln>
          <a:effectLst>
            <a:outerShdw blurRad="101600" dist="12700" dir="5400000" algn="bl" rotWithShape="0">
              <a:srgbClr val="000000">
                <a:alpha val="8000"/>
              </a:srgbClr>
            </a:outerShdw>
          </a:effectLst>
        </p:spPr>
        <p:txBody>
          <a:bodyPr/>
          <a:lstStyle/>
          <a:p>
            <a:endParaRPr lang="en-US"/>
          </a:p>
        </p:txBody>
      </p:sp>
      <p:sp>
        <p:nvSpPr>
          <p:cNvPr id="5" name="Shape 3"/>
          <p:cNvSpPr/>
          <p:nvPr/>
        </p:nvSpPr>
        <p:spPr>
          <a:xfrm>
            <a:off x="548640" y="1737360"/>
            <a:ext cx="91440" cy="2103120"/>
          </a:xfrm>
          <a:prstGeom prst="rect">
            <a:avLst/>
          </a:prstGeom>
          <a:solidFill>
            <a:srgbClr val="1E3A68"/>
          </a:solidFill>
          <a:ln w="12700">
            <a:solidFill>
              <a:srgbClr val="1E3A68"/>
            </a:solidFill>
            <a:prstDash val="solid"/>
          </a:ln>
        </p:spPr>
        <p:txBody>
          <a:bodyPr/>
          <a:lstStyle/>
          <a:p>
            <a:endParaRPr lang="en-US"/>
          </a:p>
        </p:txBody>
      </p:sp>
      <p:sp>
        <p:nvSpPr>
          <p:cNvPr id="6" name="Text 4"/>
          <p:cNvSpPr/>
          <p:nvPr/>
        </p:nvSpPr>
        <p:spPr>
          <a:xfrm>
            <a:off x="777240" y="1901952"/>
            <a:ext cx="914400" cy="457200"/>
          </a:xfrm>
          <a:prstGeom prst="rect">
            <a:avLst/>
          </a:prstGeom>
          <a:noFill/>
          <a:ln/>
        </p:spPr>
        <p:txBody>
          <a:bodyPr wrap="square" lIns="0" tIns="0" rIns="0" bIns="0" rtlCol="0" anchor="ctr"/>
          <a:lstStyle/>
          <a:p>
            <a:pPr marL="0" indent="0">
              <a:buNone/>
            </a:pPr>
            <a:r>
              <a:rPr lang="en-US" sz="2400" b="1" dirty="0">
                <a:solidFill>
                  <a:srgbClr val="F59E0B"/>
                </a:solidFill>
                <a:latin typeface="Calibri" pitchFamily="34" charset="0"/>
                <a:ea typeface="Calibri" pitchFamily="34" charset="-122"/>
                <a:cs typeface="Calibri" pitchFamily="34" charset="-120"/>
              </a:rPr>
              <a:t>01</a:t>
            </a:r>
            <a:endParaRPr lang="en-US" sz="2400" dirty="0"/>
          </a:p>
        </p:txBody>
      </p:sp>
      <p:sp>
        <p:nvSpPr>
          <p:cNvPr id="7" name="Text 5"/>
          <p:cNvSpPr/>
          <p:nvPr/>
        </p:nvSpPr>
        <p:spPr>
          <a:xfrm>
            <a:off x="777240" y="2468880"/>
            <a:ext cx="2377440" cy="502920"/>
          </a:xfrm>
          <a:prstGeom prst="rect">
            <a:avLst/>
          </a:prstGeom>
          <a:noFill/>
          <a:ln/>
        </p:spPr>
        <p:txBody>
          <a:bodyPr wrap="square" lIns="0" tIns="0" rIns="0" bIns="0" rtlCol="0" anchor="ctr"/>
          <a:lstStyle/>
          <a:p>
            <a:pPr marL="0" indent="0">
              <a:buNone/>
            </a:pPr>
            <a:r>
              <a:rPr lang="en-US" sz="1600" b="1" dirty="0">
                <a:solidFill>
                  <a:srgbClr val="1E3A68"/>
                </a:solidFill>
                <a:latin typeface="Calibri" pitchFamily="34" charset="0"/>
                <a:ea typeface="Calibri" pitchFamily="34" charset="-122"/>
                <a:cs typeface="Calibri" pitchFamily="34" charset="-120"/>
              </a:rPr>
              <a:t>Problem &amp; Motivation</a:t>
            </a:r>
            <a:endParaRPr lang="en-US" sz="1600" dirty="0"/>
          </a:p>
        </p:txBody>
      </p:sp>
      <p:sp>
        <p:nvSpPr>
          <p:cNvPr id="8" name="Text 6"/>
          <p:cNvSpPr/>
          <p:nvPr/>
        </p:nvSpPr>
        <p:spPr>
          <a:xfrm>
            <a:off x="777240" y="3017520"/>
            <a:ext cx="2377440" cy="64008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Why cancellations hurt hotels</a:t>
            </a:r>
            <a:endParaRPr lang="en-US" sz="1100" dirty="0"/>
          </a:p>
        </p:txBody>
      </p:sp>
      <p:sp>
        <p:nvSpPr>
          <p:cNvPr id="9" name="Shape 7"/>
          <p:cNvSpPr/>
          <p:nvPr/>
        </p:nvSpPr>
        <p:spPr>
          <a:xfrm>
            <a:off x="3429000" y="1737360"/>
            <a:ext cx="2697480" cy="2103120"/>
          </a:xfrm>
          <a:prstGeom prst="rect">
            <a:avLst/>
          </a:prstGeom>
          <a:solidFill>
            <a:srgbClr val="F0F4FA"/>
          </a:solidFill>
          <a:ln w="12700">
            <a:solidFill>
              <a:srgbClr val="F0F4FA"/>
            </a:solidFill>
            <a:prstDash val="solid"/>
          </a:ln>
          <a:effectLst>
            <a:outerShdw blurRad="101600" dist="12700" dir="5400000" algn="bl" rotWithShape="0">
              <a:srgbClr val="000000">
                <a:alpha val="8000"/>
              </a:srgbClr>
            </a:outerShdw>
          </a:effectLst>
        </p:spPr>
        <p:txBody>
          <a:bodyPr/>
          <a:lstStyle/>
          <a:p>
            <a:endParaRPr lang="en-US"/>
          </a:p>
        </p:txBody>
      </p:sp>
      <p:sp>
        <p:nvSpPr>
          <p:cNvPr id="10" name="Shape 8"/>
          <p:cNvSpPr/>
          <p:nvPr/>
        </p:nvSpPr>
        <p:spPr>
          <a:xfrm>
            <a:off x="3429000" y="1737360"/>
            <a:ext cx="91440" cy="2103120"/>
          </a:xfrm>
          <a:prstGeom prst="rect">
            <a:avLst/>
          </a:prstGeom>
          <a:solidFill>
            <a:srgbClr val="1E3A68"/>
          </a:solidFill>
          <a:ln w="12700">
            <a:solidFill>
              <a:srgbClr val="1E3A68"/>
            </a:solidFill>
            <a:prstDash val="solid"/>
          </a:ln>
        </p:spPr>
        <p:txBody>
          <a:bodyPr/>
          <a:lstStyle/>
          <a:p>
            <a:endParaRPr lang="en-US"/>
          </a:p>
        </p:txBody>
      </p:sp>
      <p:sp>
        <p:nvSpPr>
          <p:cNvPr id="11" name="Text 9"/>
          <p:cNvSpPr/>
          <p:nvPr/>
        </p:nvSpPr>
        <p:spPr>
          <a:xfrm>
            <a:off x="3657600" y="1901952"/>
            <a:ext cx="914400" cy="457200"/>
          </a:xfrm>
          <a:prstGeom prst="rect">
            <a:avLst/>
          </a:prstGeom>
          <a:noFill/>
          <a:ln/>
        </p:spPr>
        <p:txBody>
          <a:bodyPr wrap="square" lIns="0" tIns="0" rIns="0" bIns="0" rtlCol="0" anchor="ctr"/>
          <a:lstStyle/>
          <a:p>
            <a:pPr marL="0" indent="0">
              <a:buNone/>
            </a:pPr>
            <a:r>
              <a:rPr lang="en-US" sz="2400" b="1" dirty="0">
                <a:solidFill>
                  <a:srgbClr val="F59E0B"/>
                </a:solidFill>
                <a:latin typeface="Calibri" pitchFamily="34" charset="0"/>
                <a:ea typeface="Calibri" pitchFamily="34" charset="-122"/>
                <a:cs typeface="Calibri" pitchFamily="34" charset="-120"/>
              </a:rPr>
              <a:t>02</a:t>
            </a:r>
            <a:endParaRPr lang="en-US" sz="2400" dirty="0"/>
          </a:p>
        </p:txBody>
      </p:sp>
      <p:sp>
        <p:nvSpPr>
          <p:cNvPr id="12" name="Text 10"/>
          <p:cNvSpPr/>
          <p:nvPr/>
        </p:nvSpPr>
        <p:spPr>
          <a:xfrm>
            <a:off x="3657600" y="2468880"/>
            <a:ext cx="2377440" cy="502920"/>
          </a:xfrm>
          <a:prstGeom prst="rect">
            <a:avLst/>
          </a:prstGeom>
          <a:noFill/>
          <a:ln/>
        </p:spPr>
        <p:txBody>
          <a:bodyPr wrap="square" lIns="0" tIns="0" rIns="0" bIns="0" rtlCol="0" anchor="ctr"/>
          <a:lstStyle/>
          <a:p>
            <a:pPr marL="0" indent="0">
              <a:buNone/>
            </a:pPr>
            <a:r>
              <a:rPr lang="en-US" sz="1600" b="1" dirty="0">
                <a:solidFill>
                  <a:srgbClr val="1E3A68"/>
                </a:solidFill>
                <a:latin typeface="Calibri" pitchFamily="34" charset="0"/>
                <a:ea typeface="Calibri" pitchFamily="34" charset="-122"/>
                <a:cs typeface="Calibri" pitchFamily="34" charset="-120"/>
              </a:rPr>
              <a:t>Related Work</a:t>
            </a:r>
            <a:endParaRPr lang="en-US" sz="1600" dirty="0"/>
          </a:p>
        </p:txBody>
      </p:sp>
      <p:sp>
        <p:nvSpPr>
          <p:cNvPr id="13" name="Text 11"/>
          <p:cNvSpPr/>
          <p:nvPr/>
        </p:nvSpPr>
        <p:spPr>
          <a:xfrm>
            <a:off x="3657600" y="3017520"/>
            <a:ext cx="2377440" cy="64008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What other papers have done</a:t>
            </a:r>
            <a:endParaRPr lang="en-US" sz="1100" dirty="0"/>
          </a:p>
        </p:txBody>
      </p:sp>
      <p:sp>
        <p:nvSpPr>
          <p:cNvPr id="14" name="Shape 12"/>
          <p:cNvSpPr/>
          <p:nvPr/>
        </p:nvSpPr>
        <p:spPr>
          <a:xfrm>
            <a:off x="6309360" y="1737360"/>
            <a:ext cx="2697480" cy="2103120"/>
          </a:xfrm>
          <a:prstGeom prst="rect">
            <a:avLst/>
          </a:prstGeom>
          <a:solidFill>
            <a:srgbClr val="F0F4FA"/>
          </a:solidFill>
          <a:ln w="12700">
            <a:solidFill>
              <a:srgbClr val="F0F4FA"/>
            </a:solidFill>
            <a:prstDash val="solid"/>
          </a:ln>
          <a:effectLst>
            <a:outerShdw blurRad="101600" dist="12700" dir="5400000" algn="bl" rotWithShape="0">
              <a:srgbClr val="000000">
                <a:alpha val="8000"/>
              </a:srgbClr>
            </a:outerShdw>
          </a:effectLst>
        </p:spPr>
        <p:txBody>
          <a:bodyPr/>
          <a:lstStyle/>
          <a:p>
            <a:endParaRPr lang="en-US"/>
          </a:p>
        </p:txBody>
      </p:sp>
      <p:sp>
        <p:nvSpPr>
          <p:cNvPr id="15" name="Shape 13"/>
          <p:cNvSpPr/>
          <p:nvPr/>
        </p:nvSpPr>
        <p:spPr>
          <a:xfrm>
            <a:off x="6309360" y="1737360"/>
            <a:ext cx="91440" cy="2103120"/>
          </a:xfrm>
          <a:prstGeom prst="rect">
            <a:avLst/>
          </a:prstGeom>
          <a:solidFill>
            <a:srgbClr val="1E3A68"/>
          </a:solidFill>
          <a:ln w="12700">
            <a:solidFill>
              <a:srgbClr val="1E3A68"/>
            </a:solidFill>
            <a:prstDash val="solid"/>
          </a:ln>
        </p:spPr>
        <p:txBody>
          <a:bodyPr/>
          <a:lstStyle/>
          <a:p>
            <a:endParaRPr lang="en-US"/>
          </a:p>
        </p:txBody>
      </p:sp>
      <p:sp>
        <p:nvSpPr>
          <p:cNvPr id="16" name="Text 14"/>
          <p:cNvSpPr/>
          <p:nvPr/>
        </p:nvSpPr>
        <p:spPr>
          <a:xfrm>
            <a:off x="6537960" y="1901952"/>
            <a:ext cx="914400" cy="457200"/>
          </a:xfrm>
          <a:prstGeom prst="rect">
            <a:avLst/>
          </a:prstGeom>
          <a:noFill/>
          <a:ln/>
        </p:spPr>
        <p:txBody>
          <a:bodyPr wrap="square" lIns="0" tIns="0" rIns="0" bIns="0" rtlCol="0" anchor="ctr"/>
          <a:lstStyle/>
          <a:p>
            <a:pPr marL="0" indent="0">
              <a:buNone/>
            </a:pPr>
            <a:r>
              <a:rPr lang="en-US" sz="2400" b="1" dirty="0">
                <a:solidFill>
                  <a:srgbClr val="F59E0B"/>
                </a:solidFill>
                <a:latin typeface="Calibri" pitchFamily="34" charset="0"/>
                <a:ea typeface="Calibri" pitchFamily="34" charset="-122"/>
                <a:cs typeface="Calibri" pitchFamily="34" charset="-120"/>
              </a:rPr>
              <a:t>03</a:t>
            </a:r>
            <a:endParaRPr lang="en-US" sz="2400" dirty="0"/>
          </a:p>
        </p:txBody>
      </p:sp>
      <p:sp>
        <p:nvSpPr>
          <p:cNvPr id="17" name="Text 15"/>
          <p:cNvSpPr/>
          <p:nvPr/>
        </p:nvSpPr>
        <p:spPr>
          <a:xfrm>
            <a:off x="6537960" y="2468880"/>
            <a:ext cx="2377440" cy="502920"/>
          </a:xfrm>
          <a:prstGeom prst="rect">
            <a:avLst/>
          </a:prstGeom>
          <a:noFill/>
          <a:ln/>
        </p:spPr>
        <p:txBody>
          <a:bodyPr wrap="square" lIns="0" tIns="0" rIns="0" bIns="0" rtlCol="0" anchor="ctr"/>
          <a:lstStyle/>
          <a:p>
            <a:pPr marL="0" indent="0">
              <a:buNone/>
            </a:pPr>
            <a:r>
              <a:rPr lang="en-US" sz="1600" b="1" dirty="0">
                <a:solidFill>
                  <a:srgbClr val="1E3A68"/>
                </a:solidFill>
                <a:latin typeface="Calibri" pitchFamily="34" charset="0"/>
                <a:ea typeface="Calibri" pitchFamily="34" charset="-122"/>
                <a:cs typeface="Calibri" pitchFamily="34" charset="-120"/>
              </a:rPr>
              <a:t>Datasets</a:t>
            </a:r>
            <a:endParaRPr lang="en-US" sz="1600" dirty="0"/>
          </a:p>
        </p:txBody>
      </p:sp>
      <p:sp>
        <p:nvSpPr>
          <p:cNvPr id="18" name="Text 16"/>
          <p:cNvSpPr/>
          <p:nvPr/>
        </p:nvSpPr>
        <p:spPr>
          <a:xfrm>
            <a:off x="6537960" y="3017520"/>
            <a:ext cx="2377440" cy="64008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Three hotel datasets we used</a:t>
            </a:r>
            <a:endParaRPr lang="en-US" sz="1100" dirty="0"/>
          </a:p>
        </p:txBody>
      </p:sp>
      <p:sp>
        <p:nvSpPr>
          <p:cNvPr id="19" name="Shape 17"/>
          <p:cNvSpPr/>
          <p:nvPr/>
        </p:nvSpPr>
        <p:spPr>
          <a:xfrm>
            <a:off x="9189720" y="1737360"/>
            <a:ext cx="2697480" cy="2103120"/>
          </a:xfrm>
          <a:prstGeom prst="rect">
            <a:avLst/>
          </a:prstGeom>
          <a:solidFill>
            <a:srgbClr val="F0F4FA"/>
          </a:solidFill>
          <a:ln w="12700">
            <a:solidFill>
              <a:srgbClr val="F0F4FA"/>
            </a:solidFill>
            <a:prstDash val="solid"/>
          </a:ln>
          <a:effectLst>
            <a:outerShdw blurRad="101600" dist="12700" dir="5400000" algn="bl" rotWithShape="0">
              <a:srgbClr val="000000">
                <a:alpha val="8000"/>
              </a:srgbClr>
            </a:outerShdw>
          </a:effectLst>
        </p:spPr>
        <p:txBody>
          <a:bodyPr/>
          <a:lstStyle/>
          <a:p>
            <a:endParaRPr lang="en-US"/>
          </a:p>
        </p:txBody>
      </p:sp>
      <p:sp>
        <p:nvSpPr>
          <p:cNvPr id="20" name="Shape 18"/>
          <p:cNvSpPr/>
          <p:nvPr/>
        </p:nvSpPr>
        <p:spPr>
          <a:xfrm>
            <a:off x="9189720" y="1737360"/>
            <a:ext cx="91440" cy="2103120"/>
          </a:xfrm>
          <a:prstGeom prst="rect">
            <a:avLst/>
          </a:prstGeom>
          <a:solidFill>
            <a:srgbClr val="1E3A68"/>
          </a:solidFill>
          <a:ln w="12700">
            <a:solidFill>
              <a:srgbClr val="1E3A68"/>
            </a:solidFill>
            <a:prstDash val="solid"/>
          </a:ln>
        </p:spPr>
        <p:txBody>
          <a:bodyPr/>
          <a:lstStyle/>
          <a:p>
            <a:endParaRPr lang="en-US"/>
          </a:p>
        </p:txBody>
      </p:sp>
      <p:sp>
        <p:nvSpPr>
          <p:cNvPr id="21" name="Text 19"/>
          <p:cNvSpPr/>
          <p:nvPr/>
        </p:nvSpPr>
        <p:spPr>
          <a:xfrm>
            <a:off x="9418320" y="1901952"/>
            <a:ext cx="914400" cy="457200"/>
          </a:xfrm>
          <a:prstGeom prst="rect">
            <a:avLst/>
          </a:prstGeom>
          <a:noFill/>
          <a:ln/>
        </p:spPr>
        <p:txBody>
          <a:bodyPr wrap="square" lIns="0" tIns="0" rIns="0" bIns="0" rtlCol="0" anchor="ctr"/>
          <a:lstStyle/>
          <a:p>
            <a:pPr marL="0" indent="0">
              <a:buNone/>
            </a:pPr>
            <a:r>
              <a:rPr lang="en-US" sz="2400" b="1" dirty="0">
                <a:solidFill>
                  <a:srgbClr val="F59E0B"/>
                </a:solidFill>
                <a:latin typeface="Calibri" pitchFamily="34" charset="0"/>
                <a:ea typeface="Calibri" pitchFamily="34" charset="-122"/>
                <a:cs typeface="Calibri" pitchFamily="34" charset="-120"/>
              </a:rPr>
              <a:t>04</a:t>
            </a:r>
            <a:endParaRPr lang="en-US" sz="2400" dirty="0"/>
          </a:p>
        </p:txBody>
      </p:sp>
      <p:sp>
        <p:nvSpPr>
          <p:cNvPr id="22" name="Text 20"/>
          <p:cNvSpPr/>
          <p:nvPr/>
        </p:nvSpPr>
        <p:spPr>
          <a:xfrm>
            <a:off x="9418320" y="2468880"/>
            <a:ext cx="2377440" cy="502920"/>
          </a:xfrm>
          <a:prstGeom prst="rect">
            <a:avLst/>
          </a:prstGeom>
          <a:noFill/>
          <a:ln/>
        </p:spPr>
        <p:txBody>
          <a:bodyPr wrap="square" lIns="0" tIns="0" rIns="0" bIns="0" rtlCol="0" anchor="ctr"/>
          <a:lstStyle/>
          <a:p>
            <a:pPr marL="0" indent="0">
              <a:buNone/>
            </a:pPr>
            <a:r>
              <a:rPr lang="en-US" sz="1600" b="1" dirty="0">
                <a:solidFill>
                  <a:srgbClr val="1E3A68"/>
                </a:solidFill>
                <a:latin typeface="Calibri" pitchFamily="34" charset="0"/>
                <a:ea typeface="Calibri" pitchFamily="34" charset="-122"/>
                <a:cs typeface="Calibri" pitchFamily="34" charset="-120"/>
              </a:rPr>
              <a:t>Preprocessing</a:t>
            </a:r>
            <a:endParaRPr lang="en-US" sz="1600" dirty="0"/>
          </a:p>
        </p:txBody>
      </p:sp>
      <p:sp>
        <p:nvSpPr>
          <p:cNvPr id="23" name="Text 21"/>
          <p:cNvSpPr/>
          <p:nvPr/>
        </p:nvSpPr>
        <p:spPr>
          <a:xfrm>
            <a:off x="9418320" y="3017520"/>
            <a:ext cx="2377440" cy="64008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How we cleaned the data</a:t>
            </a:r>
            <a:endParaRPr lang="en-US" sz="1100" dirty="0"/>
          </a:p>
        </p:txBody>
      </p:sp>
      <p:sp>
        <p:nvSpPr>
          <p:cNvPr id="24" name="Shape 22"/>
          <p:cNvSpPr/>
          <p:nvPr/>
        </p:nvSpPr>
        <p:spPr>
          <a:xfrm>
            <a:off x="548640" y="4069080"/>
            <a:ext cx="2697480" cy="2103120"/>
          </a:xfrm>
          <a:prstGeom prst="rect">
            <a:avLst/>
          </a:prstGeom>
          <a:solidFill>
            <a:srgbClr val="F0F4FA"/>
          </a:solidFill>
          <a:ln w="12700">
            <a:solidFill>
              <a:srgbClr val="F0F4FA"/>
            </a:solidFill>
            <a:prstDash val="solid"/>
          </a:ln>
          <a:effectLst>
            <a:outerShdw blurRad="101600" dist="12700" dir="5400000" algn="bl" rotWithShape="0">
              <a:srgbClr val="000000">
                <a:alpha val="8000"/>
              </a:srgbClr>
            </a:outerShdw>
          </a:effectLst>
        </p:spPr>
        <p:txBody>
          <a:bodyPr/>
          <a:lstStyle/>
          <a:p>
            <a:endParaRPr lang="en-US"/>
          </a:p>
        </p:txBody>
      </p:sp>
      <p:sp>
        <p:nvSpPr>
          <p:cNvPr id="25" name="Shape 23"/>
          <p:cNvSpPr/>
          <p:nvPr/>
        </p:nvSpPr>
        <p:spPr>
          <a:xfrm>
            <a:off x="548640" y="4069080"/>
            <a:ext cx="91440" cy="2103120"/>
          </a:xfrm>
          <a:prstGeom prst="rect">
            <a:avLst/>
          </a:prstGeom>
          <a:solidFill>
            <a:srgbClr val="1E3A68"/>
          </a:solidFill>
          <a:ln w="12700">
            <a:solidFill>
              <a:srgbClr val="1E3A68"/>
            </a:solidFill>
            <a:prstDash val="solid"/>
          </a:ln>
        </p:spPr>
        <p:txBody>
          <a:bodyPr/>
          <a:lstStyle/>
          <a:p>
            <a:endParaRPr lang="en-US"/>
          </a:p>
        </p:txBody>
      </p:sp>
      <p:sp>
        <p:nvSpPr>
          <p:cNvPr id="26" name="Text 24"/>
          <p:cNvSpPr/>
          <p:nvPr/>
        </p:nvSpPr>
        <p:spPr>
          <a:xfrm>
            <a:off x="777240" y="4233672"/>
            <a:ext cx="914400" cy="457200"/>
          </a:xfrm>
          <a:prstGeom prst="rect">
            <a:avLst/>
          </a:prstGeom>
          <a:noFill/>
          <a:ln/>
        </p:spPr>
        <p:txBody>
          <a:bodyPr wrap="square" lIns="0" tIns="0" rIns="0" bIns="0" rtlCol="0" anchor="ctr"/>
          <a:lstStyle/>
          <a:p>
            <a:pPr marL="0" indent="0">
              <a:buNone/>
            </a:pPr>
            <a:r>
              <a:rPr lang="en-US" sz="2400" b="1" dirty="0">
                <a:solidFill>
                  <a:srgbClr val="F59E0B"/>
                </a:solidFill>
                <a:latin typeface="Calibri" pitchFamily="34" charset="0"/>
                <a:ea typeface="Calibri" pitchFamily="34" charset="-122"/>
                <a:cs typeface="Calibri" pitchFamily="34" charset="-120"/>
              </a:rPr>
              <a:t>05</a:t>
            </a:r>
            <a:endParaRPr lang="en-US" sz="2400" dirty="0"/>
          </a:p>
        </p:txBody>
      </p:sp>
      <p:sp>
        <p:nvSpPr>
          <p:cNvPr id="27" name="Text 25"/>
          <p:cNvSpPr/>
          <p:nvPr/>
        </p:nvSpPr>
        <p:spPr>
          <a:xfrm>
            <a:off x="777240" y="4800600"/>
            <a:ext cx="2377440" cy="502920"/>
          </a:xfrm>
          <a:prstGeom prst="rect">
            <a:avLst/>
          </a:prstGeom>
          <a:noFill/>
          <a:ln/>
        </p:spPr>
        <p:txBody>
          <a:bodyPr wrap="square" lIns="0" tIns="0" rIns="0" bIns="0" rtlCol="0" anchor="ctr"/>
          <a:lstStyle/>
          <a:p>
            <a:pPr marL="0" indent="0">
              <a:buNone/>
            </a:pPr>
            <a:r>
              <a:rPr lang="en-US" sz="1600" b="1" dirty="0">
                <a:solidFill>
                  <a:srgbClr val="1E3A68"/>
                </a:solidFill>
                <a:latin typeface="Calibri" pitchFamily="34" charset="0"/>
                <a:ea typeface="Calibri" pitchFamily="34" charset="-122"/>
                <a:cs typeface="Calibri" pitchFamily="34" charset="-120"/>
              </a:rPr>
              <a:t>Algorithms</a:t>
            </a:r>
            <a:endParaRPr lang="en-US" sz="1600" dirty="0"/>
          </a:p>
        </p:txBody>
      </p:sp>
      <p:sp>
        <p:nvSpPr>
          <p:cNvPr id="28" name="Text 26"/>
          <p:cNvSpPr/>
          <p:nvPr/>
        </p:nvSpPr>
        <p:spPr>
          <a:xfrm>
            <a:off x="777240" y="5349240"/>
            <a:ext cx="2377440" cy="64008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The five models we tested</a:t>
            </a:r>
            <a:endParaRPr lang="en-US" sz="1100" dirty="0"/>
          </a:p>
        </p:txBody>
      </p:sp>
      <p:sp>
        <p:nvSpPr>
          <p:cNvPr id="29" name="Shape 27"/>
          <p:cNvSpPr/>
          <p:nvPr/>
        </p:nvSpPr>
        <p:spPr>
          <a:xfrm>
            <a:off x="3429000" y="4069080"/>
            <a:ext cx="2697480" cy="2103120"/>
          </a:xfrm>
          <a:prstGeom prst="rect">
            <a:avLst/>
          </a:prstGeom>
          <a:solidFill>
            <a:srgbClr val="F0F4FA"/>
          </a:solidFill>
          <a:ln w="12700">
            <a:solidFill>
              <a:srgbClr val="F0F4FA"/>
            </a:solidFill>
            <a:prstDash val="solid"/>
          </a:ln>
          <a:effectLst>
            <a:outerShdw blurRad="101600" dist="12700" dir="5400000" algn="bl" rotWithShape="0">
              <a:srgbClr val="000000">
                <a:alpha val="8000"/>
              </a:srgbClr>
            </a:outerShdw>
          </a:effectLst>
        </p:spPr>
        <p:txBody>
          <a:bodyPr/>
          <a:lstStyle/>
          <a:p>
            <a:endParaRPr lang="en-US"/>
          </a:p>
        </p:txBody>
      </p:sp>
      <p:sp>
        <p:nvSpPr>
          <p:cNvPr id="30" name="Shape 28"/>
          <p:cNvSpPr/>
          <p:nvPr/>
        </p:nvSpPr>
        <p:spPr>
          <a:xfrm>
            <a:off x="3429000" y="4069080"/>
            <a:ext cx="91440" cy="2103120"/>
          </a:xfrm>
          <a:prstGeom prst="rect">
            <a:avLst/>
          </a:prstGeom>
          <a:solidFill>
            <a:srgbClr val="1E3A68"/>
          </a:solidFill>
          <a:ln w="12700">
            <a:solidFill>
              <a:srgbClr val="1E3A68"/>
            </a:solidFill>
            <a:prstDash val="solid"/>
          </a:ln>
        </p:spPr>
        <p:txBody>
          <a:bodyPr/>
          <a:lstStyle/>
          <a:p>
            <a:endParaRPr lang="en-US"/>
          </a:p>
        </p:txBody>
      </p:sp>
      <p:sp>
        <p:nvSpPr>
          <p:cNvPr id="31" name="Text 29"/>
          <p:cNvSpPr/>
          <p:nvPr/>
        </p:nvSpPr>
        <p:spPr>
          <a:xfrm>
            <a:off x="3657600" y="4233672"/>
            <a:ext cx="914400" cy="457200"/>
          </a:xfrm>
          <a:prstGeom prst="rect">
            <a:avLst/>
          </a:prstGeom>
          <a:noFill/>
          <a:ln/>
        </p:spPr>
        <p:txBody>
          <a:bodyPr wrap="square" lIns="0" tIns="0" rIns="0" bIns="0" rtlCol="0" anchor="ctr"/>
          <a:lstStyle/>
          <a:p>
            <a:pPr marL="0" indent="0">
              <a:buNone/>
            </a:pPr>
            <a:r>
              <a:rPr lang="en-US" sz="2400" b="1" dirty="0">
                <a:solidFill>
                  <a:srgbClr val="F59E0B"/>
                </a:solidFill>
                <a:latin typeface="Calibri" pitchFamily="34" charset="0"/>
                <a:ea typeface="Calibri" pitchFamily="34" charset="-122"/>
                <a:cs typeface="Calibri" pitchFamily="34" charset="-120"/>
              </a:rPr>
              <a:t>06</a:t>
            </a:r>
            <a:endParaRPr lang="en-US" sz="2400" dirty="0"/>
          </a:p>
        </p:txBody>
      </p:sp>
      <p:sp>
        <p:nvSpPr>
          <p:cNvPr id="32" name="Text 30"/>
          <p:cNvSpPr/>
          <p:nvPr/>
        </p:nvSpPr>
        <p:spPr>
          <a:xfrm>
            <a:off x="3657600" y="4800600"/>
            <a:ext cx="2377440" cy="502920"/>
          </a:xfrm>
          <a:prstGeom prst="rect">
            <a:avLst/>
          </a:prstGeom>
          <a:noFill/>
          <a:ln/>
        </p:spPr>
        <p:txBody>
          <a:bodyPr wrap="square" lIns="0" tIns="0" rIns="0" bIns="0" rtlCol="0" anchor="ctr"/>
          <a:lstStyle/>
          <a:p>
            <a:pPr marL="0" indent="0">
              <a:buNone/>
            </a:pPr>
            <a:r>
              <a:rPr lang="en-US" sz="1600" b="1" dirty="0">
                <a:solidFill>
                  <a:srgbClr val="1E3A68"/>
                </a:solidFill>
                <a:latin typeface="Calibri" pitchFamily="34" charset="0"/>
                <a:ea typeface="Calibri" pitchFamily="34" charset="-122"/>
                <a:cs typeface="Calibri" pitchFamily="34" charset="-120"/>
              </a:rPr>
              <a:t>Results</a:t>
            </a:r>
            <a:endParaRPr lang="en-US" sz="1600" dirty="0"/>
          </a:p>
        </p:txBody>
      </p:sp>
      <p:sp>
        <p:nvSpPr>
          <p:cNvPr id="33" name="Text 31"/>
          <p:cNvSpPr/>
          <p:nvPr/>
        </p:nvSpPr>
        <p:spPr>
          <a:xfrm>
            <a:off x="3657600" y="5349240"/>
            <a:ext cx="2377440" cy="64008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Per dataset and overall</a:t>
            </a:r>
            <a:endParaRPr lang="en-US" sz="1100" dirty="0"/>
          </a:p>
        </p:txBody>
      </p:sp>
      <p:sp>
        <p:nvSpPr>
          <p:cNvPr id="34" name="Shape 32"/>
          <p:cNvSpPr/>
          <p:nvPr/>
        </p:nvSpPr>
        <p:spPr>
          <a:xfrm>
            <a:off x="6309360" y="4069080"/>
            <a:ext cx="2697480" cy="2103120"/>
          </a:xfrm>
          <a:prstGeom prst="rect">
            <a:avLst/>
          </a:prstGeom>
          <a:solidFill>
            <a:srgbClr val="F0F4FA"/>
          </a:solidFill>
          <a:ln w="12700">
            <a:solidFill>
              <a:srgbClr val="F0F4FA"/>
            </a:solidFill>
            <a:prstDash val="solid"/>
          </a:ln>
          <a:effectLst>
            <a:outerShdw blurRad="101600" dist="12700" dir="5400000" algn="bl" rotWithShape="0">
              <a:srgbClr val="000000">
                <a:alpha val="8000"/>
              </a:srgbClr>
            </a:outerShdw>
          </a:effectLst>
        </p:spPr>
        <p:txBody>
          <a:bodyPr/>
          <a:lstStyle/>
          <a:p>
            <a:endParaRPr lang="en-US"/>
          </a:p>
        </p:txBody>
      </p:sp>
      <p:sp>
        <p:nvSpPr>
          <p:cNvPr id="35" name="Shape 33"/>
          <p:cNvSpPr/>
          <p:nvPr/>
        </p:nvSpPr>
        <p:spPr>
          <a:xfrm>
            <a:off x="6309360" y="4069080"/>
            <a:ext cx="91440" cy="2103120"/>
          </a:xfrm>
          <a:prstGeom prst="rect">
            <a:avLst/>
          </a:prstGeom>
          <a:solidFill>
            <a:srgbClr val="1E3A68"/>
          </a:solidFill>
          <a:ln w="12700">
            <a:solidFill>
              <a:srgbClr val="1E3A68"/>
            </a:solidFill>
            <a:prstDash val="solid"/>
          </a:ln>
        </p:spPr>
        <p:txBody>
          <a:bodyPr/>
          <a:lstStyle/>
          <a:p>
            <a:endParaRPr lang="en-US"/>
          </a:p>
        </p:txBody>
      </p:sp>
      <p:sp>
        <p:nvSpPr>
          <p:cNvPr id="36" name="Text 34"/>
          <p:cNvSpPr/>
          <p:nvPr/>
        </p:nvSpPr>
        <p:spPr>
          <a:xfrm>
            <a:off x="6537960" y="4233672"/>
            <a:ext cx="914400" cy="457200"/>
          </a:xfrm>
          <a:prstGeom prst="rect">
            <a:avLst/>
          </a:prstGeom>
          <a:noFill/>
          <a:ln/>
        </p:spPr>
        <p:txBody>
          <a:bodyPr wrap="square" lIns="0" tIns="0" rIns="0" bIns="0" rtlCol="0" anchor="ctr"/>
          <a:lstStyle/>
          <a:p>
            <a:pPr marL="0" indent="0">
              <a:buNone/>
            </a:pPr>
            <a:r>
              <a:rPr lang="en-US" sz="2400" b="1" dirty="0">
                <a:solidFill>
                  <a:srgbClr val="F59E0B"/>
                </a:solidFill>
                <a:latin typeface="Calibri" pitchFamily="34" charset="0"/>
                <a:ea typeface="Calibri" pitchFamily="34" charset="-122"/>
                <a:cs typeface="Calibri" pitchFamily="34" charset="-120"/>
              </a:rPr>
              <a:t>07</a:t>
            </a:r>
            <a:endParaRPr lang="en-US" sz="2400" dirty="0"/>
          </a:p>
        </p:txBody>
      </p:sp>
      <p:sp>
        <p:nvSpPr>
          <p:cNvPr id="37" name="Text 35"/>
          <p:cNvSpPr/>
          <p:nvPr/>
        </p:nvSpPr>
        <p:spPr>
          <a:xfrm>
            <a:off x="6537960" y="4800600"/>
            <a:ext cx="2377440" cy="502920"/>
          </a:xfrm>
          <a:prstGeom prst="rect">
            <a:avLst/>
          </a:prstGeom>
          <a:noFill/>
          <a:ln/>
        </p:spPr>
        <p:txBody>
          <a:bodyPr wrap="square" lIns="0" tIns="0" rIns="0" bIns="0" rtlCol="0" anchor="ctr"/>
          <a:lstStyle/>
          <a:p>
            <a:pPr marL="0" indent="0">
              <a:buNone/>
            </a:pPr>
            <a:r>
              <a:rPr lang="en-US" sz="1600" b="1" dirty="0">
                <a:solidFill>
                  <a:srgbClr val="1E3A68"/>
                </a:solidFill>
                <a:latin typeface="Calibri" pitchFamily="34" charset="0"/>
                <a:ea typeface="Calibri" pitchFamily="34" charset="-122"/>
                <a:cs typeface="Calibri" pitchFamily="34" charset="-120"/>
              </a:rPr>
              <a:t>Conclusion</a:t>
            </a:r>
            <a:endParaRPr lang="en-US" sz="1600" dirty="0"/>
          </a:p>
        </p:txBody>
      </p:sp>
      <p:sp>
        <p:nvSpPr>
          <p:cNvPr id="38" name="Text 36"/>
          <p:cNvSpPr/>
          <p:nvPr/>
        </p:nvSpPr>
        <p:spPr>
          <a:xfrm>
            <a:off x="6537960" y="5349240"/>
            <a:ext cx="2377440" cy="64008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Takeaways and future work</a:t>
            </a:r>
            <a:endParaRPr lang="en-US" sz="1100" dirty="0"/>
          </a:p>
        </p:txBody>
      </p:sp>
      <p:sp>
        <p:nvSpPr>
          <p:cNvPr id="39" name="Shape 37"/>
          <p:cNvSpPr/>
          <p:nvPr/>
        </p:nvSpPr>
        <p:spPr>
          <a:xfrm>
            <a:off x="0" y="6675120"/>
            <a:ext cx="12161520" cy="182880"/>
          </a:xfrm>
          <a:prstGeom prst="rect">
            <a:avLst/>
          </a:prstGeom>
          <a:solidFill>
            <a:srgbClr val="1E3A68"/>
          </a:solidFill>
          <a:ln w="12700">
            <a:solidFill>
              <a:srgbClr val="1E3A68"/>
            </a:solidFill>
            <a:prstDash val="solid"/>
          </a:ln>
        </p:spPr>
        <p:txBody>
          <a:bodyPr/>
          <a:lstStyle/>
          <a:p>
            <a:endParaRPr lang="en-US"/>
          </a:p>
        </p:txBody>
      </p:sp>
      <p:sp>
        <p:nvSpPr>
          <p:cNvPr id="40" name="Text 38"/>
          <p:cNvSpPr/>
          <p:nvPr/>
        </p:nvSpPr>
        <p:spPr>
          <a:xfrm>
            <a:off x="365760" y="6675120"/>
            <a:ext cx="6400800" cy="18288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Hotel Booking Cancellation Prediction  |  Team 32</a:t>
            </a:r>
            <a:endParaRPr lang="en-US" sz="900" dirty="0"/>
          </a:p>
        </p:txBody>
      </p:sp>
      <p:sp>
        <p:nvSpPr>
          <p:cNvPr id="41" name="Text 39"/>
          <p:cNvSpPr/>
          <p:nvPr/>
        </p:nvSpPr>
        <p:spPr>
          <a:xfrm>
            <a:off x="11338560" y="6675120"/>
            <a:ext cx="548640" cy="18288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2 / 19</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0972800" cy="274320"/>
          </a:xfrm>
          <a:prstGeom prst="rect">
            <a:avLst/>
          </a:prstGeom>
          <a:noFill/>
          <a:ln/>
        </p:spPr>
        <p:txBody>
          <a:bodyPr wrap="square" lIns="0" tIns="0" rIns="0" bIns="0" rtlCol="0" anchor="ctr"/>
          <a:lstStyle/>
          <a:p>
            <a:pPr marL="0" indent="0">
              <a:buNone/>
            </a:pPr>
            <a:r>
              <a:rPr lang="en-US" sz="1100" b="1" kern="0" spc="400" dirty="0">
                <a:solidFill>
                  <a:srgbClr val="F59E0B"/>
                </a:solidFill>
                <a:latin typeface="Calibri" pitchFamily="34" charset="0"/>
                <a:ea typeface="Calibri" pitchFamily="34" charset="-122"/>
                <a:cs typeface="Calibri" pitchFamily="34" charset="-120"/>
              </a:rPr>
              <a:t>01  ·  THE PROBLEM</a:t>
            </a:r>
            <a:endParaRPr lang="en-US" sz="1100" dirty="0"/>
          </a:p>
        </p:txBody>
      </p:sp>
      <p:sp>
        <p:nvSpPr>
          <p:cNvPr id="3" name="Text 1"/>
          <p:cNvSpPr/>
          <p:nvPr/>
        </p:nvSpPr>
        <p:spPr>
          <a:xfrm>
            <a:off x="548640" y="594360"/>
            <a:ext cx="10972800" cy="640080"/>
          </a:xfrm>
          <a:prstGeom prst="rect">
            <a:avLst/>
          </a:prstGeom>
          <a:noFill/>
          <a:ln/>
        </p:spPr>
        <p:txBody>
          <a:bodyPr wrap="square" lIns="0" tIns="0" rIns="0" bIns="0" rtlCol="0" anchor="ctr"/>
          <a:lstStyle/>
          <a:p>
            <a:pPr marL="0" indent="0">
              <a:buNone/>
            </a:pPr>
            <a:r>
              <a:rPr lang="en-US" sz="3000" b="1" dirty="0">
                <a:solidFill>
                  <a:srgbClr val="1E3A68"/>
                </a:solidFill>
                <a:latin typeface="Calibri" pitchFamily="34" charset="0"/>
                <a:ea typeface="Calibri" pitchFamily="34" charset="-122"/>
                <a:cs typeface="Calibri" pitchFamily="34" charset="-120"/>
              </a:rPr>
              <a:t>Why Cancellations Matter</a:t>
            </a:r>
            <a:endParaRPr lang="en-US" sz="3000" dirty="0"/>
          </a:p>
        </p:txBody>
      </p:sp>
      <p:sp>
        <p:nvSpPr>
          <p:cNvPr id="4" name="Shape 2"/>
          <p:cNvSpPr/>
          <p:nvPr/>
        </p:nvSpPr>
        <p:spPr>
          <a:xfrm>
            <a:off x="548640" y="1691640"/>
            <a:ext cx="5120640" cy="1188720"/>
          </a:xfrm>
          <a:prstGeom prst="rect">
            <a:avLst/>
          </a:prstGeom>
          <a:solidFill>
            <a:srgbClr val="F0F4FA"/>
          </a:solidFill>
          <a:ln w="12700">
            <a:solidFill>
              <a:srgbClr val="F0F4FA"/>
            </a:solidFill>
            <a:prstDash val="solid"/>
          </a:ln>
        </p:spPr>
        <p:txBody>
          <a:bodyPr/>
          <a:lstStyle/>
          <a:p>
            <a:endParaRPr lang="en-US"/>
          </a:p>
        </p:txBody>
      </p:sp>
      <p:sp>
        <p:nvSpPr>
          <p:cNvPr id="5" name="Text 3"/>
          <p:cNvSpPr/>
          <p:nvPr/>
        </p:nvSpPr>
        <p:spPr>
          <a:xfrm>
            <a:off x="640080" y="1828800"/>
            <a:ext cx="1463040" cy="914400"/>
          </a:xfrm>
          <a:prstGeom prst="rect">
            <a:avLst/>
          </a:prstGeom>
          <a:noFill/>
          <a:ln/>
        </p:spPr>
        <p:txBody>
          <a:bodyPr wrap="square" lIns="0" tIns="0" rIns="0" bIns="0" rtlCol="0" anchor="ctr"/>
          <a:lstStyle/>
          <a:p>
            <a:pPr marL="0" indent="0">
              <a:buNone/>
            </a:pPr>
            <a:r>
              <a:rPr lang="en-US" sz="4000" b="1" dirty="0">
                <a:solidFill>
                  <a:srgbClr val="1E3A68"/>
                </a:solidFill>
                <a:latin typeface="Calibri" pitchFamily="34" charset="0"/>
                <a:ea typeface="Calibri" pitchFamily="34" charset="-122"/>
                <a:cs typeface="Calibri" pitchFamily="34" charset="-120"/>
              </a:rPr>
              <a:t>40%+</a:t>
            </a:r>
            <a:endParaRPr lang="en-US" sz="4000" dirty="0"/>
          </a:p>
        </p:txBody>
      </p:sp>
      <p:sp>
        <p:nvSpPr>
          <p:cNvPr id="6" name="Text 4"/>
          <p:cNvSpPr/>
          <p:nvPr/>
        </p:nvSpPr>
        <p:spPr>
          <a:xfrm>
            <a:off x="2194560" y="1920240"/>
            <a:ext cx="3291840" cy="777240"/>
          </a:xfrm>
          <a:prstGeom prst="rect">
            <a:avLst/>
          </a:prstGeom>
          <a:noFill/>
          <a:ln/>
        </p:spPr>
        <p:txBody>
          <a:bodyPr wrap="square" lIns="0" tIns="0" rIns="0" bIns="0" rtlCol="0" anchor="ctr"/>
          <a:lstStyle/>
          <a:p>
            <a:pPr marL="0" indent="0">
              <a:buNone/>
            </a:pPr>
            <a:r>
              <a:rPr lang="en-US" sz="1400" dirty="0">
                <a:solidFill>
                  <a:srgbClr val="1E293B"/>
                </a:solidFill>
                <a:latin typeface="Calibri" pitchFamily="34" charset="0"/>
                <a:ea typeface="Calibri" pitchFamily="34" charset="-122"/>
                <a:cs typeface="Calibri" pitchFamily="34" charset="-120"/>
              </a:rPr>
              <a:t>Cancellation rate seen in some hotels</a:t>
            </a:r>
            <a:endParaRPr lang="en-US" sz="1400" dirty="0"/>
          </a:p>
        </p:txBody>
      </p:sp>
      <p:sp>
        <p:nvSpPr>
          <p:cNvPr id="7" name="Shape 5"/>
          <p:cNvSpPr/>
          <p:nvPr/>
        </p:nvSpPr>
        <p:spPr>
          <a:xfrm>
            <a:off x="548640" y="3108960"/>
            <a:ext cx="5120640" cy="1188720"/>
          </a:xfrm>
          <a:prstGeom prst="rect">
            <a:avLst/>
          </a:prstGeom>
          <a:solidFill>
            <a:srgbClr val="F0F4FA"/>
          </a:solidFill>
          <a:ln w="12700">
            <a:solidFill>
              <a:srgbClr val="F0F4FA"/>
            </a:solidFill>
            <a:prstDash val="solid"/>
          </a:ln>
        </p:spPr>
        <p:txBody>
          <a:bodyPr/>
          <a:lstStyle/>
          <a:p>
            <a:endParaRPr lang="en-US"/>
          </a:p>
        </p:txBody>
      </p:sp>
      <p:sp>
        <p:nvSpPr>
          <p:cNvPr id="8" name="Text 6"/>
          <p:cNvSpPr/>
          <p:nvPr/>
        </p:nvSpPr>
        <p:spPr>
          <a:xfrm>
            <a:off x="640080" y="3246120"/>
            <a:ext cx="1463040" cy="914400"/>
          </a:xfrm>
          <a:prstGeom prst="rect">
            <a:avLst/>
          </a:prstGeom>
          <a:noFill/>
          <a:ln/>
        </p:spPr>
        <p:txBody>
          <a:bodyPr wrap="square" lIns="0" tIns="0" rIns="0" bIns="0" rtlCol="0" anchor="ctr"/>
          <a:lstStyle/>
          <a:p>
            <a:pPr marL="0" indent="0">
              <a:buNone/>
            </a:pPr>
            <a:r>
              <a:rPr lang="en-US" sz="4000" b="1" dirty="0">
                <a:solidFill>
                  <a:srgbClr val="1E3A68"/>
                </a:solidFill>
                <a:latin typeface="Calibri" pitchFamily="34" charset="0"/>
                <a:ea typeface="Calibri" pitchFamily="34" charset="-122"/>
                <a:cs typeface="Calibri" pitchFamily="34" charset="-120"/>
              </a:rPr>
              <a:t>$$$</a:t>
            </a:r>
            <a:endParaRPr lang="en-US" sz="4000" dirty="0"/>
          </a:p>
        </p:txBody>
      </p:sp>
      <p:sp>
        <p:nvSpPr>
          <p:cNvPr id="9" name="Text 7"/>
          <p:cNvSpPr/>
          <p:nvPr/>
        </p:nvSpPr>
        <p:spPr>
          <a:xfrm>
            <a:off x="2194560" y="3337560"/>
            <a:ext cx="3291840" cy="777240"/>
          </a:xfrm>
          <a:prstGeom prst="rect">
            <a:avLst/>
          </a:prstGeom>
          <a:noFill/>
          <a:ln/>
        </p:spPr>
        <p:txBody>
          <a:bodyPr wrap="square" lIns="0" tIns="0" rIns="0" bIns="0" rtlCol="0" anchor="ctr"/>
          <a:lstStyle/>
          <a:p>
            <a:pPr marL="0" indent="0">
              <a:buNone/>
            </a:pPr>
            <a:r>
              <a:rPr lang="en-US" sz="1400" dirty="0">
                <a:solidFill>
                  <a:srgbClr val="1E293B"/>
                </a:solidFill>
                <a:latin typeface="Calibri" pitchFamily="34" charset="0"/>
                <a:ea typeface="Calibri" pitchFamily="34" charset="-122"/>
                <a:cs typeface="Calibri" pitchFamily="34" charset="-120"/>
              </a:rPr>
              <a:t>Lost revenue from empty rooms</a:t>
            </a:r>
            <a:endParaRPr lang="en-US" sz="1400" dirty="0"/>
          </a:p>
        </p:txBody>
      </p:sp>
      <p:sp>
        <p:nvSpPr>
          <p:cNvPr id="10" name="Shape 8"/>
          <p:cNvSpPr/>
          <p:nvPr/>
        </p:nvSpPr>
        <p:spPr>
          <a:xfrm>
            <a:off x="548640" y="4526280"/>
            <a:ext cx="5120640" cy="1188720"/>
          </a:xfrm>
          <a:prstGeom prst="rect">
            <a:avLst/>
          </a:prstGeom>
          <a:solidFill>
            <a:srgbClr val="F0F4FA"/>
          </a:solidFill>
          <a:ln w="12700">
            <a:solidFill>
              <a:srgbClr val="F0F4FA"/>
            </a:solidFill>
            <a:prstDash val="solid"/>
          </a:ln>
        </p:spPr>
        <p:txBody>
          <a:bodyPr/>
          <a:lstStyle/>
          <a:p>
            <a:endParaRPr lang="en-US"/>
          </a:p>
        </p:txBody>
      </p:sp>
      <p:sp>
        <p:nvSpPr>
          <p:cNvPr id="11" name="Text 9"/>
          <p:cNvSpPr/>
          <p:nvPr/>
        </p:nvSpPr>
        <p:spPr>
          <a:xfrm>
            <a:off x="640080" y="4663440"/>
            <a:ext cx="1463040" cy="914400"/>
          </a:xfrm>
          <a:prstGeom prst="rect">
            <a:avLst/>
          </a:prstGeom>
          <a:noFill/>
          <a:ln/>
        </p:spPr>
        <p:txBody>
          <a:bodyPr wrap="square" lIns="0" tIns="0" rIns="0" bIns="0" rtlCol="0" anchor="ctr"/>
          <a:lstStyle/>
          <a:p>
            <a:pPr marL="0" indent="0">
              <a:buNone/>
            </a:pPr>
            <a:r>
              <a:rPr lang="en-US" sz="4000" b="1" dirty="0">
                <a:solidFill>
                  <a:srgbClr val="1E3A68"/>
                </a:solidFill>
                <a:latin typeface="Calibri" pitchFamily="34" charset="0"/>
                <a:ea typeface="Calibri" pitchFamily="34" charset="-122"/>
                <a:cs typeface="Calibri" pitchFamily="34" charset="-120"/>
              </a:rPr>
              <a:t>?</a:t>
            </a:r>
            <a:endParaRPr lang="en-US" sz="4000" dirty="0"/>
          </a:p>
        </p:txBody>
      </p:sp>
      <p:sp>
        <p:nvSpPr>
          <p:cNvPr id="12" name="Text 10"/>
          <p:cNvSpPr/>
          <p:nvPr/>
        </p:nvSpPr>
        <p:spPr>
          <a:xfrm>
            <a:off x="2194560" y="4754880"/>
            <a:ext cx="3291840" cy="777240"/>
          </a:xfrm>
          <a:prstGeom prst="rect">
            <a:avLst/>
          </a:prstGeom>
          <a:noFill/>
          <a:ln/>
        </p:spPr>
        <p:txBody>
          <a:bodyPr wrap="square" lIns="0" tIns="0" rIns="0" bIns="0" rtlCol="0" anchor="ctr"/>
          <a:lstStyle/>
          <a:p>
            <a:pPr marL="0" indent="0">
              <a:buNone/>
            </a:pPr>
            <a:r>
              <a:rPr lang="en-US" sz="1400" dirty="0">
                <a:solidFill>
                  <a:srgbClr val="1E293B"/>
                </a:solidFill>
                <a:latin typeface="Calibri" pitchFamily="34" charset="0"/>
                <a:ea typeface="Calibri" pitchFamily="34" charset="-122"/>
                <a:cs typeface="Calibri" pitchFamily="34" charset="-120"/>
              </a:rPr>
              <a:t>Hard to predict with simple rules</a:t>
            </a:r>
            <a:endParaRPr lang="en-US" sz="1400" dirty="0"/>
          </a:p>
        </p:txBody>
      </p:sp>
      <p:sp>
        <p:nvSpPr>
          <p:cNvPr id="13" name="Text 11"/>
          <p:cNvSpPr/>
          <p:nvPr/>
        </p:nvSpPr>
        <p:spPr>
          <a:xfrm>
            <a:off x="6126480" y="1691640"/>
            <a:ext cx="5486400" cy="411480"/>
          </a:xfrm>
          <a:prstGeom prst="rect">
            <a:avLst/>
          </a:prstGeom>
          <a:noFill/>
          <a:ln/>
        </p:spPr>
        <p:txBody>
          <a:bodyPr wrap="square" lIns="0" tIns="0" rIns="0" bIns="0" rtlCol="0" anchor="ctr"/>
          <a:lstStyle/>
          <a:p>
            <a:pPr marL="0" indent="0">
              <a:buNone/>
            </a:pPr>
            <a:r>
              <a:rPr lang="en-US" sz="1600" b="1" dirty="0">
                <a:solidFill>
                  <a:srgbClr val="1E3A68"/>
                </a:solidFill>
                <a:latin typeface="Calibri" pitchFamily="34" charset="0"/>
                <a:ea typeface="Calibri" pitchFamily="34" charset="-122"/>
                <a:cs typeface="Calibri" pitchFamily="34" charset="-120"/>
              </a:rPr>
              <a:t>The Pain</a:t>
            </a:r>
            <a:endParaRPr lang="en-US" sz="1600" dirty="0"/>
          </a:p>
        </p:txBody>
      </p:sp>
      <p:sp>
        <p:nvSpPr>
          <p:cNvPr id="14" name="Text 12"/>
          <p:cNvSpPr/>
          <p:nvPr/>
        </p:nvSpPr>
        <p:spPr>
          <a:xfrm>
            <a:off x="6126480" y="2103120"/>
            <a:ext cx="5486400" cy="4206240"/>
          </a:xfrm>
          <a:prstGeom prst="rect">
            <a:avLst/>
          </a:prstGeom>
          <a:noFill/>
          <a:ln/>
        </p:spPr>
        <p:txBody>
          <a:bodyPr wrap="square" lIns="0" tIns="0" rIns="0" bIns="0" rtlCol="0" anchor="ctr"/>
          <a:lstStyle/>
          <a:p>
            <a:pPr marL="0" indent="0">
              <a:spcAft>
                <a:spcPts val="800"/>
              </a:spcAft>
              <a:buNone/>
            </a:pPr>
            <a:r>
              <a:rPr lang="en-US" sz="1300" dirty="0">
                <a:solidFill>
                  <a:srgbClr val="1E293B"/>
                </a:solidFill>
                <a:latin typeface="Calibri" pitchFamily="34" charset="0"/>
                <a:ea typeface="Calibri" pitchFamily="34" charset="-122"/>
                <a:cs typeface="Calibri" pitchFamily="34" charset="-120"/>
              </a:rPr>
              <a:t>When guests cancel late, hotels rarely find a replacement booking in time, especially during off peak seasons. Rooms sit empty and the loss hits revenue directly.</a:t>
            </a:r>
            <a:endParaRPr lang="en-US" sz="1300" dirty="0"/>
          </a:p>
          <a:p>
            <a:pPr marL="0" indent="0">
              <a:spcAft>
                <a:spcPts val="800"/>
              </a:spcAft>
              <a:buNone/>
            </a:pPr>
            <a:r>
              <a:rPr lang="en-US" sz="1300" dirty="0">
                <a:solidFill>
                  <a:srgbClr val="1E293B"/>
                </a:solidFill>
                <a:latin typeface="Calibri" pitchFamily="34" charset="0"/>
                <a:ea typeface="Calibri" pitchFamily="34" charset="-122"/>
                <a:cs typeface="Calibri" pitchFamily="34" charset="-120"/>
              </a:rPr>
              <a:t>Cancellations also throw off staffing, food orders and cleaning schedules. A small change in the cancellation rate can move the entire operations plan.</a:t>
            </a:r>
            <a:endParaRPr lang="en-US" sz="1300" dirty="0"/>
          </a:p>
          <a:p>
            <a:pPr marL="0" indent="0">
              <a:spcAft>
                <a:spcPts val="800"/>
              </a:spcAft>
              <a:buNone/>
            </a:pPr>
            <a:r>
              <a:rPr lang="en-US" sz="1300" dirty="0">
                <a:solidFill>
                  <a:srgbClr val="1E293B"/>
                </a:solidFill>
                <a:latin typeface="Calibri" pitchFamily="34" charset="0"/>
                <a:ea typeface="Calibri" pitchFamily="34" charset="-122"/>
                <a:cs typeface="Calibri" pitchFamily="34" charset="-120"/>
              </a:rPr>
              <a:t>Most hotels still rely on historical averages or gut feeling. These approaches are not accurate enough when booking data has dozens of variables interacting with each other.</a:t>
            </a:r>
            <a:endParaRPr lang="en-US" sz="1300" dirty="0"/>
          </a:p>
        </p:txBody>
      </p:sp>
      <p:sp>
        <p:nvSpPr>
          <p:cNvPr id="15" name="Shape 13"/>
          <p:cNvSpPr/>
          <p:nvPr/>
        </p:nvSpPr>
        <p:spPr>
          <a:xfrm>
            <a:off x="0" y="6675120"/>
            <a:ext cx="12161520" cy="182880"/>
          </a:xfrm>
          <a:prstGeom prst="rect">
            <a:avLst/>
          </a:prstGeom>
          <a:solidFill>
            <a:srgbClr val="1E3A68"/>
          </a:solidFill>
          <a:ln w="12700">
            <a:solidFill>
              <a:srgbClr val="1E3A68"/>
            </a:solidFill>
            <a:prstDash val="solid"/>
          </a:ln>
        </p:spPr>
        <p:txBody>
          <a:bodyPr/>
          <a:lstStyle/>
          <a:p>
            <a:endParaRPr lang="en-US"/>
          </a:p>
        </p:txBody>
      </p:sp>
      <p:sp>
        <p:nvSpPr>
          <p:cNvPr id="16" name="Text 14"/>
          <p:cNvSpPr/>
          <p:nvPr/>
        </p:nvSpPr>
        <p:spPr>
          <a:xfrm>
            <a:off x="365760" y="6675120"/>
            <a:ext cx="6400800" cy="18288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Hotel Booking Cancellation Prediction  |  Team 32</a:t>
            </a:r>
            <a:endParaRPr lang="en-US" sz="900" dirty="0"/>
          </a:p>
        </p:txBody>
      </p:sp>
      <p:sp>
        <p:nvSpPr>
          <p:cNvPr id="17" name="Text 15"/>
          <p:cNvSpPr/>
          <p:nvPr/>
        </p:nvSpPr>
        <p:spPr>
          <a:xfrm>
            <a:off x="11338560" y="6675120"/>
            <a:ext cx="548640" cy="18288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3 / 19</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0972800" cy="274320"/>
          </a:xfrm>
          <a:prstGeom prst="rect">
            <a:avLst/>
          </a:prstGeom>
          <a:noFill/>
          <a:ln/>
        </p:spPr>
        <p:txBody>
          <a:bodyPr wrap="square" lIns="0" tIns="0" rIns="0" bIns="0" rtlCol="0" anchor="ctr"/>
          <a:lstStyle/>
          <a:p>
            <a:pPr marL="0" indent="0">
              <a:buNone/>
            </a:pPr>
            <a:r>
              <a:rPr lang="en-US" sz="1100" b="1" kern="0" spc="400" dirty="0">
                <a:solidFill>
                  <a:srgbClr val="F59E0B"/>
                </a:solidFill>
                <a:latin typeface="Calibri" pitchFamily="34" charset="0"/>
                <a:ea typeface="Calibri" pitchFamily="34" charset="-122"/>
                <a:cs typeface="Calibri" pitchFamily="34" charset="-120"/>
              </a:rPr>
              <a:t>02  ·  RELATED WORK</a:t>
            </a:r>
            <a:endParaRPr lang="en-US" sz="1100" dirty="0"/>
          </a:p>
        </p:txBody>
      </p:sp>
      <p:sp>
        <p:nvSpPr>
          <p:cNvPr id="3" name="Text 1"/>
          <p:cNvSpPr/>
          <p:nvPr/>
        </p:nvSpPr>
        <p:spPr>
          <a:xfrm>
            <a:off x="548640" y="594360"/>
            <a:ext cx="10972800" cy="640080"/>
          </a:xfrm>
          <a:prstGeom prst="rect">
            <a:avLst/>
          </a:prstGeom>
          <a:noFill/>
          <a:ln/>
        </p:spPr>
        <p:txBody>
          <a:bodyPr wrap="square" lIns="0" tIns="0" rIns="0" bIns="0" rtlCol="0" anchor="ctr"/>
          <a:lstStyle/>
          <a:p>
            <a:pPr marL="0" indent="0">
              <a:buNone/>
            </a:pPr>
            <a:r>
              <a:rPr lang="en-US" sz="3000" b="1" dirty="0">
                <a:solidFill>
                  <a:srgbClr val="1E3A68"/>
                </a:solidFill>
                <a:latin typeface="Calibri" pitchFamily="34" charset="0"/>
                <a:ea typeface="Calibri" pitchFamily="34" charset="-122"/>
                <a:cs typeface="Calibri" pitchFamily="34" charset="-120"/>
              </a:rPr>
              <a:t>What Other Papers Have Done</a:t>
            </a:r>
            <a:endParaRPr lang="en-US" sz="3000" dirty="0"/>
          </a:p>
        </p:txBody>
      </p:sp>
      <p:sp>
        <p:nvSpPr>
          <p:cNvPr id="4" name="Text 2"/>
          <p:cNvSpPr/>
          <p:nvPr/>
        </p:nvSpPr>
        <p:spPr>
          <a:xfrm>
            <a:off x="548640" y="1691640"/>
            <a:ext cx="11064240" cy="640080"/>
          </a:xfrm>
          <a:prstGeom prst="rect">
            <a:avLst/>
          </a:prstGeom>
          <a:noFill/>
          <a:ln/>
        </p:spPr>
        <p:txBody>
          <a:bodyPr wrap="square" lIns="0" tIns="0" rIns="0" bIns="0" rtlCol="0" anchor="ctr"/>
          <a:lstStyle/>
          <a:p>
            <a:pPr marL="0" indent="0">
              <a:buNone/>
            </a:pPr>
            <a:r>
              <a:rPr lang="en-US" sz="1400" i="1" dirty="0">
                <a:solidFill>
                  <a:srgbClr val="1E293B"/>
                </a:solidFill>
                <a:latin typeface="Calibri" pitchFamily="34" charset="0"/>
                <a:ea typeface="Calibri" pitchFamily="34" charset="-122"/>
                <a:cs typeface="Calibri" pitchFamily="34" charset="-120"/>
              </a:rPr>
              <a:t>We reviewed twelve recent papers on hotel booking cancellation prediction to see what worked, what did not, and where there is still room to improve. The four cards below are the ones we found most relevant to our setup.</a:t>
            </a:r>
            <a:endParaRPr lang="en-US" sz="1400" dirty="0"/>
          </a:p>
        </p:txBody>
      </p:sp>
      <p:sp>
        <p:nvSpPr>
          <p:cNvPr id="5" name="Shape 3"/>
          <p:cNvSpPr/>
          <p:nvPr/>
        </p:nvSpPr>
        <p:spPr>
          <a:xfrm>
            <a:off x="548640" y="2468880"/>
            <a:ext cx="2697480" cy="3108960"/>
          </a:xfrm>
          <a:prstGeom prst="rect">
            <a:avLst/>
          </a:prstGeom>
          <a:solidFill>
            <a:srgbClr val="FFFFFF"/>
          </a:solidFill>
          <a:ln w="12700">
            <a:solidFill>
              <a:srgbClr val="DCE5F2"/>
            </a:solidFill>
            <a:prstDash val="solid"/>
          </a:ln>
          <a:effectLst>
            <a:outerShdw blurRad="101600" dist="12700" dir="5400000" algn="bl" rotWithShape="0">
              <a:srgbClr val="000000">
                <a:alpha val="8000"/>
              </a:srgbClr>
            </a:outerShdw>
          </a:effectLst>
        </p:spPr>
        <p:txBody>
          <a:bodyPr/>
          <a:lstStyle/>
          <a:p>
            <a:endParaRPr lang="en-US"/>
          </a:p>
        </p:txBody>
      </p:sp>
      <p:sp>
        <p:nvSpPr>
          <p:cNvPr id="6" name="Shape 4"/>
          <p:cNvSpPr/>
          <p:nvPr/>
        </p:nvSpPr>
        <p:spPr>
          <a:xfrm>
            <a:off x="548640" y="2468880"/>
            <a:ext cx="2697480" cy="731520"/>
          </a:xfrm>
          <a:prstGeom prst="rect">
            <a:avLst/>
          </a:prstGeom>
          <a:solidFill>
            <a:srgbClr val="1E3A68"/>
          </a:solidFill>
          <a:ln w="12700">
            <a:solidFill>
              <a:srgbClr val="1E3A68"/>
            </a:solidFill>
            <a:prstDash val="solid"/>
          </a:ln>
        </p:spPr>
        <p:txBody>
          <a:bodyPr/>
          <a:lstStyle/>
          <a:p>
            <a:endParaRPr lang="en-US"/>
          </a:p>
        </p:txBody>
      </p:sp>
      <p:sp>
        <p:nvSpPr>
          <p:cNvPr id="7" name="Text 5"/>
          <p:cNvSpPr/>
          <p:nvPr/>
        </p:nvSpPr>
        <p:spPr>
          <a:xfrm>
            <a:off x="731520" y="2606040"/>
            <a:ext cx="2331720"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8" name="Text 6"/>
          <p:cNvSpPr/>
          <p:nvPr/>
        </p:nvSpPr>
        <p:spPr>
          <a:xfrm>
            <a:off x="731520" y="2606040"/>
            <a:ext cx="2331720" cy="457200"/>
          </a:xfrm>
          <a:prstGeom prst="rect">
            <a:avLst/>
          </a:prstGeom>
          <a:noFill/>
          <a:ln/>
        </p:spPr>
        <p:txBody>
          <a:bodyPr wrap="square" lIns="0" tIns="0" rIns="0" bIns="0" rtlCol="0" anchor="ctr"/>
          <a:lstStyle/>
          <a:p>
            <a:pPr marL="0" indent="0" algn="r">
              <a:buNone/>
            </a:pPr>
            <a:r>
              <a:rPr lang="en-US" sz="1300" dirty="0">
                <a:solidFill>
                  <a:srgbClr val="CADCFC"/>
                </a:solidFill>
                <a:latin typeface="Calibri" pitchFamily="34" charset="0"/>
                <a:ea typeface="Calibri" pitchFamily="34" charset="-122"/>
                <a:cs typeface="Calibri" pitchFamily="34" charset="-120"/>
              </a:rPr>
              <a:t>2025</a:t>
            </a:r>
            <a:endParaRPr lang="en-US" sz="1300" dirty="0"/>
          </a:p>
        </p:txBody>
      </p:sp>
      <p:sp>
        <p:nvSpPr>
          <p:cNvPr id="9" name="Text 7"/>
          <p:cNvSpPr/>
          <p:nvPr/>
        </p:nvSpPr>
        <p:spPr>
          <a:xfrm>
            <a:off x="731520" y="3383280"/>
            <a:ext cx="2331720" cy="822960"/>
          </a:xfrm>
          <a:prstGeom prst="rect">
            <a:avLst/>
          </a:prstGeom>
          <a:noFill/>
          <a:ln/>
        </p:spPr>
        <p:txBody>
          <a:bodyPr wrap="square" lIns="0" tIns="0" rIns="0" bIns="0" rtlCol="0" anchor="ctr"/>
          <a:lstStyle/>
          <a:p>
            <a:pPr marL="0" indent="0" algn="ctr">
              <a:buNone/>
            </a:pPr>
            <a:r>
              <a:rPr lang="en-US" sz="3600" b="1" dirty="0">
                <a:solidFill>
                  <a:srgbClr val="F59E0B"/>
                </a:solidFill>
                <a:latin typeface="Calibri" pitchFamily="34" charset="0"/>
                <a:ea typeface="Calibri" pitchFamily="34" charset="-122"/>
                <a:cs typeface="Calibri" pitchFamily="34" charset="-120"/>
              </a:rPr>
              <a:t>87.6%</a:t>
            </a:r>
            <a:endParaRPr lang="en-US" sz="3600" dirty="0"/>
          </a:p>
        </p:txBody>
      </p:sp>
      <p:sp>
        <p:nvSpPr>
          <p:cNvPr id="10" name="Text 8"/>
          <p:cNvSpPr/>
          <p:nvPr/>
        </p:nvSpPr>
        <p:spPr>
          <a:xfrm>
            <a:off x="731520" y="4251960"/>
            <a:ext cx="2331720" cy="365760"/>
          </a:xfrm>
          <a:prstGeom prst="rect">
            <a:avLst/>
          </a:prstGeom>
          <a:noFill/>
          <a:ln/>
        </p:spPr>
        <p:txBody>
          <a:bodyPr wrap="square" lIns="0" tIns="0" rIns="0" bIns="0" rtlCol="0" anchor="ctr"/>
          <a:lstStyle/>
          <a:p>
            <a:pPr marL="0" indent="0" algn="ctr">
              <a:buNone/>
            </a:pPr>
            <a:r>
              <a:rPr lang="en-US" sz="1100" i="1" dirty="0">
                <a:solidFill>
                  <a:srgbClr val="64748B"/>
                </a:solidFill>
                <a:latin typeface="Calibri" pitchFamily="34" charset="0"/>
                <a:ea typeface="Calibri" pitchFamily="34" charset="-122"/>
                <a:cs typeface="Calibri" pitchFamily="34" charset="-120"/>
              </a:rPr>
              <a:t>XGBoost accuracy</a:t>
            </a:r>
            <a:endParaRPr lang="en-US" sz="1100" dirty="0"/>
          </a:p>
        </p:txBody>
      </p:sp>
      <p:sp>
        <p:nvSpPr>
          <p:cNvPr id="11" name="Shape 9"/>
          <p:cNvSpPr/>
          <p:nvPr/>
        </p:nvSpPr>
        <p:spPr>
          <a:xfrm>
            <a:off x="1097280" y="4709160"/>
            <a:ext cx="1600200" cy="0"/>
          </a:xfrm>
          <a:prstGeom prst="line">
            <a:avLst/>
          </a:prstGeom>
          <a:noFill/>
          <a:ln w="12700">
            <a:solidFill>
              <a:srgbClr val="DCE5F2"/>
            </a:solidFill>
            <a:prstDash val="solid"/>
          </a:ln>
        </p:spPr>
        <p:txBody>
          <a:bodyPr/>
          <a:lstStyle/>
          <a:p>
            <a:endParaRPr lang="en-US"/>
          </a:p>
        </p:txBody>
      </p:sp>
      <p:sp>
        <p:nvSpPr>
          <p:cNvPr id="12" name="Text 10"/>
          <p:cNvSpPr/>
          <p:nvPr/>
        </p:nvSpPr>
        <p:spPr>
          <a:xfrm>
            <a:off x="731520" y="4800600"/>
            <a:ext cx="2331720" cy="685800"/>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Six ML models on Kaggle hotel data</a:t>
            </a:r>
            <a:endParaRPr lang="en-US" sz="1200" dirty="0"/>
          </a:p>
        </p:txBody>
      </p:sp>
      <p:sp>
        <p:nvSpPr>
          <p:cNvPr id="13" name="Shape 11"/>
          <p:cNvSpPr/>
          <p:nvPr/>
        </p:nvSpPr>
        <p:spPr>
          <a:xfrm>
            <a:off x="3429000" y="2468880"/>
            <a:ext cx="2697480" cy="3108960"/>
          </a:xfrm>
          <a:prstGeom prst="rect">
            <a:avLst/>
          </a:prstGeom>
          <a:solidFill>
            <a:srgbClr val="FFFFFF"/>
          </a:solidFill>
          <a:ln w="12700">
            <a:solidFill>
              <a:srgbClr val="DCE5F2"/>
            </a:solidFill>
            <a:prstDash val="solid"/>
          </a:ln>
          <a:effectLst>
            <a:outerShdw blurRad="101600" dist="12700" dir="5400000" algn="bl" rotWithShape="0">
              <a:srgbClr val="000000">
                <a:alpha val="8000"/>
              </a:srgbClr>
            </a:outerShdw>
          </a:effectLst>
        </p:spPr>
        <p:txBody>
          <a:bodyPr/>
          <a:lstStyle/>
          <a:p>
            <a:endParaRPr lang="en-US"/>
          </a:p>
        </p:txBody>
      </p:sp>
      <p:sp>
        <p:nvSpPr>
          <p:cNvPr id="14" name="Shape 12"/>
          <p:cNvSpPr/>
          <p:nvPr/>
        </p:nvSpPr>
        <p:spPr>
          <a:xfrm>
            <a:off x="3429000" y="2468880"/>
            <a:ext cx="2697480" cy="731520"/>
          </a:xfrm>
          <a:prstGeom prst="rect">
            <a:avLst/>
          </a:prstGeom>
          <a:solidFill>
            <a:srgbClr val="1E3A68"/>
          </a:solidFill>
          <a:ln w="12700">
            <a:solidFill>
              <a:srgbClr val="1E3A68"/>
            </a:solidFill>
            <a:prstDash val="solid"/>
          </a:ln>
        </p:spPr>
        <p:txBody>
          <a:bodyPr/>
          <a:lstStyle/>
          <a:p>
            <a:endParaRPr lang="en-US"/>
          </a:p>
        </p:txBody>
      </p:sp>
      <p:sp>
        <p:nvSpPr>
          <p:cNvPr id="15" name="Text 13"/>
          <p:cNvSpPr/>
          <p:nvPr/>
        </p:nvSpPr>
        <p:spPr>
          <a:xfrm>
            <a:off x="3611880" y="2606040"/>
            <a:ext cx="2331720"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[7]</a:t>
            </a:r>
            <a:endParaRPr lang="en-US" sz="2000" dirty="0"/>
          </a:p>
        </p:txBody>
      </p:sp>
      <p:sp>
        <p:nvSpPr>
          <p:cNvPr id="16" name="Text 14"/>
          <p:cNvSpPr/>
          <p:nvPr/>
        </p:nvSpPr>
        <p:spPr>
          <a:xfrm>
            <a:off x="3611880" y="2606040"/>
            <a:ext cx="2331720" cy="457200"/>
          </a:xfrm>
          <a:prstGeom prst="rect">
            <a:avLst/>
          </a:prstGeom>
          <a:noFill/>
          <a:ln/>
        </p:spPr>
        <p:txBody>
          <a:bodyPr wrap="square" lIns="0" tIns="0" rIns="0" bIns="0" rtlCol="0" anchor="ctr"/>
          <a:lstStyle/>
          <a:p>
            <a:pPr marL="0" indent="0" algn="r">
              <a:buNone/>
            </a:pPr>
            <a:r>
              <a:rPr lang="en-US" sz="1300" dirty="0">
                <a:solidFill>
                  <a:srgbClr val="CADCFC"/>
                </a:solidFill>
                <a:latin typeface="Calibri" pitchFamily="34" charset="0"/>
                <a:ea typeface="Calibri" pitchFamily="34" charset="-122"/>
                <a:cs typeface="Calibri" pitchFamily="34" charset="-120"/>
              </a:rPr>
              <a:t>2025</a:t>
            </a:r>
            <a:endParaRPr lang="en-US" sz="1300" dirty="0"/>
          </a:p>
        </p:txBody>
      </p:sp>
      <p:sp>
        <p:nvSpPr>
          <p:cNvPr id="17" name="Text 15"/>
          <p:cNvSpPr/>
          <p:nvPr/>
        </p:nvSpPr>
        <p:spPr>
          <a:xfrm>
            <a:off x="3611880" y="3383280"/>
            <a:ext cx="2331720" cy="822960"/>
          </a:xfrm>
          <a:prstGeom prst="rect">
            <a:avLst/>
          </a:prstGeom>
          <a:noFill/>
          <a:ln/>
        </p:spPr>
        <p:txBody>
          <a:bodyPr wrap="square" lIns="0" tIns="0" rIns="0" bIns="0" rtlCol="0" anchor="ctr"/>
          <a:lstStyle/>
          <a:p>
            <a:pPr marL="0" indent="0" algn="ctr">
              <a:buNone/>
            </a:pPr>
            <a:r>
              <a:rPr lang="en-US" sz="3600" b="1" dirty="0">
                <a:solidFill>
                  <a:srgbClr val="F59E0B"/>
                </a:solidFill>
                <a:latin typeface="Calibri" pitchFamily="34" charset="0"/>
                <a:ea typeface="Calibri" pitchFamily="34" charset="-122"/>
                <a:cs typeface="Calibri" pitchFamily="34" charset="-120"/>
              </a:rPr>
              <a:t>0.93</a:t>
            </a:r>
            <a:endParaRPr lang="en-US" sz="3600" dirty="0"/>
          </a:p>
        </p:txBody>
      </p:sp>
      <p:sp>
        <p:nvSpPr>
          <p:cNvPr id="18" name="Text 16"/>
          <p:cNvSpPr/>
          <p:nvPr/>
        </p:nvSpPr>
        <p:spPr>
          <a:xfrm>
            <a:off x="3611880" y="4251960"/>
            <a:ext cx="2331720" cy="365760"/>
          </a:xfrm>
          <a:prstGeom prst="rect">
            <a:avLst/>
          </a:prstGeom>
          <a:noFill/>
          <a:ln/>
        </p:spPr>
        <p:txBody>
          <a:bodyPr wrap="square" lIns="0" tIns="0" rIns="0" bIns="0" rtlCol="0" anchor="ctr"/>
          <a:lstStyle/>
          <a:p>
            <a:pPr marL="0" indent="0" algn="ctr">
              <a:buNone/>
            </a:pPr>
            <a:r>
              <a:rPr lang="en-US" sz="1100" i="1" dirty="0">
                <a:solidFill>
                  <a:srgbClr val="64748B"/>
                </a:solidFill>
                <a:latin typeface="Calibri" pitchFamily="34" charset="0"/>
                <a:ea typeface="Calibri" pitchFamily="34" charset="-122"/>
                <a:cs typeface="Calibri" pitchFamily="34" charset="-120"/>
              </a:rPr>
              <a:t>RF F1 on resort</a:t>
            </a:r>
            <a:endParaRPr lang="en-US" sz="1100" dirty="0"/>
          </a:p>
        </p:txBody>
      </p:sp>
      <p:sp>
        <p:nvSpPr>
          <p:cNvPr id="19" name="Shape 17"/>
          <p:cNvSpPr/>
          <p:nvPr/>
        </p:nvSpPr>
        <p:spPr>
          <a:xfrm>
            <a:off x="3977640" y="4709160"/>
            <a:ext cx="1600200" cy="0"/>
          </a:xfrm>
          <a:prstGeom prst="line">
            <a:avLst/>
          </a:prstGeom>
          <a:noFill/>
          <a:ln w="12700">
            <a:solidFill>
              <a:srgbClr val="DCE5F2"/>
            </a:solidFill>
            <a:prstDash val="solid"/>
          </a:ln>
        </p:spPr>
        <p:txBody>
          <a:bodyPr/>
          <a:lstStyle/>
          <a:p>
            <a:endParaRPr lang="en-US"/>
          </a:p>
        </p:txBody>
      </p:sp>
      <p:sp>
        <p:nvSpPr>
          <p:cNvPr id="20" name="Text 18"/>
          <p:cNvSpPr/>
          <p:nvPr/>
        </p:nvSpPr>
        <p:spPr>
          <a:xfrm>
            <a:off x="3611880" y="4800600"/>
            <a:ext cx="2331720" cy="685800"/>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City vs resort hotels with TabNet</a:t>
            </a:r>
            <a:endParaRPr lang="en-US" sz="1200" dirty="0"/>
          </a:p>
        </p:txBody>
      </p:sp>
      <p:sp>
        <p:nvSpPr>
          <p:cNvPr id="21" name="Shape 19"/>
          <p:cNvSpPr/>
          <p:nvPr/>
        </p:nvSpPr>
        <p:spPr>
          <a:xfrm>
            <a:off x="6309360" y="2468880"/>
            <a:ext cx="2697480" cy="3108960"/>
          </a:xfrm>
          <a:prstGeom prst="rect">
            <a:avLst/>
          </a:prstGeom>
          <a:solidFill>
            <a:srgbClr val="FFFFFF"/>
          </a:solidFill>
          <a:ln w="12700">
            <a:solidFill>
              <a:srgbClr val="DCE5F2"/>
            </a:solidFill>
            <a:prstDash val="solid"/>
          </a:ln>
          <a:effectLst>
            <a:outerShdw blurRad="101600" dist="12700" dir="5400000" algn="bl" rotWithShape="0">
              <a:srgbClr val="000000">
                <a:alpha val="8000"/>
              </a:srgbClr>
            </a:outerShdw>
          </a:effectLst>
        </p:spPr>
        <p:txBody>
          <a:bodyPr/>
          <a:lstStyle/>
          <a:p>
            <a:endParaRPr lang="en-US"/>
          </a:p>
        </p:txBody>
      </p:sp>
      <p:sp>
        <p:nvSpPr>
          <p:cNvPr id="22" name="Shape 20"/>
          <p:cNvSpPr/>
          <p:nvPr/>
        </p:nvSpPr>
        <p:spPr>
          <a:xfrm>
            <a:off x="6309360" y="2468880"/>
            <a:ext cx="2697480" cy="731520"/>
          </a:xfrm>
          <a:prstGeom prst="rect">
            <a:avLst/>
          </a:prstGeom>
          <a:solidFill>
            <a:srgbClr val="1E3A68"/>
          </a:solidFill>
          <a:ln w="12700">
            <a:solidFill>
              <a:srgbClr val="1E3A68"/>
            </a:solidFill>
            <a:prstDash val="solid"/>
          </a:ln>
        </p:spPr>
        <p:txBody>
          <a:bodyPr/>
          <a:lstStyle/>
          <a:p>
            <a:endParaRPr lang="en-US"/>
          </a:p>
        </p:txBody>
      </p:sp>
      <p:sp>
        <p:nvSpPr>
          <p:cNvPr id="23" name="Text 21"/>
          <p:cNvSpPr/>
          <p:nvPr/>
        </p:nvSpPr>
        <p:spPr>
          <a:xfrm>
            <a:off x="6492240" y="2606040"/>
            <a:ext cx="2331720"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[10]</a:t>
            </a:r>
            <a:endParaRPr lang="en-US" sz="2000" dirty="0"/>
          </a:p>
        </p:txBody>
      </p:sp>
      <p:sp>
        <p:nvSpPr>
          <p:cNvPr id="24" name="Text 22"/>
          <p:cNvSpPr/>
          <p:nvPr/>
        </p:nvSpPr>
        <p:spPr>
          <a:xfrm>
            <a:off x="6492240" y="2606040"/>
            <a:ext cx="2331720" cy="457200"/>
          </a:xfrm>
          <a:prstGeom prst="rect">
            <a:avLst/>
          </a:prstGeom>
          <a:noFill/>
          <a:ln/>
        </p:spPr>
        <p:txBody>
          <a:bodyPr wrap="square" lIns="0" tIns="0" rIns="0" bIns="0" rtlCol="0" anchor="ctr"/>
          <a:lstStyle/>
          <a:p>
            <a:pPr marL="0" indent="0" algn="r">
              <a:buNone/>
            </a:pPr>
            <a:r>
              <a:rPr lang="en-US" sz="1300" dirty="0">
                <a:solidFill>
                  <a:srgbClr val="CADCFC"/>
                </a:solidFill>
                <a:latin typeface="Calibri" pitchFamily="34" charset="0"/>
                <a:ea typeface="Calibri" pitchFamily="34" charset="-122"/>
                <a:cs typeface="Calibri" pitchFamily="34" charset="-120"/>
              </a:rPr>
              <a:t>2025</a:t>
            </a:r>
            <a:endParaRPr lang="en-US" sz="1300" dirty="0"/>
          </a:p>
        </p:txBody>
      </p:sp>
      <p:sp>
        <p:nvSpPr>
          <p:cNvPr id="25" name="Text 23"/>
          <p:cNvSpPr/>
          <p:nvPr/>
        </p:nvSpPr>
        <p:spPr>
          <a:xfrm>
            <a:off x="6492240" y="3383280"/>
            <a:ext cx="2331720" cy="822960"/>
          </a:xfrm>
          <a:prstGeom prst="rect">
            <a:avLst/>
          </a:prstGeom>
          <a:noFill/>
          <a:ln/>
        </p:spPr>
        <p:txBody>
          <a:bodyPr wrap="square" lIns="0" tIns="0" rIns="0" bIns="0" rtlCol="0" anchor="ctr"/>
          <a:lstStyle/>
          <a:p>
            <a:pPr marL="0" indent="0" algn="ctr">
              <a:buNone/>
            </a:pPr>
            <a:r>
              <a:rPr lang="en-US" sz="3600" b="1" dirty="0">
                <a:solidFill>
                  <a:srgbClr val="F59E0B"/>
                </a:solidFill>
                <a:latin typeface="Calibri" pitchFamily="34" charset="0"/>
                <a:ea typeface="Calibri" pitchFamily="34" charset="-122"/>
                <a:cs typeface="Calibri" pitchFamily="34" charset="-120"/>
              </a:rPr>
              <a:t>~90%</a:t>
            </a:r>
            <a:endParaRPr lang="en-US" sz="3600" dirty="0"/>
          </a:p>
        </p:txBody>
      </p:sp>
      <p:sp>
        <p:nvSpPr>
          <p:cNvPr id="26" name="Text 24"/>
          <p:cNvSpPr/>
          <p:nvPr/>
        </p:nvSpPr>
        <p:spPr>
          <a:xfrm>
            <a:off x="6492240" y="4251960"/>
            <a:ext cx="2331720" cy="365760"/>
          </a:xfrm>
          <a:prstGeom prst="rect">
            <a:avLst/>
          </a:prstGeom>
          <a:noFill/>
          <a:ln/>
        </p:spPr>
        <p:txBody>
          <a:bodyPr wrap="square" lIns="0" tIns="0" rIns="0" bIns="0" rtlCol="0" anchor="ctr"/>
          <a:lstStyle/>
          <a:p>
            <a:pPr marL="0" indent="0" algn="ctr">
              <a:buNone/>
            </a:pPr>
            <a:r>
              <a:rPr lang="en-US" sz="1100" i="1" dirty="0">
                <a:solidFill>
                  <a:srgbClr val="64748B"/>
                </a:solidFill>
                <a:latin typeface="Calibri" pitchFamily="34" charset="0"/>
                <a:ea typeface="Calibri" pitchFamily="34" charset="-122"/>
                <a:cs typeface="Calibri" pitchFamily="34" charset="-120"/>
              </a:rPr>
              <a:t>XGBoost accuracy</a:t>
            </a:r>
            <a:endParaRPr lang="en-US" sz="1100" dirty="0"/>
          </a:p>
        </p:txBody>
      </p:sp>
      <p:sp>
        <p:nvSpPr>
          <p:cNvPr id="27" name="Shape 25"/>
          <p:cNvSpPr/>
          <p:nvPr/>
        </p:nvSpPr>
        <p:spPr>
          <a:xfrm>
            <a:off x="6858000" y="4709160"/>
            <a:ext cx="1600200" cy="0"/>
          </a:xfrm>
          <a:prstGeom prst="line">
            <a:avLst/>
          </a:prstGeom>
          <a:noFill/>
          <a:ln w="12700">
            <a:solidFill>
              <a:srgbClr val="DCE5F2"/>
            </a:solidFill>
            <a:prstDash val="solid"/>
          </a:ln>
        </p:spPr>
        <p:txBody>
          <a:bodyPr/>
          <a:lstStyle/>
          <a:p>
            <a:endParaRPr lang="en-US"/>
          </a:p>
        </p:txBody>
      </p:sp>
      <p:sp>
        <p:nvSpPr>
          <p:cNvPr id="28" name="Text 26"/>
          <p:cNvSpPr/>
          <p:nvPr/>
        </p:nvSpPr>
        <p:spPr>
          <a:xfrm>
            <a:off x="6492240" y="4800600"/>
            <a:ext cx="2331720" cy="685800"/>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DT, RF, XGBoost on Portuguese data</a:t>
            </a:r>
            <a:endParaRPr lang="en-US" sz="1200" dirty="0"/>
          </a:p>
        </p:txBody>
      </p:sp>
      <p:sp>
        <p:nvSpPr>
          <p:cNvPr id="29" name="Shape 27"/>
          <p:cNvSpPr/>
          <p:nvPr/>
        </p:nvSpPr>
        <p:spPr>
          <a:xfrm>
            <a:off x="9189720" y="2468880"/>
            <a:ext cx="2697480" cy="3108960"/>
          </a:xfrm>
          <a:prstGeom prst="rect">
            <a:avLst/>
          </a:prstGeom>
          <a:solidFill>
            <a:srgbClr val="FFFFFF"/>
          </a:solidFill>
          <a:ln w="12700">
            <a:solidFill>
              <a:srgbClr val="DCE5F2"/>
            </a:solidFill>
            <a:prstDash val="solid"/>
          </a:ln>
          <a:effectLst>
            <a:outerShdw blurRad="101600" dist="12700" dir="5400000" algn="bl" rotWithShape="0">
              <a:srgbClr val="000000">
                <a:alpha val="8000"/>
              </a:srgbClr>
            </a:outerShdw>
          </a:effectLst>
        </p:spPr>
        <p:txBody>
          <a:bodyPr/>
          <a:lstStyle/>
          <a:p>
            <a:endParaRPr lang="en-US"/>
          </a:p>
        </p:txBody>
      </p:sp>
      <p:sp>
        <p:nvSpPr>
          <p:cNvPr id="30" name="Shape 28"/>
          <p:cNvSpPr/>
          <p:nvPr/>
        </p:nvSpPr>
        <p:spPr>
          <a:xfrm>
            <a:off x="9189720" y="2468880"/>
            <a:ext cx="2697480" cy="731520"/>
          </a:xfrm>
          <a:prstGeom prst="rect">
            <a:avLst/>
          </a:prstGeom>
          <a:solidFill>
            <a:srgbClr val="1E3A68"/>
          </a:solidFill>
          <a:ln w="12700">
            <a:solidFill>
              <a:srgbClr val="1E3A68"/>
            </a:solidFill>
            <a:prstDash val="solid"/>
          </a:ln>
        </p:spPr>
        <p:txBody>
          <a:bodyPr/>
          <a:lstStyle/>
          <a:p>
            <a:endParaRPr lang="en-US"/>
          </a:p>
        </p:txBody>
      </p:sp>
      <p:sp>
        <p:nvSpPr>
          <p:cNvPr id="31" name="Text 29"/>
          <p:cNvSpPr/>
          <p:nvPr/>
        </p:nvSpPr>
        <p:spPr>
          <a:xfrm>
            <a:off x="9372600" y="2606040"/>
            <a:ext cx="2331720"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[11]</a:t>
            </a:r>
            <a:endParaRPr lang="en-US" sz="2000" dirty="0"/>
          </a:p>
        </p:txBody>
      </p:sp>
      <p:sp>
        <p:nvSpPr>
          <p:cNvPr id="32" name="Text 30"/>
          <p:cNvSpPr/>
          <p:nvPr/>
        </p:nvSpPr>
        <p:spPr>
          <a:xfrm>
            <a:off x="9372600" y="2606040"/>
            <a:ext cx="2331720" cy="457200"/>
          </a:xfrm>
          <a:prstGeom prst="rect">
            <a:avLst/>
          </a:prstGeom>
          <a:noFill/>
          <a:ln/>
        </p:spPr>
        <p:txBody>
          <a:bodyPr wrap="square" lIns="0" tIns="0" rIns="0" bIns="0" rtlCol="0" anchor="ctr"/>
          <a:lstStyle/>
          <a:p>
            <a:pPr marL="0" indent="0" algn="r">
              <a:buNone/>
            </a:pPr>
            <a:r>
              <a:rPr lang="en-US" sz="1300" dirty="0">
                <a:solidFill>
                  <a:srgbClr val="CADCFC"/>
                </a:solidFill>
                <a:latin typeface="Calibri" pitchFamily="34" charset="0"/>
                <a:ea typeface="Calibri" pitchFamily="34" charset="-122"/>
                <a:cs typeface="Calibri" pitchFamily="34" charset="-120"/>
              </a:rPr>
              <a:t>2025</a:t>
            </a:r>
            <a:endParaRPr lang="en-US" sz="1300" dirty="0"/>
          </a:p>
        </p:txBody>
      </p:sp>
      <p:sp>
        <p:nvSpPr>
          <p:cNvPr id="33" name="Text 31"/>
          <p:cNvSpPr/>
          <p:nvPr/>
        </p:nvSpPr>
        <p:spPr>
          <a:xfrm>
            <a:off x="9372600" y="3383280"/>
            <a:ext cx="2331720" cy="822960"/>
          </a:xfrm>
          <a:prstGeom prst="rect">
            <a:avLst/>
          </a:prstGeom>
          <a:noFill/>
          <a:ln/>
        </p:spPr>
        <p:txBody>
          <a:bodyPr wrap="square" lIns="0" tIns="0" rIns="0" bIns="0" rtlCol="0" anchor="ctr"/>
          <a:lstStyle/>
          <a:p>
            <a:pPr marL="0" indent="0" algn="ctr">
              <a:buNone/>
            </a:pPr>
            <a:r>
              <a:rPr lang="en-US" sz="3600" b="1" dirty="0">
                <a:solidFill>
                  <a:srgbClr val="F59E0B"/>
                </a:solidFill>
                <a:latin typeface="Calibri" pitchFamily="34" charset="0"/>
                <a:ea typeface="Calibri" pitchFamily="34" charset="-122"/>
                <a:cs typeface="Calibri" pitchFamily="34" charset="-120"/>
              </a:rPr>
              <a:t>93.5%</a:t>
            </a:r>
            <a:endParaRPr lang="en-US" sz="3600" dirty="0"/>
          </a:p>
        </p:txBody>
      </p:sp>
      <p:sp>
        <p:nvSpPr>
          <p:cNvPr id="34" name="Text 32"/>
          <p:cNvSpPr/>
          <p:nvPr/>
        </p:nvSpPr>
        <p:spPr>
          <a:xfrm>
            <a:off x="9372600" y="4251960"/>
            <a:ext cx="2331720" cy="365760"/>
          </a:xfrm>
          <a:prstGeom prst="rect">
            <a:avLst/>
          </a:prstGeom>
          <a:noFill/>
          <a:ln/>
        </p:spPr>
        <p:txBody>
          <a:bodyPr wrap="square" lIns="0" tIns="0" rIns="0" bIns="0" rtlCol="0" anchor="ctr"/>
          <a:lstStyle/>
          <a:p>
            <a:pPr marL="0" indent="0" algn="ctr">
              <a:buNone/>
            </a:pPr>
            <a:r>
              <a:rPr lang="en-US" sz="1100" i="1" dirty="0">
                <a:solidFill>
                  <a:srgbClr val="64748B"/>
                </a:solidFill>
                <a:latin typeface="Calibri" pitchFamily="34" charset="0"/>
                <a:ea typeface="Calibri" pitchFamily="34" charset="-122"/>
                <a:cs typeface="Calibri" pitchFamily="34" charset="-120"/>
              </a:rPr>
              <a:t>Gradient Boosting</a:t>
            </a:r>
            <a:endParaRPr lang="en-US" sz="1100" dirty="0"/>
          </a:p>
        </p:txBody>
      </p:sp>
      <p:sp>
        <p:nvSpPr>
          <p:cNvPr id="35" name="Shape 33"/>
          <p:cNvSpPr/>
          <p:nvPr/>
        </p:nvSpPr>
        <p:spPr>
          <a:xfrm>
            <a:off x="9738360" y="4709160"/>
            <a:ext cx="1600200" cy="0"/>
          </a:xfrm>
          <a:prstGeom prst="line">
            <a:avLst/>
          </a:prstGeom>
          <a:noFill/>
          <a:ln w="12700">
            <a:solidFill>
              <a:srgbClr val="DCE5F2"/>
            </a:solidFill>
            <a:prstDash val="solid"/>
          </a:ln>
        </p:spPr>
        <p:txBody>
          <a:bodyPr/>
          <a:lstStyle/>
          <a:p>
            <a:endParaRPr lang="en-US"/>
          </a:p>
        </p:txBody>
      </p:sp>
      <p:sp>
        <p:nvSpPr>
          <p:cNvPr id="36" name="Text 34"/>
          <p:cNvSpPr/>
          <p:nvPr/>
        </p:nvSpPr>
        <p:spPr>
          <a:xfrm>
            <a:off x="9372600" y="4800600"/>
            <a:ext cx="2331720" cy="685800"/>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Feature interaction with 8 models</a:t>
            </a:r>
            <a:endParaRPr lang="en-US" sz="1200" dirty="0"/>
          </a:p>
        </p:txBody>
      </p:sp>
      <p:sp>
        <p:nvSpPr>
          <p:cNvPr id="37" name="Text 35"/>
          <p:cNvSpPr/>
          <p:nvPr/>
        </p:nvSpPr>
        <p:spPr>
          <a:xfrm>
            <a:off x="548640" y="5760720"/>
            <a:ext cx="11064240" cy="548640"/>
          </a:xfrm>
          <a:prstGeom prst="rect">
            <a:avLst/>
          </a:prstGeom>
          <a:noFill/>
          <a:ln/>
        </p:spPr>
        <p:txBody>
          <a:bodyPr wrap="square" lIns="0" tIns="0" rIns="0" bIns="0" rtlCol="0" anchor="ctr"/>
          <a:lstStyle/>
          <a:p>
            <a:pPr marL="0" indent="0" algn="ctr">
              <a:buNone/>
            </a:pPr>
            <a:r>
              <a:rPr lang="en-US" sz="1200" i="1" dirty="0">
                <a:solidFill>
                  <a:srgbClr val="64748B"/>
                </a:solidFill>
                <a:latin typeface="Calibri" pitchFamily="34" charset="0"/>
                <a:ea typeface="Calibri" pitchFamily="34" charset="-122"/>
                <a:cs typeface="Calibri" pitchFamily="34" charset="-120"/>
              </a:rPr>
              <a:t>XGBoost dominates the literature. Random Forest and gradient boosting are close behind. Most studies use a single dataset and few include deep learning baselines.</a:t>
            </a:r>
            <a:endParaRPr lang="en-US" sz="1200" dirty="0"/>
          </a:p>
        </p:txBody>
      </p:sp>
      <p:sp>
        <p:nvSpPr>
          <p:cNvPr id="38" name="Shape 36"/>
          <p:cNvSpPr/>
          <p:nvPr/>
        </p:nvSpPr>
        <p:spPr>
          <a:xfrm>
            <a:off x="0" y="6675120"/>
            <a:ext cx="12161520" cy="182880"/>
          </a:xfrm>
          <a:prstGeom prst="rect">
            <a:avLst/>
          </a:prstGeom>
          <a:solidFill>
            <a:srgbClr val="1E3A68"/>
          </a:solidFill>
          <a:ln w="12700">
            <a:solidFill>
              <a:srgbClr val="1E3A68"/>
            </a:solidFill>
            <a:prstDash val="solid"/>
          </a:ln>
        </p:spPr>
        <p:txBody>
          <a:bodyPr/>
          <a:lstStyle/>
          <a:p>
            <a:endParaRPr lang="en-US"/>
          </a:p>
        </p:txBody>
      </p:sp>
      <p:sp>
        <p:nvSpPr>
          <p:cNvPr id="39" name="Text 37"/>
          <p:cNvSpPr/>
          <p:nvPr/>
        </p:nvSpPr>
        <p:spPr>
          <a:xfrm>
            <a:off x="365760" y="6675120"/>
            <a:ext cx="6400800" cy="18288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Hotel Booking Cancellation Prediction  |  Team 32</a:t>
            </a:r>
            <a:endParaRPr lang="en-US" sz="900" dirty="0"/>
          </a:p>
        </p:txBody>
      </p:sp>
      <p:sp>
        <p:nvSpPr>
          <p:cNvPr id="40" name="Text 38"/>
          <p:cNvSpPr/>
          <p:nvPr/>
        </p:nvSpPr>
        <p:spPr>
          <a:xfrm>
            <a:off x="11338560" y="6675120"/>
            <a:ext cx="548640" cy="18288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4 / 19</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0972800" cy="274320"/>
          </a:xfrm>
          <a:prstGeom prst="rect">
            <a:avLst/>
          </a:prstGeom>
          <a:noFill/>
          <a:ln/>
        </p:spPr>
        <p:txBody>
          <a:bodyPr wrap="square" lIns="0" tIns="0" rIns="0" bIns="0" rtlCol="0" anchor="ctr"/>
          <a:lstStyle/>
          <a:p>
            <a:pPr marL="0" indent="0">
              <a:buNone/>
            </a:pPr>
            <a:r>
              <a:rPr lang="en-US" sz="1100" b="1" kern="0" spc="400" dirty="0">
                <a:solidFill>
                  <a:srgbClr val="F59E0B"/>
                </a:solidFill>
                <a:latin typeface="Calibri" pitchFamily="34" charset="0"/>
                <a:ea typeface="Calibri" pitchFamily="34" charset="-122"/>
                <a:cs typeface="Calibri" pitchFamily="34" charset="-120"/>
              </a:rPr>
              <a:t>02  ·  RELATED WORK</a:t>
            </a:r>
            <a:endParaRPr lang="en-US" sz="1100" dirty="0"/>
          </a:p>
        </p:txBody>
      </p:sp>
      <p:sp>
        <p:nvSpPr>
          <p:cNvPr id="3" name="Text 1"/>
          <p:cNvSpPr/>
          <p:nvPr/>
        </p:nvSpPr>
        <p:spPr>
          <a:xfrm>
            <a:off x="548640" y="594360"/>
            <a:ext cx="10972800" cy="640080"/>
          </a:xfrm>
          <a:prstGeom prst="rect">
            <a:avLst/>
          </a:prstGeom>
          <a:noFill/>
          <a:ln/>
        </p:spPr>
        <p:txBody>
          <a:bodyPr wrap="square" lIns="0" tIns="0" rIns="0" bIns="0" rtlCol="0" anchor="ctr"/>
          <a:lstStyle/>
          <a:p>
            <a:pPr marL="0" indent="0">
              <a:buNone/>
            </a:pPr>
            <a:r>
              <a:rPr lang="en-US" sz="3000" b="1" dirty="0">
                <a:solidFill>
                  <a:srgbClr val="1E3A68"/>
                </a:solidFill>
                <a:latin typeface="Calibri" pitchFamily="34" charset="0"/>
                <a:ea typeface="Calibri" pitchFamily="34" charset="-122"/>
                <a:cs typeface="Calibri" pitchFamily="34" charset="-120"/>
              </a:rPr>
              <a:t>Summary of 12 Reviewed Papers</a:t>
            </a:r>
            <a:endParaRPr lang="en-US" sz="3000" dirty="0"/>
          </a:p>
        </p:txBody>
      </p:sp>
      <p:pic>
        <p:nvPicPr>
          <p:cNvPr id="4" name="Image 0" descr="/sessions/eloquent-determined-pascal/mnt/outputs/assets/Table_Related_Works.png"/>
          <p:cNvPicPr>
            <a:picLocks noChangeAspect="1"/>
          </p:cNvPicPr>
          <p:nvPr/>
        </p:nvPicPr>
        <p:blipFill>
          <a:blip r:embed="rId3"/>
          <a:stretch>
            <a:fillRect/>
          </a:stretch>
        </p:blipFill>
        <p:spPr>
          <a:xfrm>
            <a:off x="320040" y="1417320"/>
            <a:ext cx="11521440" cy="5074920"/>
          </a:xfrm>
          <a:prstGeom prst="rect">
            <a:avLst/>
          </a:prstGeom>
        </p:spPr>
      </p:pic>
      <p:sp>
        <p:nvSpPr>
          <p:cNvPr id="5" name="Shape 2"/>
          <p:cNvSpPr/>
          <p:nvPr/>
        </p:nvSpPr>
        <p:spPr>
          <a:xfrm>
            <a:off x="0" y="6675120"/>
            <a:ext cx="12161520" cy="182880"/>
          </a:xfrm>
          <a:prstGeom prst="rect">
            <a:avLst/>
          </a:prstGeom>
          <a:solidFill>
            <a:srgbClr val="1E3A68"/>
          </a:solidFill>
          <a:ln w="12700">
            <a:solidFill>
              <a:srgbClr val="1E3A68"/>
            </a:solidFill>
            <a:prstDash val="solid"/>
          </a:ln>
        </p:spPr>
        <p:txBody>
          <a:bodyPr/>
          <a:lstStyle/>
          <a:p>
            <a:endParaRPr lang="en-US"/>
          </a:p>
        </p:txBody>
      </p:sp>
      <p:sp>
        <p:nvSpPr>
          <p:cNvPr id="6" name="Text 3"/>
          <p:cNvSpPr/>
          <p:nvPr/>
        </p:nvSpPr>
        <p:spPr>
          <a:xfrm>
            <a:off x="365760" y="6675120"/>
            <a:ext cx="6400800" cy="18288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Hotel Booking Cancellation Prediction  |  Team 32</a:t>
            </a:r>
            <a:endParaRPr lang="en-US" sz="900" dirty="0"/>
          </a:p>
        </p:txBody>
      </p:sp>
      <p:sp>
        <p:nvSpPr>
          <p:cNvPr id="7" name="Text 4"/>
          <p:cNvSpPr/>
          <p:nvPr/>
        </p:nvSpPr>
        <p:spPr>
          <a:xfrm>
            <a:off x="11338560" y="6675120"/>
            <a:ext cx="548640" cy="18288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5 / 19</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0972800" cy="274320"/>
          </a:xfrm>
          <a:prstGeom prst="rect">
            <a:avLst/>
          </a:prstGeom>
          <a:noFill/>
          <a:ln/>
        </p:spPr>
        <p:txBody>
          <a:bodyPr wrap="square" lIns="0" tIns="0" rIns="0" bIns="0" rtlCol="0" anchor="ctr"/>
          <a:lstStyle/>
          <a:p>
            <a:pPr marL="0" indent="0">
              <a:buNone/>
            </a:pPr>
            <a:r>
              <a:rPr lang="en-US" sz="1100" b="1" kern="0" spc="400" dirty="0">
                <a:solidFill>
                  <a:srgbClr val="F59E0B"/>
                </a:solidFill>
                <a:latin typeface="Calibri" pitchFamily="34" charset="0"/>
                <a:ea typeface="Calibri" pitchFamily="34" charset="-122"/>
                <a:cs typeface="Calibri" pitchFamily="34" charset="-120"/>
              </a:rPr>
              <a:t>02  ·  RELATED WORK</a:t>
            </a:r>
            <a:endParaRPr lang="en-US" sz="1100" dirty="0"/>
          </a:p>
        </p:txBody>
      </p:sp>
      <p:sp>
        <p:nvSpPr>
          <p:cNvPr id="3" name="Text 1"/>
          <p:cNvSpPr/>
          <p:nvPr/>
        </p:nvSpPr>
        <p:spPr>
          <a:xfrm>
            <a:off x="548640" y="594360"/>
            <a:ext cx="10972800" cy="640080"/>
          </a:xfrm>
          <a:prstGeom prst="rect">
            <a:avLst/>
          </a:prstGeom>
          <a:noFill/>
          <a:ln/>
        </p:spPr>
        <p:txBody>
          <a:bodyPr wrap="square" lIns="0" tIns="0" rIns="0" bIns="0" rtlCol="0" anchor="ctr"/>
          <a:lstStyle/>
          <a:p>
            <a:pPr marL="0" indent="0">
              <a:buNone/>
            </a:pPr>
            <a:r>
              <a:rPr lang="en-US" sz="3000" b="1" dirty="0">
                <a:solidFill>
                  <a:srgbClr val="1E3A68"/>
                </a:solidFill>
                <a:latin typeface="Calibri" pitchFamily="34" charset="0"/>
                <a:ea typeface="Calibri" pitchFamily="34" charset="-122"/>
                <a:cs typeface="Calibri" pitchFamily="34" charset="-120"/>
              </a:rPr>
              <a:t>Patterns We Noticed in the Literature</a:t>
            </a:r>
            <a:endParaRPr lang="en-US" sz="3000" dirty="0"/>
          </a:p>
        </p:txBody>
      </p:sp>
      <p:sp>
        <p:nvSpPr>
          <p:cNvPr id="4" name="Shape 2"/>
          <p:cNvSpPr/>
          <p:nvPr/>
        </p:nvSpPr>
        <p:spPr>
          <a:xfrm>
            <a:off x="548640" y="1691640"/>
            <a:ext cx="5440680" cy="2240280"/>
          </a:xfrm>
          <a:prstGeom prst="rect">
            <a:avLst/>
          </a:prstGeom>
          <a:solidFill>
            <a:srgbClr val="F0F4FA"/>
          </a:solidFill>
          <a:ln w="12700">
            <a:solidFill>
              <a:srgbClr val="F0F4FA"/>
            </a:solidFill>
            <a:prstDash val="solid"/>
          </a:ln>
        </p:spPr>
        <p:txBody>
          <a:bodyPr/>
          <a:lstStyle/>
          <a:p>
            <a:endParaRPr lang="en-US"/>
          </a:p>
        </p:txBody>
      </p:sp>
      <p:sp>
        <p:nvSpPr>
          <p:cNvPr id="5" name="Text 3"/>
          <p:cNvSpPr/>
          <p:nvPr/>
        </p:nvSpPr>
        <p:spPr>
          <a:xfrm>
            <a:off x="731520" y="1783080"/>
            <a:ext cx="1463040" cy="2057400"/>
          </a:xfrm>
          <a:prstGeom prst="rect">
            <a:avLst/>
          </a:prstGeom>
          <a:noFill/>
          <a:ln/>
        </p:spPr>
        <p:txBody>
          <a:bodyPr wrap="square" lIns="0" tIns="0" rIns="0" bIns="0" rtlCol="0" anchor="ctr"/>
          <a:lstStyle/>
          <a:p>
            <a:pPr marL="0" indent="0" algn="ctr">
              <a:buNone/>
            </a:pPr>
            <a:r>
              <a:rPr lang="en-US" sz="6400" b="1" dirty="0">
                <a:solidFill>
                  <a:srgbClr val="1E3A68"/>
                </a:solidFill>
                <a:latin typeface="Calibri" pitchFamily="34" charset="0"/>
                <a:ea typeface="Calibri" pitchFamily="34" charset="-122"/>
                <a:cs typeface="Calibri" pitchFamily="34" charset="-120"/>
              </a:rPr>
              <a:t>9</a:t>
            </a:r>
            <a:endParaRPr lang="en-US" sz="6400" dirty="0"/>
          </a:p>
        </p:txBody>
      </p:sp>
      <p:sp>
        <p:nvSpPr>
          <p:cNvPr id="6" name="Text 4"/>
          <p:cNvSpPr/>
          <p:nvPr/>
        </p:nvSpPr>
        <p:spPr>
          <a:xfrm>
            <a:off x="731520" y="3474720"/>
            <a:ext cx="1463040" cy="274320"/>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of 12 papers</a:t>
            </a:r>
            <a:endParaRPr lang="en-US" sz="1000" dirty="0"/>
          </a:p>
        </p:txBody>
      </p:sp>
      <p:sp>
        <p:nvSpPr>
          <p:cNvPr id="7" name="Text 5"/>
          <p:cNvSpPr/>
          <p:nvPr/>
        </p:nvSpPr>
        <p:spPr>
          <a:xfrm>
            <a:off x="2286000" y="1965960"/>
            <a:ext cx="3520440" cy="502920"/>
          </a:xfrm>
          <a:prstGeom prst="rect">
            <a:avLst/>
          </a:prstGeom>
          <a:noFill/>
          <a:ln/>
        </p:spPr>
        <p:txBody>
          <a:bodyPr wrap="square" lIns="0" tIns="0" rIns="0" bIns="0" rtlCol="0" anchor="ctr"/>
          <a:lstStyle/>
          <a:p>
            <a:pPr marL="0" indent="0">
              <a:buNone/>
            </a:pPr>
            <a:r>
              <a:rPr lang="en-US" sz="1600" b="1" dirty="0">
                <a:solidFill>
                  <a:srgbClr val="1E3A68"/>
                </a:solidFill>
                <a:latin typeface="Calibri" pitchFamily="34" charset="0"/>
                <a:ea typeface="Calibri" pitchFamily="34" charset="-122"/>
                <a:cs typeface="Calibri" pitchFamily="34" charset="-120"/>
              </a:rPr>
              <a:t>Used Portuguese hotel data</a:t>
            </a:r>
            <a:endParaRPr lang="en-US" sz="1600" dirty="0"/>
          </a:p>
        </p:txBody>
      </p:sp>
      <p:sp>
        <p:nvSpPr>
          <p:cNvPr id="8" name="Text 6"/>
          <p:cNvSpPr/>
          <p:nvPr/>
        </p:nvSpPr>
        <p:spPr>
          <a:xfrm>
            <a:off x="2286000" y="2514600"/>
            <a:ext cx="3520440" cy="1234440"/>
          </a:xfrm>
          <a:prstGeom prst="rect">
            <a:avLst/>
          </a:prstGeom>
          <a:noFill/>
          <a:ln/>
        </p:spPr>
        <p:txBody>
          <a:bodyPr wrap="square" lIns="0" tIns="0" rIns="0" bIns="0" rtlCol="0" anchor="t"/>
          <a:lstStyle/>
          <a:p>
            <a:pPr marL="0" indent="0">
              <a:buNone/>
            </a:pPr>
            <a:r>
              <a:rPr lang="en-US" sz="1200" dirty="0">
                <a:solidFill>
                  <a:srgbClr val="1E293B"/>
                </a:solidFill>
                <a:latin typeface="Calibri" pitchFamily="34" charset="0"/>
                <a:ea typeface="Calibri" pitchFamily="34" charset="-122"/>
                <a:cs typeface="Calibri" pitchFamily="34" charset="-120"/>
              </a:rPr>
              <a:t>Most studies pull from the same two public datasets collected from Portuguese hotels. Geographic generalization is rarely tested.</a:t>
            </a:r>
            <a:endParaRPr lang="en-US" sz="1200" dirty="0"/>
          </a:p>
        </p:txBody>
      </p:sp>
      <p:sp>
        <p:nvSpPr>
          <p:cNvPr id="9" name="Shape 7"/>
          <p:cNvSpPr/>
          <p:nvPr/>
        </p:nvSpPr>
        <p:spPr>
          <a:xfrm>
            <a:off x="6263640" y="1691640"/>
            <a:ext cx="5440680" cy="2240280"/>
          </a:xfrm>
          <a:prstGeom prst="rect">
            <a:avLst/>
          </a:prstGeom>
          <a:solidFill>
            <a:srgbClr val="F0F4FA"/>
          </a:solidFill>
          <a:ln w="12700">
            <a:solidFill>
              <a:srgbClr val="F0F4FA"/>
            </a:solidFill>
            <a:prstDash val="solid"/>
          </a:ln>
        </p:spPr>
        <p:txBody>
          <a:bodyPr/>
          <a:lstStyle/>
          <a:p>
            <a:endParaRPr lang="en-US"/>
          </a:p>
        </p:txBody>
      </p:sp>
      <p:sp>
        <p:nvSpPr>
          <p:cNvPr id="10" name="Text 8"/>
          <p:cNvSpPr/>
          <p:nvPr/>
        </p:nvSpPr>
        <p:spPr>
          <a:xfrm>
            <a:off x="6446520" y="1783080"/>
            <a:ext cx="1463040" cy="2057400"/>
          </a:xfrm>
          <a:prstGeom prst="rect">
            <a:avLst/>
          </a:prstGeom>
          <a:noFill/>
          <a:ln/>
        </p:spPr>
        <p:txBody>
          <a:bodyPr wrap="square" lIns="0" tIns="0" rIns="0" bIns="0" rtlCol="0" anchor="ctr"/>
          <a:lstStyle/>
          <a:p>
            <a:pPr marL="0" indent="0" algn="ctr">
              <a:buNone/>
            </a:pPr>
            <a:r>
              <a:rPr lang="en-US" sz="6400" b="1" dirty="0">
                <a:solidFill>
                  <a:srgbClr val="1E3A68"/>
                </a:solidFill>
                <a:latin typeface="Calibri" pitchFamily="34" charset="0"/>
                <a:ea typeface="Calibri" pitchFamily="34" charset="-122"/>
                <a:cs typeface="Calibri" pitchFamily="34" charset="-120"/>
              </a:rPr>
              <a:t>8</a:t>
            </a:r>
            <a:endParaRPr lang="en-US" sz="6400" dirty="0"/>
          </a:p>
        </p:txBody>
      </p:sp>
      <p:sp>
        <p:nvSpPr>
          <p:cNvPr id="11" name="Text 9"/>
          <p:cNvSpPr/>
          <p:nvPr/>
        </p:nvSpPr>
        <p:spPr>
          <a:xfrm>
            <a:off x="6446520" y="3474720"/>
            <a:ext cx="1463040" cy="274320"/>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of 12 papers</a:t>
            </a:r>
            <a:endParaRPr lang="en-US" sz="1000" dirty="0"/>
          </a:p>
        </p:txBody>
      </p:sp>
      <p:sp>
        <p:nvSpPr>
          <p:cNvPr id="12" name="Text 10"/>
          <p:cNvSpPr/>
          <p:nvPr/>
        </p:nvSpPr>
        <p:spPr>
          <a:xfrm>
            <a:off x="8001000" y="1965960"/>
            <a:ext cx="3520440" cy="502920"/>
          </a:xfrm>
          <a:prstGeom prst="rect">
            <a:avLst/>
          </a:prstGeom>
          <a:noFill/>
          <a:ln/>
        </p:spPr>
        <p:txBody>
          <a:bodyPr wrap="square" lIns="0" tIns="0" rIns="0" bIns="0" rtlCol="0" anchor="ctr"/>
          <a:lstStyle/>
          <a:p>
            <a:pPr marL="0" indent="0">
              <a:buNone/>
            </a:pPr>
            <a:r>
              <a:rPr lang="en-US" sz="1600" b="1" dirty="0">
                <a:solidFill>
                  <a:srgbClr val="1E3A68"/>
                </a:solidFill>
                <a:latin typeface="Calibri" pitchFamily="34" charset="0"/>
                <a:ea typeface="Calibri" pitchFamily="34" charset="-122"/>
                <a:cs typeface="Calibri" pitchFamily="34" charset="-120"/>
              </a:rPr>
              <a:t>Picked XGBoost as the winner</a:t>
            </a:r>
            <a:endParaRPr lang="en-US" sz="1600" dirty="0"/>
          </a:p>
        </p:txBody>
      </p:sp>
      <p:sp>
        <p:nvSpPr>
          <p:cNvPr id="13" name="Text 11"/>
          <p:cNvSpPr/>
          <p:nvPr/>
        </p:nvSpPr>
        <p:spPr>
          <a:xfrm>
            <a:off x="8001000" y="2514600"/>
            <a:ext cx="3520440" cy="1234440"/>
          </a:xfrm>
          <a:prstGeom prst="rect">
            <a:avLst/>
          </a:prstGeom>
          <a:noFill/>
          <a:ln/>
        </p:spPr>
        <p:txBody>
          <a:bodyPr wrap="square" lIns="0" tIns="0" rIns="0" bIns="0" rtlCol="0" anchor="t"/>
          <a:lstStyle/>
          <a:p>
            <a:pPr marL="0" indent="0">
              <a:buNone/>
            </a:pPr>
            <a:r>
              <a:rPr lang="en-US" sz="1200" dirty="0">
                <a:solidFill>
                  <a:srgbClr val="1E293B"/>
                </a:solidFill>
                <a:latin typeface="Calibri" pitchFamily="34" charset="0"/>
                <a:ea typeface="Calibri" pitchFamily="34" charset="-122"/>
                <a:cs typeface="Calibri" pitchFamily="34" charset="-120"/>
              </a:rPr>
              <a:t>Gradient boosting is the most consistent winner in this domain. Random Forest comes second on several benchmarks.</a:t>
            </a:r>
            <a:endParaRPr lang="en-US" sz="1200" dirty="0"/>
          </a:p>
        </p:txBody>
      </p:sp>
      <p:sp>
        <p:nvSpPr>
          <p:cNvPr id="14" name="Shape 12"/>
          <p:cNvSpPr/>
          <p:nvPr/>
        </p:nvSpPr>
        <p:spPr>
          <a:xfrm>
            <a:off x="548640" y="4114800"/>
            <a:ext cx="5440680" cy="2240280"/>
          </a:xfrm>
          <a:prstGeom prst="rect">
            <a:avLst/>
          </a:prstGeom>
          <a:solidFill>
            <a:srgbClr val="F0F4FA"/>
          </a:solidFill>
          <a:ln w="12700">
            <a:solidFill>
              <a:srgbClr val="F0F4FA"/>
            </a:solidFill>
            <a:prstDash val="solid"/>
          </a:ln>
        </p:spPr>
        <p:txBody>
          <a:bodyPr/>
          <a:lstStyle/>
          <a:p>
            <a:endParaRPr lang="en-US"/>
          </a:p>
        </p:txBody>
      </p:sp>
      <p:sp>
        <p:nvSpPr>
          <p:cNvPr id="15" name="Text 13"/>
          <p:cNvSpPr/>
          <p:nvPr/>
        </p:nvSpPr>
        <p:spPr>
          <a:xfrm>
            <a:off x="731520" y="4206240"/>
            <a:ext cx="1463040" cy="2057400"/>
          </a:xfrm>
          <a:prstGeom prst="rect">
            <a:avLst/>
          </a:prstGeom>
          <a:noFill/>
          <a:ln/>
        </p:spPr>
        <p:txBody>
          <a:bodyPr wrap="square" lIns="0" tIns="0" rIns="0" bIns="0" rtlCol="0" anchor="ctr"/>
          <a:lstStyle/>
          <a:p>
            <a:pPr marL="0" indent="0" algn="ctr">
              <a:buNone/>
            </a:pPr>
            <a:r>
              <a:rPr lang="en-US" sz="6400" b="1" dirty="0">
                <a:solidFill>
                  <a:srgbClr val="1E3A68"/>
                </a:solidFill>
                <a:latin typeface="Calibri" pitchFamily="34" charset="0"/>
                <a:ea typeface="Calibri" pitchFamily="34" charset="-122"/>
                <a:cs typeface="Calibri" pitchFamily="34" charset="-120"/>
              </a:rPr>
              <a:t>3</a:t>
            </a:r>
            <a:endParaRPr lang="en-US" sz="6400" dirty="0"/>
          </a:p>
        </p:txBody>
      </p:sp>
      <p:sp>
        <p:nvSpPr>
          <p:cNvPr id="16" name="Text 14"/>
          <p:cNvSpPr/>
          <p:nvPr/>
        </p:nvSpPr>
        <p:spPr>
          <a:xfrm>
            <a:off x="731520" y="5897880"/>
            <a:ext cx="1463040" cy="274320"/>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of 12 papers</a:t>
            </a:r>
            <a:endParaRPr lang="en-US" sz="1000" dirty="0"/>
          </a:p>
        </p:txBody>
      </p:sp>
      <p:sp>
        <p:nvSpPr>
          <p:cNvPr id="17" name="Text 15"/>
          <p:cNvSpPr/>
          <p:nvPr/>
        </p:nvSpPr>
        <p:spPr>
          <a:xfrm>
            <a:off x="2286000" y="4389120"/>
            <a:ext cx="3520440" cy="502920"/>
          </a:xfrm>
          <a:prstGeom prst="rect">
            <a:avLst/>
          </a:prstGeom>
          <a:noFill/>
          <a:ln/>
        </p:spPr>
        <p:txBody>
          <a:bodyPr wrap="square" lIns="0" tIns="0" rIns="0" bIns="0" rtlCol="0" anchor="ctr"/>
          <a:lstStyle/>
          <a:p>
            <a:pPr marL="0" indent="0">
              <a:buNone/>
            </a:pPr>
            <a:r>
              <a:rPr lang="en-US" sz="1600" b="1" dirty="0">
                <a:solidFill>
                  <a:srgbClr val="1E3A68"/>
                </a:solidFill>
                <a:latin typeface="Calibri" pitchFamily="34" charset="0"/>
                <a:ea typeface="Calibri" pitchFamily="34" charset="-122"/>
                <a:cs typeface="Calibri" pitchFamily="34" charset="-120"/>
              </a:rPr>
              <a:t>Tested a deep learning model</a:t>
            </a:r>
            <a:endParaRPr lang="en-US" sz="1600" dirty="0"/>
          </a:p>
        </p:txBody>
      </p:sp>
      <p:sp>
        <p:nvSpPr>
          <p:cNvPr id="18" name="Text 16"/>
          <p:cNvSpPr/>
          <p:nvPr/>
        </p:nvSpPr>
        <p:spPr>
          <a:xfrm>
            <a:off x="2286000" y="4937760"/>
            <a:ext cx="3520440" cy="1234440"/>
          </a:xfrm>
          <a:prstGeom prst="rect">
            <a:avLst/>
          </a:prstGeom>
          <a:noFill/>
          <a:ln/>
        </p:spPr>
        <p:txBody>
          <a:bodyPr wrap="square" lIns="0" tIns="0" rIns="0" bIns="0" rtlCol="0" anchor="t"/>
          <a:lstStyle/>
          <a:p>
            <a:pPr marL="0" indent="0">
              <a:buNone/>
            </a:pPr>
            <a:r>
              <a:rPr lang="en-US" sz="1200" dirty="0">
                <a:solidFill>
                  <a:srgbClr val="1E293B"/>
                </a:solidFill>
                <a:latin typeface="Calibri" pitchFamily="34" charset="0"/>
                <a:ea typeface="Calibri" pitchFamily="34" charset="-122"/>
                <a:cs typeface="Calibri" pitchFamily="34" charset="-120"/>
              </a:rPr>
              <a:t>Most papers stay with classical ML. The few that test ANN, MLP or TabNet usually find they tie or lose to gradient boosting on tabular data.</a:t>
            </a:r>
            <a:endParaRPr lang="en-US" sz="1200" dirty="0"/>
          </a:p>
        </p:txBody>
      </p:sp>
      <p:sp>
        <p:nvSpPr>
          <p:cNvPr id="19" name="Shape 17"/>
          <p:cNvSpPr/>
          <p:nvPr/>
        </p:nvSpPr>
        <p:spPr>
          <a:xfrm>
            <a:off x="6263640" y="4114800"/>
            <a:ext cx="5440680" cy="2240280"/>
          </a:xfrm>
          <a:prstGeom prst="rect">
            <a:avLst/>
          </a:prstGeom>
          <a:solidFill>
            <a:srgbClr val="F0F4FA"/>
          </a:solidFill>
          <a:ln w="12700">
            <a:solidFill>
              <a:srgbClr val="F0F4FA"/>
            </a:solidFill>
            <a:prstDash val="solid"/>
          </a:ln>
        </p:spPr>
        <p:txBody>
          <a:bodyPr/>
          <a:lstStyle/>
          <a:p>
            <a:endParaRPr lang="en-US"/>
          </a:p>
        </p:txBody>
      </p:sp>
      <p:sp>
        <p:nvSpPr>
          <p:cNvPr id="20" name="Text 18"/>
          <p:cNvSpPr/>
          <p:nvPr/>
        </p:nvSpPr>
        <p:spPr>
          <a:xfrm>
            <a:off x="6446520" y="4206240"/>
            <a:ext cx="1463040" cy="2057400"/>
          </a:xfrm>
          <a:prstGeom prst="rect">
            <a:avLst/>
          </a:prstGeom>
          <a:noFill/>
          <a:ln/>
        </p:spPr>
        <p:txBody>
          <a:bodyPr wrap="square" lIns="0" tIns="0" rIns="0" bIns="0" rtlCol="0" anchor="ctr"/>
          <a:lstStyle/>
          <a:p>
            <a:pPr marL="0" indent="0" algn="ctr">
              <a:buNone/>
            </a:pPr>
            <a:r>
              <a:rPr lang="en-US" sz="6400" b="1" dirty="0">
                <a:solidFill>
                  <a:srgbClr val="1E3A68"/>
                </a:solidFill>
                <a:latin typeface="Calibri" pitchFamily="34" charset="0"/>
                <a:ea typeface="Calibri" pitchFamily="34" charset="-122"/>
                <a:cs typeface="Calibri" pitchFamily="34" charset="-120"/>
              </a:rPr>
              <a:t>1</a:t>
            </a:r>
            <a:endParaRPr lang="en-US" sz="6400" dirty="0"/>
          </a:p>
        </p:txBody>
      </p:sp>
      <p:sp>
        <p:nvSpPr>
          <p:cNvPr id="21" name="Text 19"/>
          <p:cNvSpPr/>
          <p:nvPr/>
        </p:nvSpPr>
        <p:spPr>
          <a:xfrm>
            <a:off x="6446520" y="5897880"/>
            <a:ext cx="1463040" cy="274320"/>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of 12 papers</a:t>
            </a:r>
            <a:endParaRPr lang="en-US" sz="1000" dirty="0"/>
          </a:p>
        </p:txBody>
      </p:sp>
      <p:sp>
        <p:nvSpPr>
          <p:cNvPr id="22" name="Text 20"/>
          <p:cNvSpPr/>
          <p:nvPr/>
        </p:nvSpPr>
        <p:spPr>
          <a:xfrm>
            <a:off x="8001000" y="4389120"/>
            <a:ext cx="3520440" cy="502920"/>
          </a:xfrm>
          <a:prstGeom prst="rect">
            <a:avLst/>
          </a:prstGeom>
          <a:noFill/>
          <a:ln/>
        </p:spPr>
        <p:txBody>
          <a:bodyPr wrap="square" lIns="0" tIns="0" rIns="0" bIns="0" rtlCol="0" anchor="ctr"/>
          <a:lstStyle/>
          <a:p>
            <a:pPr marL="0" indent="0">
              <a:buNone/>
            </a:pPr>
            <a:r>
              <a:rPr lang="en-US" sz="1600" b="1" dirty="0">
                <a:solidFill>
                  <a:srgbClr val="1E3A68"/>
                </a:solidFill>
                <a:latin typeface="Calibri" pitchFamily="34" charset="0"/>
                <a:ea typeface="Calibri" pitchFamily="34" charset="-122"/>
                <a:cs typeface="Calibri" pitchFamily="34" charset="-120"/>
              </a:rPr>
              <a:t>Compared across multiple datasets</a:t>
            </a:r>
            <a:endParaRPr lang="en-US" sz="1600" dirty="0"/>
          </a:p>
        </p:txBody>
      </p:sp>
      <p:sp>
        <p:nvSpPr>
          <p:cNvPr id="23" name="Text 21"/>
          <p:cNvSpPr/>
          <p:nvPr/>
        </p:nvSpPr>
        <p:spPr>
          <a:xfrm>
            <a:off x="8001000" y="4937760"/>
            <a:ext cx="3520440" cy="1234440"/>
          </a:xfrm>
          <a:prstGeom prst="rect">
            <a:avLst/>
          </a:prstGeom>
          <a:noFill/>
          <a:ln/>
        </p:spPr>
        <p:txBody>
          <a:bodyPr wrap="square" lIns="0" tIns="0" rIns="0" bIns="0" rtlCol="0" anchor="t"/>
          <a:lstStyle/>
          <a:p>
            <a:pPr marL="0" indent="0">
              <a:buNone/>
            </a:pPr>
            <a:r>
              <a:rPr lang="en-US" sz="1200" dirty="0">
                <a:solidFill>
                  <a:srgbClr val="1E293B"/>
                </a:solidFill>
                <a:latin typeface="Calibri" pitchFamily="34" charset="0"/>
                <a:ea typeface="Calibri" pitchFamily="34" charset="-122"/>
                <a:cs typeface="Calibri" pitchFamily="34" charset="-120"/>
              </a:rPr>
              <a:t>Only one paper [7] tested on more than one dataset, and even that was a split of the same Portuguese source by hotel type.</a:t>
            </a:r>
            <a:endParaRPr lang="en-US" sz="1200" dirty="0"/>
          </a:p>
        </p:txBody>
      </p:sp>
      <p:sp>
        <p:nvSpPr>
          <p:cNvPr id="24" name="Shape 22"/>
          <p:cNvSpPr/>
          <p:nvPr/>
        </p:nvSpPr>
        <p:spPr>
          <a:xfrm>
            <a:off x="0" y="6675120"/>
            <a:ext cx="12161520" cy="182880"/>
          </a:xfrm>
          <a:prstGeom prst="rect">
            <a:avLst/>
          </a:prstGeom>
          <a:solidFill>
            <a:srgbClr val="1E3A68"/>
          </a:solidFill>
          <a:ln w="12700">
            <a:solidFill>
              <a:srgbClr val="1E3A68"/>
            </a:solidFill>
            <a:prstDash val="solid"/>
          </a:ln>
        </p:spPr>
        <p:txBody>
          <a:bodyPr/>
          <a:lstStyle/>
          <a:p>
            <a:endParaRPr lang="en-US"/>
          </a:p>
        </p:txBody>
      </p:sp>
      <p:sp>
        <p:nvSpPr>
          <p:cNvPr id="25" name="Text 23"/>
          <p:cNvSpPr/>
          <p:nvPr/>
        </p:nvSpPr>
        <p:spPr>
          <a:xfrm>
            <a:off x="365760" y="6675120"/>
            <a:ext cx="6400800" cy="18288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Hotel Booking Cancellation Prediction  |  Team 32</a:t>
            </a:r>
            <a:endParaRPr lang="en-US" sz="900" dirty="0"/>
          </a:p>
        </p:txBody>
      </p:sp>
      <p:sp>
        <p:nvSpPr>
          <p:cNvPr id="26" name="Text 24"/>
          <p:cNvSpPr/>
          <p:nvPr/>
        </p:nvSpPr>
        <p:spPr>
          <a:xfrm>
            <a:off x="11338560" y="6675120"/>
            <a:ext cx="548640" cy="18288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6 / 19</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0972800" cy="274320"/>
          </a:xfrm>
          <a:prstGeom prst="rect">
            <a:avLst/>
          </a:prstGeom>
          <a:noFill/>
          <a:ln/>
        </p:spPr>
        <p:txBody>
          <a:bodyPr wrap="square" lIns="0" tIns="0" rIns="0" bIns="0" rtlCol="0" anchor="ctr"/>
          <a:lstStyle/>
          <a:p>
            <a:pPr marL="0" indent="0">
              <a:buNone/>
            </a:pPr>
            <a:r>
              <a:rPr lang="en-US" sz="1100" b="1" kern="0" spc="400" dirty="0">
                <a:solidFill>
                  <a:srgbClr val="F59E0B"/>
                </a:solidFill>
                <a:latin typeface="Calibri" pitchFamily="34" charset="0"/>
                <a:ea typeface="Calibri" pitchFamily="34" charset="-122"/>
                <a:cs typeface="Calibri" pitchFamily="34" charset="-120"/>
              </a:rPr>
              <a:t>02  ·  RELATED WORK</a:t>
            </a:r>
            <a:endParaRPr lang="en-US" sz="1100" dirty="0"/>
          </a:p>
        </p:txBody>
      </p:sp>
      <p:sp>
        <p:nvSpPr>
          <p:cNvPr id="3" name="Text 1"/>
          <p:cNvSpPr/>
          <p:nvPr/>
        </p:nvSpPr>
        <p:spPr>
          <a:xfrm>
            <a:off x="548640" y="594360"/>
            <a:ext cx="10972800" cy="640080"/>
          </a:xfrm>
          <a:prstGeom prst="rect">
            <a:avLst/>
          </a:prstGeom>
          <a:noFill/>
          <a:ln/>
        </p:spPr>
        <p:txBody>
          <a:bodyPr wrap="square" lIns="0" tIns="0" rIns="0" bIns="0" rtlCol="0" anchor="ctr"/>
          <a:lstStyle/>
          <a:p>
            <a:pPr marL="0" indent="0">
              <a:buNone/>
            </a:pPr>
            <a:r>
              <a:rPr lang="en-US" sz="3000" b="1" dirty="0">
                <a:solidFill>
                  <a:srgbClr val="1E3A68"/>
                </a:solidFill>
                <a:latin typeface="Calibri" pitchFamily="34" charset="0"/>
                <a:ea typeface="Calibri" pitchFamily="34" charset="-122"/>
                <a:cs typeface="Calibri" pitchFamily="34" charset="-120"/>
              </a:rPr>
              <a:t>The Gap and What We Add</a:t>
            </a:r>
            <a:endParaRPr lang="en-US" sz="3000" dirty="0"/>
          </a:p>
        </p:txBody>
      </p:sp>
      <p:sp>
        <p:nvSpPr>
          <p:cNvPr id="4" name="Shape 2"/>
          <p:cNvSpPr/>
          <p:nvPr/>
        </p:nvSpPr>
        <p:spPr>
          <a:xfrm>
            <a:off x="548640" y="1691640"/>
            <a:ext cx="5394960" cy="4572000"/>
          </a:xfrm>
          <a:prstGeom prst="rect">
            <a:avLst/>
          </a:prstGeom>
          <a:solidFill>
            <a:srgbClr val="F0F4FA"/>
          </a:solidFill>
          <a:ln w="12700">
            <a:solidFill>
              <a:srgbClr val="F0F4FA"/>
            </a:solidFill>
            <a:prstDash val="solid"/>
          </a:ln>
        </p:spPr>
        <p:txBody>
          <a:bodyPr/>
          <a:lstStyle/>
          <a:p>
            <a:endParaRPr lang="en-US"/>
          </a:p>
        </p:txBody>
      </p:sp>
      <p:sp>
        <p:nvSpPr>
          <p:cNvPr id="5" name="Shape 3"/>
          <p:cNvSpPr/>
          <p:nvPr/>
        </p:nvSpPr>
        <p:spPr>
          <a:xfrm>
            <a:off x="548640" y="1691640"/>
            <a:ext cx="109728" cy="4572000"/>
          </a:xfrm>
          <a:prstGeom prst="rect">
            <a:avLst/>
          </a:prstGeom>
          <a:solidFill>
            <a:srgbClr val="B85042"/>
          </a:solidFill>
          <a:ln w="12700">
            <a:solidFill>
              <a:srgbClr val="B85042"/>
            </a:solidFill>
            <a:prstDash val="solid"/>
          </a:ln>
        </p:spPr>
        <p:txBody>
          <a:bodyPr/>
          <a:lstStyle/>
          <a:p>
            <a:endParaRPr lang="en-US"/>
          </a:p>
        </p:txBody>
      </p:sp>
      <p:sp>
        <p:nvSpPr>
          <p:cNvPr id="6" name="Text 4"/>
          <p:cNvSpPr/>
          <p:nvPr/>
        </p:nvSpPr>
        <p:spPr>
          <a:xfrm>
            <a:off x="777240" y="1828800"/>
            <a:ext cx="5029200" cy="320040"/>
          </a:xfrm>
          <a:prstGeom prst="rect">
            <a:avLst/>
          </a:prstGeom>
          <a:noFill/>
          <a:ln/>
        </p:spPr>
        <p:txBody>
          <a:bodyPr wrap="square" lIns="0" tIns="0" rIns="0" bIns="0" rtlCol="0" anchor="ctr"/>
          <a:lstStyle/>
          <a:p>
            <a:pPr marL="0" indent="0">
              <a:buNone/>
            </a:pPr>
            <a:r>
              <a:rPr lang="en-US" sz="1100" b="1" kern="0" spc="500" dirty="0">
                <a:solidFill>
                  <a:srgbClr val="B85042"/>
                </a:solidFill>
                <a:latin typeface="Calibri" pitchFamily="34" charset="0"/>
                <a:ea typeface="Calibri" pitchFamily="34" charset="-122"/>
                <a:cs typeface="Calibri" pitchFamily="34" charset="-120"/>
              </a:rPr>
              <a:t>THE GAP</a:t>
            </a:r>
            <a:endParaRPr lang="en-US" sz="1100" dirty="0"/>
          </a:p>
        </p:txBody>
      </p:sp>
      <p:sp>
        <p:nvSpPr>
          <p:cNvPr id="7" name="Text 5"/>
          <p:cNvSpPr/>
          <p:nvPr/>
        </p:nvSpPr>
        <p:spPr>
          <a:xfrm>
            <a:off x="777240" y="2148840"/>
            <a:ext cx="5029200" cy="502920"/>
          </a:xfrm>
          <a:prstGeom prst="rect">
            <a:avLst/>
          </a:prstGeom>
          <a:noFill/>
          <a:ln/>
        </p:spPr>
        <p:txBody>
          <a:bodyPr wrap="square" lIns="0" tIns="0" rIns="0" bIns="0" rtlCol="0" anchor="ctr"/>
          <a:lstStyle/>
          <a:p>
            <a:pPr marL="0" indent="0">
              <a:buNone/>
            </a:pPr>
            <a:r>
              <a:rPr lang="en-US" sz="1800" b="1" dirty="0">
                <a:solidFill>
                  <a:srgbClr val="1E3A68"/>
                </a:solidFill>
                <a:latin typeface="Calibri" pitchFamily="34" charset="0"/>
                <a:ea typeface="Calibri" pitchFamily="34" charset="-122"/>
                <a:cs typeface="Calibri" pitchFamily="34" charset="-120"/>
              </a:rPr>
              <a:t>What current research is missing</a:t>
            </a:r>
            <a:endParaRPr lang="en-US" sz="1800" dirty="0"/>
          </a:p>
        </p:txBody>
      </p:sp>
      <p:sp>
        <p:nvSpPr>
          <p:cNvPr id="8" name="Text 6"/>
          <p:cNvSpPr/>
          <p:nvPr/>
        </p:nvSpPr>
        <p:spPr>
          <a:xfrm>
            <a:off x="868680" y="2743200"/>
            <a:ext cx="4937760" cy="347472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Almost every paper uses the same Portuguese dataset, so geographic generalization is untested.</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Studies report a single best model on a single dataset, which makes it hard to know if the ranking would hold elsewhere.</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Deep learning is rarely included as a baseline, so we do not really know if neural networks lose on tabular booking data.</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Even after using SMOTE, the minority class (canceled) recall stays low in most experiments.</a:t>
            </a:r>
            <a:endParaRPr lang="en-US" sz="1200" dirty="0"/>
          </a:p>
        </p:txBody>
      </p:sp>
      <p:sp>
        <p:nvSpPr>
          <p:cNvPr id="9" name="Shape 7"/>
          <p:cNvSpPr/>
          <p:nvPr/>
        </p:nvSpPr>
        <p:spPr>
          <a:xfrm>
            <a:off x="6217920" y="1691640"/>
            <a:ext cx="5394960" cy="4572000"/>
          </a:xfrm>
          <a:prstGeom prst="rect">
            <a:avLst/>
          </a:prstGeom>
          <a:solidFill>
            <a:srgbClr val="F0F7E9"/>
          </a:solidFill>
          <a:ln w="12700">
            <a:solidFill>
              <a:srgbClr val="F0F7E9"/>
            </a:solidFill>
            <a:prstDash val="solid"/>
          </a:ln>
        </p:spPr>
        <p:txBody>
          <a:bodyPr/>
          <a:lstStyle/>
          <a:p>
            <a:endParaRPr lang="en-US"/>
          </a:p>
        </p:txBody>
      </p:sp>
      <p:sp>
        <p:nvSpPr>
          <p:cNvPr id="10" name="Shape 8"/>
          <p:cNvSpPr/>
          <p:nvPr/>
        </p:nvSpPr>
        <p:spPr>
          <a:xfrm>
            <a:off x="6217920" y="1691640"/>
            <a:ext cx="109728" cy="4572000"/>
          </a:xfrm>
          <a:prstGeom prst="rect">
            <a:avLst/>
          </a:prstGeom>
          <a:solidFill>
            <a:srgbClr val="2C5F2D"/>
          </a:solidFill>
          <a:ln w="12700">
            <a:solidFill>
              <a:srgbClr val="2C5F2D"/>
            </a:solidFill>
            <a:prstDash val="solid"/>
          </a:ln>
        </p:spPr>
        <p:txBody>
          <a:bodyPr/>
          <a:lstStyle/>
          <a:p>
            <a:endParaRPr lang="en-US"/>
          </a:p>
        </p:txBody>
      </p:sp>
      <p:sp>
        <p:nvSpPr>
          <p:cNvPr id="11" name="Text 9"/>
          <p:cNvSpPr/>
          <p:nvPr/>
        </p:nvSpPr>
        <p:spPr>
          <a:xfrm>
            <a:off x="6446520" y="1828800"/>
            <a:ext cx="5029200" cy="320040"/>
          </a:xfrm>
          <a:prstGeom prst="rect">
            <a:avLst/>
          </a:prstGeom>
          <a:noFill/>
          <a:ln/>
        </p:spPr>
        <p:txBody>
          <a:bodyPr wrap="square" lIns="0" tIns="0" rIns="0" bIns="0" rtlCol="0" anchor="ctr"/>
          <a:lstStyle/>
          <a:p>
            <a:pPr marL="0" indent="0">
              <a:buNone/>
            </a:pPr>
            <a:r>
              <a:rPr lang="en-US" sz="1100" b="1" kern="0" spc="500" dirty="0">
                <a:solidFill>
                  <a:srgbClr val="2C5F2D"/>
                </a:solidFill>
                <a:latin typeface="Calibri" pitchFamily="34" charset="0"/>
                <a:ea typeface="Calibri" pitchFamily="34" charset="-122"/>
                <a:cs typeface="Calibri" pitchFamily="34" charset="-120"/>
              </a:rPr>
              <a:t>OUR APPROACH</a:t>
            </a:r>
            <a:endParaRPr lang="en-US" sz="1100" dirty="0"/>
          </a:p>
        </p:txBody>
      </p:sp>
      <p:sp>
        <p:nvSpPr>
          <p:cNvPr id="12" name="Text 10"/>
          <p:cNvSpPr/>
          <p:nvPr/>
        </p:nvSpPr>
        <p:spPr>
          <a:xfrm>
            <a:off x="6446520" y="2148840"/>
            <a:ext cx="5029200" cy="502920"/>
          </a:xfrm>
          <a:prstGeom prst="rect">
            <a:avLst/>
          </a:prstGeom>
          <a:noFill/>
          <a:ln/>
        </p:spPr>
        <p:txBody>
          <a:bodyPr wrap="square" lIns="0" tIns="0" rIns="0" bIns="0" rtlCol="0" anchor="ctr"/>
          <a:lstStyle/>
          <a:p>
            <a:pPr marL="0" indent="0">
              <a:buNone/>
            </a:pPr>
            <a:r>
              <a:rPr lang="en-US" sz="1800" b="1" dirty="0">
                <a:solidFill>
                  <a:srgbClr val="1E3A68"/>
                </a:solidFill>
                <a:latin typeface="Calibri" pitchFamily="34" charset="0"/>
                <a:ea typeface="Calibri" pitchFamily="34" charset="-122"/>
                <a:cs typeface="Calibri" pitchFamily="34" charset="-120"/>
              </a:rPr>
              <a:t>How this paper fills the gap</a:t>
            </a:r>
            <a:endParaRPr lang="en-US" sz="1800" dirty="0"/>
          </a:p>
        </p:txBody>
      </p:sp>
      <p:sp>
        <p:nvSpPr>
          <p:cNvPr id="13" name="Text 11"/>
          <p:cNvSpPr/>
          <p:nvPr/>
        </p:nvSpPr>
        <p:spPr>
          <a:xfrm>
            <a:off x="6537960" y="2743200"/>
            <a:ext cx="4937760" cy="347472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Three independent datasets including Indian resort hotels, not just Portuguese ones.</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Same preprocessing pipeline across all three sources, which makes the cross dataset comparison fair.</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Five algorithms tested in one run, covering linear, distance, tree, ensemble and deep learning families.</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Random Forest is identified as the consistent winner with rankings that hold on every dataset.</a:t>
            </a:r>
            <a:endParaRPr lang="en-US" sz="1200" dirty="0"/>
          </a:p>
        </p:txBody>
      </p:sp>
      <p:sp>
        <p:nvSpPr>
          <p:cNvPr id="14" name="Shape 12"/>
          <p:cNvSpPr/>
          <p:nvPr/>
        </p:nvSpPr>
        <p:spPr>
          <a:xfrm>
            <a:off x="0" y="6675120"/>
            <a:ext cx="12161520" cy="182880"/>
          </a:xfrm>
          <a:prstGeom prst="rect">
            <a:avLst/>
          </a:prstGeom>
          <a:solidFill>
            <a:srgbClr val="1E3A68"/>
          </a:solidFill>
          <a:ln w="12700">
            <a:solidFill>
              <a:srgbClr val="1E3A68"/>
            </a:solidFill>
            <a:prstDash val="solid"/>
          </a:ln>
        </p:spPr>
        <p:txBody>
          <a:bodyPr/>
          <a:lstStyle/>
          <a:p>
            <a:endParaRPr lang="en-US"/>
          </a:p>
        </p:txBody>
      </p:sp>
      <p:sp>
        <p:nvSpPr>
          <p:cNvPr id="15" name="Text 13"/>
          <p:cNvSpPr/>
          <p:nvPr/>
        </p:nvSpPr>
        <p:spPr>
          <a:xfrm>
            <a:off x="365760" y="6675120"/>
            <a:ext cx="6400800" cy="18288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Hotel Booking Cancellation Prediction  |  Team 32</a:t>
            </a:r>
            <a:endParaRPr lang="en-US" sz="900" dirty="0"/>
          </a:p>
        </p:txBody>
      </p:sp>
      <p:sp>
        <p:nvSpPr>
          <p:cNvPr id="16" name="Text 14"/>
          <p:cNvSpPr/>
          <p:nvPr/>
        </p:nvSpPr>
        <p:spPr>
          <a:xfrm>
            <a:off x="11338560" y="6675120"/>
            <a:ext cx="548640" cy="18288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7 / 19</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0972800" cy="274320"/>
          </a:xfrm>
          <a:prstGeom prst="rect">
            <a:avLst/>
          </a:prstGeom>
          <a:noFill/>
          <a:ln/>
        </p:spPr>
        <p:txBody>
          <a:bodyPr wrap="square" lIns="0" tIns="0" rIns="0" bIns="0" rtlCol="0" anchor="ctr"/>
          <a:lstStyle/>
          <a:p>
            <a:pPr marL="0" indent="0">
              <a:buNone/>
            </a:pPr>
            <a:r>
              <a:rPr lang="en-US" sz="1100" b="1" kern="0" spc="400" dirty="0">
                <a:solidFill>
                  <a:srgbClr val="F59E0B"/>
                </a:solidFill>
                <a:latin typeface="Calibri" pitchFamily="34" charset="0"/>
                <a:ea typeface="Calibri" pitchFamily="34" charset="-122"/>
                <a:cs typeface="Calibri" pitchFamily="34" charset="-120"/>
              </a:rPr>
              <a:t>02  ·  DATA</a:t>
            </a:r>
            <a:endParaRPr lang="en-US" sz="1100" dirty="0"/>
          </a:p>
        </p:txBody>
      </p:sp>
      <p:sp>
        <p:nvSpPr>
          <p:cNvPr id="3" name="Text 1"/>
          <p:cNvSpPr/>
          <p:nvPr/>
        </p:nvSpPr>
        <p:spPr>
          <a:xfrm>
            <a:off x="548640" y="594360"/>
            <a:ext cx="10972800" cy="640080"/>
          </a:xfrm>
          <a:prstGeom prst="rect">
            <a:avLst/>
          </a:prstGeom>
          <a:noFill/>
          <a:ln/>
        </p:spPr>
        <p:txBody>
          <a:bodyPr wrap="square" lIns="0" tIns="0" rIns="0" bIns="0" rtlCol="0" anchor="ctr"/>
          <a:lstStyle/>
          <a:p>
            <a:pPr marL="0" indent="0">
              <a:buNone/>
            </a:pPr>
            <a:r>
              <a:rPr lang="en-US" sz="3000" b="1" dirty="0">
                <a:solidFill>
                  <a:srgbClr val="1E3A68"/>
                </a:solidFill>
                <a:latin typeface="Calibri" pitchFamily="34" charset="0"/>
                <a:ea typeface="Calibri" pitchFamily="34" charset="-122"/>
                <a:cs typeface="Calibri" pitchFamily="34" charset="-120"/>
              </a:rPr>
              <a:t>Three Hotel Datasets</a:t>
            </a:r>
            <a:endParaRPr lang="en-US" sz="3000" dirty="0"/>
          </a:p>
        </p:txBody>
      </p:sp>
      <p:sp>
        <p:nvSpPr>
          <p:cNvPr id="4" name="Shape 2"/>
          <p:cNvSpPr/>
          <p:nvPr/>
        </p:nvSpPr>
        <p:spPr>
          <a:xfrm>
            <a:off x="502920" y="1691640"/>
            <a:ext cx="3749040" cy="4754880"/>
          </a:xfrm>
          <a:prstGeom prst="rect">
            <a:avLst/>
          </a:prstGeom>
          <a:solidFill>
            <a:srgbClr val="FFFFFF"/>
          </a:solidFill>
          <a:ln w="12700">
            <a:solidFill>
              <a:srgbClr val="DCE5F2"/>
            </a:solidFill>
            <a:prstDash val="solid"/>
          </a:ln>
          <a:effectLst>
            <a:outerShdw blurRad="127000" dist="25400" dir="5400000" algn="bl" rotWithShape="0">
              <a:srgbClr val="000000">
                <a:alpha val="8000"/>
              </a:srgbClr>
            </a:outerShdw>
          </a:effectLst>
        </p:spPr>
        <p:txBody>
          <a:bodyPr/>
          <a:lstStyle/>
          <a:p>
            <a:endParaRPr lang="en-US"/>
          </a:p>
        </p:txBody>
      </p:sp>
      <p:sp>
        <p:nvSpPr>
          <p:cNvPr id="5" name="Shape 3"/>
          <p:cNvSpPr/>
          <p:nvPr/>
        </p:nvSpPr>
        <p:spPr>
          <a:xfrm>
            <a:off x="502920" y="1691640"/>
            <a:ext cx="3749040" cy="1005840"/>
          </a:xfrm>
          <a:prstGeom prst="rect">
            <a:avLst/>
          </a:prstGeom>
          <a:solidFill>
            <a:srgbClr val="1E3A68"/>
          </a:solidFill>
          <a:ln w="12700">
            <a:solidFill>
              <a:srgbClr val="1E3A68"/>
            </a:solidFill>
            <a:prstDash val="solid"/>
          </a:ln>
        </p:spPr>
        <p:txBody>
          <a:bodyPr/>
          <a:lstStyle/>
          <a:p>
            <a:endParaRPr lang="en-US"/>
          </a:p>
        </p:txBody>
      </p:sp>
      <p:sp>
        <p:nvSpPr>
          <p:cNvPr id="6" name="Text 4"/>
          <p:cNvSpPr/>
          <p:nvPr/>
        </p:nvSpPr>
        <p:spPr>
          <a:xfrm>
            <a:off x="777240" y="1801368"/>
            <a:ext cx="3200400" cy="41148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Dataset 1</a:t>
            </a:r>
            <a:endParaRPr lang="en-US" sz="2200" dirty="0"/>
          </a:p>
        </p:txBody>
      </p:sp>
      <p:sp>
        <p:nvSpPr>
          <p:cNvPr id="7" name="Text 5"/>
          <p:cNvSpPr/>
          <p:nvPr/>
        </p:nvSpPr>
        <p:spPr>
          <a:xfrm>
            <a:off x="777240" y="2258568"/>
            <a:ext cx="3200400" cy="365760"/>
          </a:xfrm>
          <a:prstGeom prst="rect">
            <a:avLst/>
          </a:prstGeom>
          <a:noFill/>
          <a:ln/>
        </p:spPr>
        <p:txBody>
          <a:bodyPr wrap="square" lIns="0" tIns="0" rIns="0" bIns="0" rtlCol="0" anchor="ctr"/>
          <a:lstStyle/>
          <a:p>
            <a:pPr marL="0" indent="0">
              <a:buNone/>
            </a:pPr>
            <a:r>
              <a:rPr lang="en-US" sz="1300" i="1" dirty="0">
                <a:solidFill>
                  <a:srgbClr val="CADCFC"/>
                </a:solidFill>
                <a:latin typeface="Calibri" pitchFamily="34" charset="0"/>
                <a:ea typeface="Calibri" pitchFamily="34" charset="-122"/>
                <a:cs typeface="Calibri" pitchFamily="34" charset="-120"/>
              </a:rPr>
              <a:t>Indian Resort Hotels</a:t>
            </a:r>
            <a:endParaRPr lang="en-US" sz="1300" dirty="0"/>
          </a:p>
        </p:txBody>
      </p:sp>
      <p:sp>
        <p:nvSpPr>
          <p:cNvPr id="8" name="Text 6"/>
          <p:cNvSpPr/>
          <p:nvPr/>
        </p:nvSpPr>
        <p:spPr>
          <a:xfrm>
            <a:off x="685800" y="2926080"/>
            <a:ext cx="1691640" cy="502920"/>
          </a:xfrm>
          <a:prstGeom prst="rect">
            <a:avLst/>
          </a:prstGeom>
          <a:noFill/>
          <a:ln/>
        </p:spPr>
        <p:txBody>
          <a:bodyPr wrap="square" lIns="0" tIns="0" rIns="0" bIns="0" rtlCol="0" anchor="ctr"/>
          <a:lstStyle/>
          <a:p>
            <a:pPr marL="0" indent="0" algn="ctr">
              <a:buNone/>
            </a:pPr>
            <a:r>
              <a:rPr lang="en-US" sz="2400" b="1" dirty="0">
                <a:solidFill>
                  <a:srgbClr val="1E3A68"/>
                </a:solidFill>
                <a:latin typeface="Calibri" pitchFamily="34" charset="0"/>
                <a:ea typeface="Calibri" pitchFamily="34" charset="-122"/>
                <a:cs typeface="Calibri" pitchFamily="34" charset="-120"/>
              </a:rPr>
              <a:t>119,390</a:t>
            </a:r>
            <a:endParaRPr lang="en-US" sz="2400" dirty="0"/>
          </a:p>
        </p:txBody>
      </p:sp>
      <p:sp>
        <p:nvSpPr>
          <p:cNvPr id="9" name="Text 7"/>
          <p:cNvSpPr/>
          <p:nvPr/>
        </p:nvSpPr>
        <p:spPr>
          <a:xfrm>
            <a:off x="685800" y="3429000"/>
            <a:ext cx="1691640" cy="274320"/>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records</a:t>
            </a:r>
            <a:endParaRPr lang="en-US" sz="1000" dirty="0"/>
          </a:p>
        </p:txBody>
      </p:sp>
      <p:sp>
        <p:nvSpPr>
          <p:cNvPr id="10" name="Text 8"/>
          <p:cNvSpPr/>
          <p:nvPr/>
        </p:nvSpPr>
        <p:spPr>
          <a:xfrm>
            <a:off x="2423160" y="2926080"/>
            <a:ext cx="1691640" cy="502920"/>
          </a:xfrm>
          <a:prstGeom prst="rect">
            <a:avLst/>
          </a:prstGeom>
          <a:noFill/>
          <a:ln/>
        </p:spPr>
        <p:txBody>
          <a:bodyPr wrap="square" lIns="0" tIns="0" rIns="0" bIns="0" rtlCol="0" anchor="ctr"/>
          <a:lstStyle/>
          <a:p>
            <a:pPr marL="0" indent="0" algn="ctr">
              <a:buNone/>
            </a:pPr>
            <a:r>
              <a:rPr lang="en-US" sz="2400" b="1" dirty="0">
                <a:solidFill>
                  <a:srgbClr val="1E3A68"/>
                </a:solidFill>
                <a:latin typeface="Calibri" pitchFamily="34" charset="0"/>
                <a:ea typeface="Calibri" pitchFamily="34" charset="-122"/>
                <a:cs typeface="Calibri" pitchFamily="34" charset="-120"/>
              </a:rPr>
              <a:t>33</a:t>
            </a:r>
            <a:endParaRPr lang="en-US" sz="2400" dirty="0"/>
          </a:p>
        </p:txBody>
      </p:sp>
      <p:sp>
        <p:nvSpPr>
          <p:cNvPr id="11" name="Text 9"/>
          <p:cNvSpPr/>
          <p:nvPr/>
        </p:nvSpPr>
        <p:spPr>
          <a:xfrm>
            <a:off x="2423160" y="3429000"/>
            <a:ext cx="1691640" cy="274320"/>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features</a:t>
            </a:r>
            <a:endParaRPr lang="en-US" sz="1000" dirty="0"/>
          </a:p>
        </p:txBody>
      </p:sp>
      <p:sp>
        <p:nvSpPr>
          <p:cNvPr id="12" name="Shape 10"/>
          <p:cNvSpPr/>
          <p:nvPr/>
        </p:nvSpPr>
        <p:spPr>
          <a:xfrm>
            <a:off x="777240" y="3931920"/>
            <a:ext cx="3200400" cy="457200"/>
          </a:xfrm>
          <a:prstGeom prst="roundRect">
            <a:avLst>
              <a:gd name="adj" fmla="val 16000"/>
            </a:avLst>
          </a:prstGeom>
          <a:solidFill>
            <a:srgbClr val="F0F4FA"/>
          </a:solidFill>
          <a:ln w="12700">
            <a:solidFill>
              <a:srgbClr val="F0F4FA"/>
            </a:solidFill>
            <a:prstDash val="solid"/>
          </a:ln>
        </p:spPr>
        <p:txBody>
          <a:bodyPr/>
          <a:lstStyle/>
          <a:p>
            <a:endParaRPr lang="en-US"/>
          </a:p>
        </p:txBody>
      </p:sp>
      <p:sp>
        <p:nvSpPr>
          <p:cNvPr id="13" name="Text 11"/>
          <p:cNvSpPr/>
          <p:nvPr/>
        </p:nvSpPr>
        <p:spPr>
          <a:xfrm>
            <a:off x="777240" y="3931920"/>
            <a:ext cx="3200400" cy="457200"/>
          </a:xfrm>
          <a:prstGeom prst="rect">
            <a:avLst/>
          </a:prstGeom>
          <a:noFill/>
          <a:ln/>
        </p:spPr>
        <p:txBody>
          <a:bodyPr wrap="square" lIns="0" tIns="0" rIns="0" bIns="0" rtlCol="0" anchor="ctr"/>
          <a:lstStyle/>
          <a:p>
            <a:pPr marL="0" indent="0" algn="ctr">
              <a:buNone/>
            </a:pPr>
            <a:r>
              <a:rPr lang="en-US" sz="1300" b="1" dirty="0">
                <a:solidFill>
                  <a:srgbClr val="1E3A68"/>
                </a:solidFill>
                <a:latin typeface="Calibri" pitchFamily="34" charset="0"/>
                <a:ea typeface="Calibri" pitchFamily="34" charset="-122"/>
                <a:cs typeface="Calibri" pitchFamily="34" charset="-120"/>
              </a:rPr>
              <a:t>Target:  </a:t>
            </a:r>
            <a:r>
              <a:rPr lang="en-US" sz="1300" dirty="0">
                <a:solidFill>
                  <a:srgbClr val="1E293B"/>
                </a:solidFill>
                <a:latin typeface="Calibri" pitchFamily="34" charset="0"/>
                <a:ea typeface="Calibri" pitchFamily="34" charset="-122"/>
                <a:cs typeface="Calibri" pitchFamily="34" charset="-120"/>
              </a:rPr>
              <a:t>canceled</a:t>
            </a:r>
            <a:endParaRPr lang="en-US" sz="1300" dirty="0"/>
          </a:p>
        </p:txBody>
      </p:sp>
      <p:sp>
        <p:nvSpPr>
          <p:cNvPr id="14" name="Text 12"/>
          <p:cNvSpPr/>
          <p:nvPr/>
        </p:nvSpPr>
        <p:spPr>
          <a:xfrm>
            <a:off x="777240" y="4572000"/>
            <a:ext cx="3200400" cy="1691640"/>
          </a:xfrm>
          <a:prstGeom prst="rect">
            <a:avLst/>
          </a:prstGeom>
          <a:noFill/>
          <a:ln/>
        </p:spPr>
        <p:txBody>
          <a:bodyPr wrap="square" lIns="0" tIns="0" rIns="0" bIns="0" rtlCol="0" anchor="t"/>
          <a:lstStyle/>
          <a:p>
            <a:pPr marL="0" indent="0">
              <a:buNone/>
            </a:pPr>
            <a:r>
              <a:rPr lang="en-US" sz="1200" dirty="0">
                <a:solidFill>
                  <a:srgbClr val="1E293B"/>
                </a:solidFill>
                <a:latin typeface="Calibri" pitchFamily="34" charset="0"/>
                <a:ea typeface="Calibri" pitchFamily="34" charset="-122"/>
                <a:cs typeface="Calibri" pitchFamily="34" charset="-120"/>
              </a:rPr>
              <a:t>Hotels in Mumbai, Delhi, Bangalore and Chennai. Rich feature set with deposit type, market segment and customer history.</a:t>
            </a:r>
            <a:endParaRPr lang="en-US" sz="1200" dirty="0"/>
          </a:p>
        </p:txBody>
      </p:sp>
      <p:sp>
        <p:nvSpPr>
          <p:cNvPr id="15" name="Shape 13"/>
          <p:cNvSpPr/>
          <p:nvPr/>
        </p:nvSpPr>
        <p:spPr>
          <a:xfrm>
            <a:off x="4370832" y="1691640"/>
            <a:ext cx="3749040" cy="4754880"/>
          </a:xfrm>
          <a:prstGeom prst="rect">
            <a:avLst/>
          </a:prstGeom>
          <a:solidFill>
            <a:srgbClr val="FFFFFF"/>
          </a:solidFill>
          <a:ln w="12700">
            <a:solidFill>
              <a:srgbClr val="DCE5F2"/>
            </a:solidFill>
            <a:prstDash val="solid"/>
          </a:ln>
          <a:effectLst>
            <a:outerShdw blurRad="127000" dist="25400" dir="5400000" algn="bl" rotWithShape="0">
              <a:srgbClr val="000000">
                <a:alpha val="8000"/>
              </a:srgbClr>
            </a:outerShdw>
          </a:effectLst>
        </p:spPr>
        <p:txBody>
          <a:bodyPr/>
          <a:lstStyle/>
          <a:p>
            <a:endParaRPr lang="en-US"/>
          </a:p>
        </p:txBody>
      </p:sp>
      <p:sp>
        <p:nvSpPr>
          <p:cNvPr id="16" name="Shape 14"/>
          <p:cNvSpPr/>
          <p:nvPr/>
        </p:nvSpPr>
        <p:spPr>
          <a:xfrm>
            <a:off x="4370832" y="1691640"/>
            <a:ext cx="3749040" cy="1005840"/>
          </a:xfrm>
          <a:prstGeom prst="rect">
            <a:avLst/>
          </a:prstGeom>
          <a:solidFill>
            <a:srgbClr val="1E3A68"/>
          </a:solidFill>
          <a:ln w="12700">
            <a:solidFill>
              <a:srgbClr val="1E3A68"/>
            </a:solidFill>
            <a:prstDash val="solid"/>
          </a:ln>
        </p:spPr>
        <p:txBody>
          <a:bodyPr/>
          <a:lstStyle/>
          <a:p>
            <a:endParaRPr lang="en-US"/>
          </a:p>
        </p:txBody>
      </p:sp>
      <p:sp>
        <p:nvSpPr>
          <p:cNvPr id="17" name="Text 15"/>
          <p:cNvSpPr/>
          <p:nvPr/>
        </p:nvSpPr>
        <p:spPr>
          <a:xfrm>
            <a:off x="4645152" y="1801368"/>
            <a:ext cx="3200400" cy="41148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Dataset 2</a:t>
            </a:r>
            <a:endParaRPr lang="en-US" sz="2200" dirty="0"/>
          </a:p>
        </p:txBody>
      </p:sp>
      <p:sp>
        <p:nvSpPr>
          <p:cNvPr id="18" name="Text 16"/>
          <p:cNvSpPr/>
          <p:nvPr/>
        </p:nvSpPr>
        <p:spPr>
          <a:xfrm>
            <a:off x="4645152" y="2258568"/>
            <a:ext cx="3200400" cy="365760"/>
          </a:xfrm>
          <a:prstGeom prst="rect">
            <a:avLst/>
          </a:prstGeom>
          <a:noFill/>
          <a:ln/>
        </p:spPr>
        <p:txBody>
          <a:bodyPr wrap="square" lIns="0" tIns="0" rIns="0" bIns="0" rtlCol="0" anchor="ctr"/>
          <a:lstStyle/>
          <a:p>
            <a:pPr marL="0" indent="0">
              <a:buNone/>
            </a:pPr>
            <a:r>
              <a:rPr lang="en-US" sz="1300" i="1" dirty="0">
                <a:solidFill>
                  <a:srgbClr val="CADCFC"/>
                </a:solidFill>
                <a:latin typeface="Calibri" pitchFamily="34" charset="0"/>
                <a:ea typeface="Calibri" pitchFamily="34" charset="-122"/>
                <a:cs typeface="Calibri" pitchFamily="34" charset="-120"/>
              </a:rPr>
              <a:t>Inn Hotel (international)</a:t>
            </a:r>
            <a:endParaRPr lang="en-US" sz="1300" dirty="0"/>
          </a:p>
        </p:txBody>
      </p:sp>
      <p:sp>
        <p:nvSpPr>
          <p:cNvPr id="19" name="Text 17"/>
          <p:cNvSpPr/>
          <p:nvPr/>
        </p:nvSpPr>
        <p:spPr>
          <a:xfrm>
            <a:off x="4553712" y="2926080"/>
            <a:ext cx="1691640" cy="502920"/>
          </a:xfrm>
          <a:prstGeom prst="rect">
            <a:avLst/>
          </a:prstGeom>
          <a:noFill/>
          <a:ln/>
        </p:spPr>
        <p:txBody>
          <a:bodyPr wrap="square" lIns="0" tIns="0" rIns="0" bIns="0" rtlCol="0" anchor="ctr"/>
          <a:lstStyle/>
          <a:p>
            <a:pPr marL="0" indent="0" algn="ctr">
              <a:buNone/>
            </a:pPr>
            <a:r>
              <a:rPr lang="en-US" sz="2400" b="1" dirty="0">
                <a:solidFill>
                  <a:srgbClr val="1E3A68"/>
                </a:solidFill>
                <a:latin typeface="Calibri" pitchFamily="34" charset="0"/>
                <a:ea typeface="Calibri" pitchFamily="34" charset="-122"/>
                <a:cs typeface="Calibri" pitchFamily="34" charset="-120"/>
              </a:rPr>
              <a:t>36,275</a:t>
            </a:r>
            <a:endParaRPr lang="en-US" sz="2400" dirty="0"/>
          </a:p>
        </p:txBody>
      </p:sp>
      <p:sp>
        <p:nvSpPr>
          <p:cNvPr id="20" name="Text 18"/>
          <p:cNvSpPr/>
          <p:nvPr/>
        </p:nvSpPr>
        <p:spPr>
          <a:xfrm>
            <a:off x="4553712" y="3429000"/>
            <a:ext cx="1691640" cy="274320"/>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records</a:t>
            </a:r>
            <a:endParaRPr lang="en-US" sz="1000" dirty="0"/>
          </a:p>
        </p:txBody>
      </p:sp>
      <p:sp>
        <p:nvSpPr>
          <p:cNvPr id="21" name="Text 19"/>
          <p:cNvSpPr/>
          <p:nvPr/>
        </p:nvSpPr>
        <p:spPr>
          <a:xfrm>
            <a:off x="6291072" y="2926080"/>
            <a:ext cx="1691640" cy="502920"/>
          </a:xfrm>
          <a:prstGeom prst="rect">
            <a:avLst/>
          </a:prstGeom>
          <a:noFill/>
          <a:ln/>
        </p:spPr>
        <p:txBody>
          <a:bodyPr wrap="square" lIns="0" tIns="0" rIns="0" bIns="0" rtlCol="0" anchor="ctr"/>
          <a:lstStyle/>
          <a:p>
            <a:pPr marL="0" indent="0" algn="ctr">
              <a:buNone/>
            </a:pPr>
            <a:r>
              <a:rPr lang="en-US" sz="2400" b="1" dirty="0">
                <a:solidFill>
                  <a:srgbClr val="1E3A68"/>
                </a:solidFill>
                <a:latin typeface="Calibri" pitchFamily="34" charset="0"/>
                <a:ea typeface="Calibri" pitchFamily="34" charset="-122"/>
                <a:cs typeface="Calibri" pitchFamily="34" charset="-120"/>
              </a:rPr>
              <a:t>19</a:t>
            </a:r>
            <a:endParaRPr lang="en-US" sz="2400" dirty="0"/>
          </a:p>
        </p:txBody>
      </p:sp>
      <p:sp>
        <p:nvSpPr>
          <p:cNvPr id="22" name="Text 20"/>
          <p:cNvSpPr/>
          <p:nvPr/>
        </p:nvSpPr>
        <p:spPr>
          <a:xfrm>
            <a:off x="6291072" y="3429000"/>
            <a:ext cx="1691640" cy="274320"/>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features</a:t>
            </a:r>
            <a:endParaRPr lang="en-US" sz="1000" dirty="0"/>
          </a:p>
        </p:txBody>
      </p:sp>
      <p:sp>
        <p:nvSpPr>
          <p:cNvPr id="23" name="Shape 21"/>
          <p:cNvSpPr/>
          <p:nvPr/>
        </p:nvSpPr>
        <p:spPr>
          <a:xfrm>
            <a:off x="4645152" y="3931920"/>
            <a:ext cx="3200400" cy="457200"/>
          </a:xfrm>
          <a:prstGeom prst="roundRect">
            <a:avLst>
              <a:gd name="adj" fmla="val 16000"/>
            </a:avLst>
          </a:prstGeom>
          <a:solidFill>
            <a:srgbClr val="F0F4FA"/>
          </a:solidFill>
          <a:ln w="12700">
            <a:solidFill>
              <a:srgbClr val="F0F4FA"/>
            </a:solidFill>
            <a:prstDash val="solid"/>
          </a:ln>
        </p:spPr>
        <p:txBody>
          <a:bodyPr/>
          <a:lstStyle/>
          <a:p>
            <a:endParaRPr lang="en-US"/>
          </a:p>
        </p:txBody>
      </p:sp>
      <p:sp>
        <p:nvSpPr>
          <p:cNvPr id="24" name="Text 22"/>
          <p:cNvSpPr/>
          <p:nvPr/>
        </p:nvSpPr>
        <p:spPr>
          <a:xfrm>
            <a:off x="4645152" y="3931920"/>
            <a:ext cx="3200400" cy="457200"/>
          </a:xfrm>
          <a:prstGeom prst="rect">
            <a:avLst/>
          </a:prstGeom>
          <a:noFill/>
          <a:ln/>
        </p:spPr>
        <p:txBody>
          <a:bodyPr wrap="square" lIns="0" tIns="0" rIns="0" bIns="0" rtlCol="0" anchor="ctr"/>
          <a:lstStyle/>
          <a:p>
            <a:pPr marL="0" indent="0" algn="ctr">
              <a:buNone/>
            </a:pPr>
            <a:r>
              <a:rPr lang="en-US" sz="1300" b="1" dirty="0">
                <a:solidFill>
                  <a:srgbClr val="1E3A68"/>
                </a:solidFill>
                <a:latin typeface="Calibri" pitchFamily="34" charset="0"/>
                <a:ea typeface="Calibri" pitchFamily="34" charset="-122"/>
                <a:cs typeface="Calibri" pitchFamily="34" charset="-120"/>
              </a:rPr>
              <a:t>Target:  </a:t>
            </a:r>
            <a:r>
              <a:rPr lang="en-US" sz="1300" dirty="0">
                <a:solidFill>
                  <a:srgbClr val="1E293B"/>
                </a:solidFill>
                <a:latin typeface="Calibri" pitchFamily="34" charset="0"/>
                <a:ea typeface="Calibri" pitchFamily="34" charset="-122"/>
                <a:cs typeface="Calibri" pitchFamily="34" charset="-120"/>
              </a:rPr>
              <a:t>booking_status</a:t>
            </a:r>
            <a:endParaRPr lang="en-US" sz="1300" dirty="0"/>
          </a:p>
        </p:txBody>
      </p:sp>
      <p:sp>
        <p:nvSpPr>
          <p:cNvPr id="25" name="Text 23"/>
          <p:cNvSpPr/>
          <p:nvPr/>
        </p:nvSpPr>
        <p:spPr>
          <a:xfrm>
            <a:off x="4645152" y="4572000"/>
            <a:ext cx="3200400" cy="1691640"/>
          </a:xfrm>
          <a:prstGeom prst="rect">
            <a:avLst/>
          </a:prstGeom>
          <a:noFill/>
          <a:ln/>
        </p:spPr>
        <p:txBody>
          <a:bodyPr wrap="square" lIns="0" tIns="0" rIns="0" bIns="0" rtlCol="0" anchor="t"/>
          <a:lstStyle/>
          <a:p>
            <a:pPr marL="0" indent="0">
              <a:buNone/>
            </a:pPr>
            <a:r>
              <a:rPr lang="en-US" sz="1200" dirty="0">
                <a:solidFill>
                  <a:srgbClr val="1E293B"/>
                </a:solidFill>
                <a:latin typeface="Calibri" pitchFamily="34" charset="0"/>
                <a:ea typeface="Calibri" pitchFamily="34" charset="-122"/>
                <a:cs typeface="Calibri" pitchFamily="34" charset="-120"/>
              </a:rPr>
              <a:t>Cleaner schema, fewer columns. Meal plan, room type and market segment are the main categorical features.</a:t>
            </a:r>
            <a:endParaRPr lang="en-US" sz="1200" dirty="0"/>
          </a:p>
        </p:txBody>
      </p:sp>
      <p:sp>
        <p:nvSpPr>
          <p:cNvPr id="26" name="Shape 24"/>
          <p:cNvSpPr/>
          <p:nvPr/>
        </p:nvSpPr>
        <p:spPr>
          <a:xfrm>
            <a:off x="8238744" y="1691640"/>
            <a:ext cx="3749040" cy="4754880"/>
          </a:xfrm>
          <a:prstGeom prst="rect">
            <a:avLst/>
          </a:prstGeom>
          <a:solidFill>
            <a:srgbClr val="FFFFFF"/>
          </a:solidFill>
          <a:ln w="12700">
            <a:solidFill>
              <a:srgbClr val="DCE5F2"/>
            </a:solidFill>
            <a:prstDash val="solid"/>
          </a:ln>
          <a:effectLst>
            <a:outerShdw blurRad="127000" dist="25400" dir="5400000" algn="bl" rotWithShape="0">
              <a:srgbClr val="000000">
                <a:alpha val="8000"/>
              </a:srgbClr>
            </a:outerShdw>
          </a:effectLst>
        </p:spPr>
        <p:txBody>
          <a:bodyPr/>
          <a:lstStyle/>
          <a:p>
            <a:endParaRPr lang="en-US"/>
          </a:p>
        </p:txBody>
      </p:sp>
      <p:sp>
        <p:nvSpPr>
          <p:cNvPr id="27" name="Shape 25"/>
          <p:cNvSpPr/>
          <p:nvPr/>
        </p:nvSpPr>
        <p:spPr>
          <a:xfrm>
            <a:off x="8238744" y="1691640"/>
            <a:ext cx="3749040" cy="1005840"/>
          </a:xfrm>
          <a:prstGeom prst="rect">
            <a:avLst/>
          </a:prstGeom>
          <a:solidFill>
            <a:srgbClr val="1E3A68"/>
          </a:solidFill>
          <a:ln w="12700">
            <a:solidFill>
              <a:srgbClr val="1E3A68"/>
            </a:solidFill>
            <a:prstDash val="solid"/>
          </a:ln>
        </p:spPr>
        <p:txBody>
          <a:bodyPr/>
          <a:lstStyle/>
          <a:p>
            <a:endParaRPr lang="en-US"/>
          </a:p>
        </p:txBody>
      </p:sp>
      <p:sp>
        <p:nvSpPr>
          <p:cNvPr id="28" name="Text 26"/>
          <p:cNvSpPr/>
          <p:nvPr/>
        </p:nvSpPr>
        <p:spPr>
          <a:xfrm>
            <a:off x="8513064" y="1801368"/>
            <a:ext cx="3200400" cy="41148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Dataset 3</a:t>
            </a:r>
            <a:endParaRPr lang="en-US" sz="2200" dirty="0"/>
          </a:p>
        </p:txBody>
      </p:sp>
      <p:sp>
        <p:nvSpPr>
          <p:cNvPr id="29" name="Text 27"/>
          <p:cNvSpPr/>
          <p:nvPr/>
        </p:nvSpPr>
        <p:spPr>
          <a:xfrm>
            <a:off x="8513064" y="2258568"/>
            <a:ext cx="3200400" cy="365760"/>
          </a:xfrm>
          <a:prstGeom prst="rect">
            <a:avLst/>
          </a:prstGeom>
          <a:noFill/>
          <a:ln/>
        </p:spPr>
        <p:txBody>
          <a:bodyPr wrap="square" lIns="0" tIns="0" rIns="0" bIns="0" rtlCol="0" anchor="ctr"/>
          <a:lstStyle/>
          <a:p>
            <a:pPr marL="0" indent="0">
              <a:buNone/>
            </a:pPr>
            <a:r>
              <a:rPr lang="en-US" sz="1300" i="1" dirty="0">
                <a:solidFill>
                  <a:srgbClr val="CADCFC"/>
                </a:solidFill>
                <a:latin typeface="Calibri" pitchFamily="34" charset="0"/>
                <a:ea typeface="Calibri" pitchFamily="34" charset="-122"/>
                <a:cs typeface="Calibri" pitchFamily="34" charset="-120"/>
              </a:rPr>
              <a:t>Inn Hotel (variant)</a:t>
            </a:r>
            <a:endParaRPr lang="en-US" sz="1300" dirty="0"/>
          </a:p>
        </p:txBody>
      </p:sp>
      <p:sp>
        <p:nvSpPr>
          <p:cNvPr id="30" name="Text 28"/>
          <p:cNvSpPr/>
          <p:nvPr/>
        </p:nvSpPr>
        <p:spPr>
          <a:xfrm>
            <a:off x="8421624" y="2926080"/>
            <a:ext cx="1691640" cy="502920"/>
          </a:xfrm>
          <a:prstGeom prst="rect">
            <a:avLst/>
          </a:prstGeom>
          <a:noFill/>
          <a:ln/>
        </p:spPr>
        <p:txBody>
          <a:bodyPr wrap="square" lIns="0" tIns="0" rIns="0" bIns="0" rtlCol="0" anchor="ctr"/>
          <a:lstStyle/>
          <a:p>
            <a:pPr marL="0" indent="0" algn="ctr">
              <a:buNone/>
            </a:pPr>
            <a:r>
              <a:rPr lang="en-US" sz="2400" b="1" dirty="0">
                <a:solidFill>
                  <a:srgbClr val="1E3A68"/>
                </a:solidFill>
                <a:latin typeface="Calibri" pitchFamily="34" charset="0"/>
                <a:ea typeface="Calibri" pitchFamily="34" charset="-122"/>
                <a:cs typeface="Calibri" pitchFamily="34" charset="-120"/>
              </a:rPr>
              <a:t>36,285</a:t>
            </a:r>
            <a:endParaRPr lang="en-US" sz="2400" dirty="0"/>
          </a:p>
        </p:txBody>
      </p:sp>
      <p:sp>
        <p:nvSpPr>
          <p:cNvPr id="31" name="Text 29"/>
          <p:cNvSpPr/>
          <p:nvPr/>
        </p:nvSpPr>
        <p:spPr>
          <a:xfrm>
            <a:off x="8421624" y="3429000"/>
            <a:ext cx="1691640" cy="274320"/>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records</a:t>
            </a:r>
            <a:endParaRPr lang="en-US" sz="1000" dirty="0"/>
          </a:p>
        </p:txBody>
      </p:sp>
      <p:sp>
        <p:nvSpPr>
          <p:cNvPr id="32" name="Text 30"/>
          <p:cNvSpPr/>
          <p:nvPr/>
        </p:nvSpPr>
        <p:spPr>
          <a:xfrm>
            <a:off x="10158984" y="2926080"/>
            <a:ext cx="1691640" cy="502920"/>
          </a:xfrm>
          <a:prstGeom prst="rect">
            <a:avLst/>
          </a:prstGeom>
          <a:noFill/>
          <a:ln/>
        </p:spPr>
        <p:txBody>
          <a:bodyPr wrap="square" lIns="0" tIns="0" rIns="0" bIns="0" rtlCol="0" anchor="ctr"/>
          <a:lstStyle/>
          <a:p>
            <a:pPr marL="0" indent="0" algn="ctr">
              <a:buNone/>
            </a:pPr>
            <a:r>
              <a:rPr lang="en-US" sz="2400" b="1" dirty="0">
                <a:solidFill>
                  <a:srgbClr val="1E3A68"/>
                </a:solidFill>
                <a:latin typeface="Calibri" pitchFamily="34" charset="0"/>
                <a:ea typeface="Calibri" pitchFamily="34" charset="-122"/>
                <a:cs typeface="Calibri" pitchFamily="34" charset="-120"/>
              </a:rPr>
              <a:t>17</a:t>
            </a:r>
            <a:endParaRPr lang="en-US" sz="2400" dirty="0"/>
          </a:p>
        </p:txBody>
      </p:sp>
      <p:sp>
        <p:nvSpPr>
          <p:cNvPr id="33" name="Text 31"/>
          <p:cNvSpPr/>
          <p:nvPr/>
        </p:nvSpPr>
        <p:spPr>
          <a:xfrm>
            <a:off x="10158984" y="3429000"/>
            <a:ext cx="1691640" cy="274320"/>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features</a:t>
            </a:r>
            <a:endParaRPr lang="en-US" sz="1000" dirty="0"/>
          </a:p>
        </p:txBody>
      </p:sp>
      <p:sp>
        <p:nvSpPr>
          <p:cNvPr id="34" name="Shape 32"/>
          <p:cNvSpPr/>
          <p:nvPr/>
        </p:nvSpPr>
        <p:spPr>
          <a:xfrm>
            <a:off x="8513064" y="3931920"/>
            <a:ext cx="3200400" cy="457200"/>
          </a:xfrm>
          <a:prstGeom prst="roundRect">
            <a:avLst>
              <a:gd name="adj" fmla="val 16000"/>
            </a:avLst>
          </a:prstGeom>
          <a:solidFill>
            <a:srgbClr val="F0F4FA"/>
          </a:solidFill>
          <a:ln w="12700">
            <a:solidFill>
              <a:srgbClr val="F0F4FA"/>
            </a:solidFill>
            <a:prstDash val="solid"/>
          </a:ln>
        </p:spPr>
        <p:txBody>
          <a:bodyPr/>
          <a:lstStyle/>
          <a:p>
            <a:endParaRPr lang="en-US"/>
          </a:p>
        </p:txBody>
      </p:sp>
      <p:sp>
        <p:nvSpPr>
          <p:cNvPr id="35" name="Text 33"/>
          <p:cNvSpPr/>
          <p:nvPr/>
        </p:nvSpPr>
        <p:spPr>
          <a:xfrm>
            <a:off x="8513064" y="3931920"/>
            <a:ext cx="3200400" cy="457200"/>
          </a:xfrm>
          <a:prstGeom prst="rect">
            <a:avLst/>
          </a:prstGeom>
          <a:noFill/>
          <a:ln/>
        </p:spPr>
        <p:txBody>
          <a:bodyPr wrap="square" lIns="0" tIns="0" rIns="0" bIns="0" rtlCol="0" anchor="ctr"/>
          <a:lstStyle/>
          <a:p>
            <a:pPr marL="0" indent="0" algn="ctr">
              <a:buNone/>
            </a:pPr>
            <a:r>
              <a:rPr lang="en-US" sz="1300" b="1" dirty="0">
                <a:solidFill>
                  <a:srgbClr val="1E3A68"/>
                </a:solidFill>
                <a:latin typeface="Calibri" pitchFamily="34" charset="0"/>
                <a:ea typeface="Calibri" pitchFamily="34" charset="-122"/>
                <a:cs typeface="Calibri" pitchFamily="34" charset="-120"/>
              </a:rPr>
              <a:t>Target:  </a:t>
            </a:r>
            <a:r>
              <a:rPr lang="en-US" sz="1300" dirty="0">
                <a:solidFill>
                  <a:srgbClr val="1E293B"/>
                </a:solidFill>
                <a:latin typeface="Calibri" pitchFamily="34" charset="0"/>
                <a:ea typeface="Calibri" pitchFamily="34" charset="-122"/>
                <a:cs typeface="Calibri" pitchFamily="34" charset="-120"/>
              </a:rPr>
              <a:t>booking status</a:t>
            </a:r>
            <a:endParaRPr lang="en-US" sz="1300" dirty="0"/>
          </a:p>
        </p:txBody>
      </p:sp>
      <p:sp>
        <p:nvSpPr>
          <p:cNvPr id="36" name="Text 34"/>
          <p:cNvSpPr/>
          <p:nvPr/>
        </p:nvSpPr>
        <p:spPr>
          <a:xfrm>
            <a:off x="8513064" y="4572000"/>
            <a:ext cx="3200400" cy="1691640"/>
          </a:xfrm>
          <a:prstGeom prst="rect">
            <a:avLst/>
          </a:prstGeom>
          <a:noFill/>
          <a:ln/>
        </p:spPr>
        <p:txBody>
          <a:bodyPr wrap="square" lIns="0" tIns="0" rIns="0" bIns="0" rtlCol="0" anchor="t"/>
          <a:lstStyle/>
          <a:p>
            <a:pPr marL="0" indent="0">
              <a:buNone/>
            </a:pPr>
            <a:r>
              <a:rPr lang="en-US" sz="1200" dirty="0">
                <a:solidFill>
                  <a:srgbClr val="1E293B"/>
                </a:solidFill>
                <a:latin typeface="Calibri" pitchFamily="34" charset="0"/>
                <a:ea typeface="Calibri" pitchFamily="34" charset="-122"/>
                <a:cs typeface="Calibri" pitchFamily="34" charset="-120"/>
              </a:rPr>
              <a:t>Same Inn source with renamed columns. Used as a generalization test for our preprocessing pipeline.</a:t>
            </a:r>
            <a:endParaRPr lang="en-US" sz="1200" dirty="0"/>
          </a:p>
        </p:txBody>
      </p:sp>
      <p:sp>
        <p:nvSpPr>
          <p:cNvPr id="37" name="Shape 35"/>
          <p:cNvSpPr/>
          <p:nvPr/>
        </p:nvSpPr>
        <p:spPr>
          <a:xfrm>
            <a:off x="0" y="6675120"/>
            <a:ext cx="12161520" cy="182880"/>
          </a:xfrm>
          <a:prstGeom prst="rect">
            <a:avLst/>
          </a:prstGeom>
          <a:solidFill>
            <a:srgbClr val="1E3A68"/>
          </a:solidFill>
          <a:ln w="12700">
            <a:solidFill>
              <a:srgbClr val="1E3A68"/>
            </a:solidFill>
            <a:prstDash val="solid"/>
          </a:ln>
        </p:spPr>
        <p:txBody>
          <a:bodyPr/>
          <a:lstStyle/>
          <a:p>
            <a:endParaRPr lang="en-US"/>
          </a:p>
        </p:txBody>
      </p:sp>
      <p:sp>
        <p:nvSpPr>
          <p:cNvPr id="38" name="Text 36"/>
          <p:cNvSpPr/>
          <p:nvPr/>
        </p:nvSpPr>
        <p:spPr>
          <a:xfrm>
            <a:off x="365760" y="6675120"/>
            <a:ext cx="6400800" cy="18288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Hotel Booking Cancellation Prediction  |  Team 32</a:t>
            </a:r>
            <a:endParaRPr lang="en-US" sz="900" dirty="0"/>
          </a:p>
        </p:txBody>
      </p:sp>
      <p:sp>
        <p:nvSpPr>
          <p:cNvPr id="39" name="Text 37"/>
          <p:cNvSpPr/>
          <p:nvPr/>
        </p:nvSpPr>
        <p:spPr>
          <a:xfrm>
            <a:off x="11338560" y="6675120"/>
            <a:ext cx="548640" cy="18288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8 / 19</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0972800" cy="274320"/>
          </a:xfrm>
          <a:prstGeom prst="rect">
            <a:avLst/>
          </a:prstGeom>
          <a:noFill/>
          <a:ln/>
        </p:spPr>
        <p:txBody>
          <a:bodyPr wrap="square" lIns="0" tIns="0" rIns="0" bIns="0" rtlCol="0" anchor="ctr"/>
          <a:lstStyle/>
          <a:p>
            <a:pPr marL="0" indent="0">
              <a:buNone/>
            </a:pPr>
            <a:r>
              <a:rPr lang="en-US" sz="1100" b="1" kern="0" spc="400" dirty="0">
                <a:solidFill>
                  <a:srgbClr val="F59E0B"/>
                </a:solidFill>
                <a:latin typeface="Calibri" pitchFamily="34" charset="0"/>
                <a:ea typeface="Calibri" pitchFamily="34" charset="-122"/>
                <a:cs typeface="Calibri" pitchFamily="34" charset="-120"/>
              </a:rPr>
              <a:t>03  ·  PIPELINE</a:t>
            </a:r>
            <a:endParaRPr lang="en-US" sz="1100" dirty="0"/>
          </a:p>
        </p:txBody>
      </p:sp>
      <p:sp>
        <p:nvSpPr>
          <p:cNvPr id="3" name="Text 1"/>
          <p:cNvSpPr/>
          <p:nvPr/>
        </p:nvSpPr>
        <p:spPr>
          <a:xfrm>
            <a:off x="548640" y="594360"/>
            <a:ext cx="10972800" cy="640080"/>
          </a:xfrm>
          <a:prstGeom prst="rect">
            <a:avLst/>
          </a:prstGeom>
          <a:noFill/>
          <a:ln/>
        </p:spPr>
        <p:txBody>
          <a:bodyPr wrap="square" lIns="0" tIns="0" rIns="0" bIns="0" rtlCol="0" anchor="ctr"/>
          <a:lstStyle/>
          <a:p>
            <a:pPr marL="0" indent="0">
              <a:buNone/>
            </a:pPr>
            <a:r>
              <a:rPr lang="en-US" sz="3000" b="1" dirty="0">
                <a:solidFill>
                  <a:srgbClr val="1E3A68"/>
                </a:solidFill>
                <a:latin typeface="Calibri" pitchFamily="34" charset="0"/>
                <a:ea typeface="Calibri" pitchFamily="34" charset="-122"/>
                <a:cs typeface="Calibri" pitchFamily="34" charset="-120"/>
              </a:rPr>
              <a:t>Preprocessing in Six Steps</a:t>
            </a:r>
            <a:endParaRPr lang="en-US" sz="3000" dirty="0"/>
          </a:p>
        </p:txBody>
      </p:sp>
      <p:sp>
        <p:nvSpPr>
          <p:cNvPr id="4" name="Shape 2"/>
          <p:cNvSpPr/>
          <p:nvPr/>
        </p:nvSpPr>
        <p:spPr>
          <a:xfrm>
            <a:off x="411480" y="1828800"/>
            <a:ext cx="1783080" cy="2286000"/>
          </a:xfrm>
          <a:prstGeom prst="rect">
            <a:avLst/>
          </a:prstGeom>
          <a:solidFill>
            <a:srgbClr val="FFFFFF"/>
          </a:solidFill>
          <a:ln w="19050">
            <a:solidFill>
              <a:srgbClr val="1E3A68"/>
            </a:solidFill>
            <a:prstDash val="solid"/>
          </a:ln>
        </p:spPr>
        <p:txBody>
          <a:bodyPr/>
          <a:lstStyle/>
          <a:p>
            <a:endParaRPr lang="en-US"/>
          </a:p>
        </p:txBody>
      </p:sp>
      <p:sp>
        <p:nvSpPr>
          <p:cNvPr id="5" name="Shape 3"/>
          <p:cNvSpPr/>
          <p:nvPr/>
        </p:nvSpPr>
        <p:spPr>
          <a:xfrm>
            <a:off x="937260" y="1417320"/>
            <a:ext cx="731520" cy="731520"/>
          </a:xfrm>
          <a:prstGeom prst="ellipse">
            <a:avLst/>
          </a:prstGeom>
          <a:solidFill>
            <a:srgbClr val="1E3A68"/>
          </a:solidFill>
          <a:ln w="12700">
            <a:solidFill>
              <a:srgbClr val="1E3A68"/>
            </a:solidFill>
            <a:prstDash val="solid"/>
          </a:ln>
        </p:spPr>
        <p:txBody>
          <a:bodyPr/>
          <a:lstStyle/>
          <a:p>
            <a:endParaRPr lang="en-US"/>
          </a:p>
        </p:txBody>
      </p:sp>
      <p:sp>
        <p:nvSpPr>
          <p:cNvPr id="6" name="Text 4"/>
          <p:cNvSpPr/>
          <p:nvPr/>
        </p:nvSpPr>
        <p:spPr>
          <a:xfrm>
            <a:off x="937260" y="1417320"/>
            <a:ext cx="731520" cy="73152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1</a:t>
            </a:r>
            <a:endParaRPr lang="en-US" sz="2600" dirty="0"/>
          </a:p>
        </p:txBody>
      </p:sp>
      <p:sp>
        <p:nvSpPr>
          <p:cNvPr id="7" name="Text 5"/>
          <p:cNvSpPr/>
          <p:nvPr/>
        </p:nvSpPr>
        <p:spPr>
          <a:xfrm>
            <a:off x="502920" y="2423160"/>
            <a:ext cx="1600200" cy="502920"/>
          </a:xfrm>
          <a:prstGeom prst="rect">
            <a:avLst/>
          </a:prstGeom>
          <a:noFill/>
          <a:ln/>
        </p:spPr>
        <p:txBody>
          <a:bodyPr wrap="square" lIns="0" tIns="0" rIns="0" bIns="0" rtlCol="0" anchor="ctr"/>
          <a:lstStyle/>
          <a:p>
            <a:pPr marL="0" indent="0" algn="ctr">
              <a:buNone/>
            </a:pPr>
            <a:r>
              <a:rPr lang="en-US" sz="1400" b="1" dirty="0">
                <a:solidFill>
                  <a:srgbClr val="1E3A68"/>
                </a:solidFill>
                <a:latin typeface="Calibri" pitchFamily="34" charset="0"/>
                <a:ea typeface="Calibri" pitchFamily="34" charset="-122"/>
                <a:cs typeface="Calibri" pitchFamily="34" charset="-120"/>
              </a:rPr>
              <a:t>Data Loading</a:t>
            </a:r>
            <a:endParaRPr lang="en-US" sz="1400" dirty="0"/>
          </a:p>
        </p:txBody>
      </p:sp>
      <p:sp>
        <p:nvSpPr>
          <p:cNvPr id="8" name="Text 6"/>
          <p:cNvSpPr/>
          <p:nvPr/>
        </p:nvSpPr>
        <p:spPr>
          <a:xfrm>
            <a:off x="548640" y="2971800"/>
            <a:ext cx="1508760" cy="1051560"/>
          </a:xfrm>
          <a:prstGeom prst="rect">
            <a:avLst/>
          </a:prstGeom>
          <a:noFill/>
          <a:ln/>
        </p:spPr>
        <p:txBody>
          <a:bodyPr wrap="square" lIns="0" tIns="0" rIns="0" bIns="0" rtlCol="0" anchor="t"/>
          <a:lstStyle/>
          <a:p>
            <a:pPr marL="0" indent="0" algn="ctr">
              <a:buNone/>
            </a:pPr>
            <a:r>
              <a:rPr lang="en-US" sz="1100" dirty="0">
                <a:solidFill>
                  <a:srgbClr val="1E293B"/>
                </a:solidFill>
                <a:latin typeface="Calibri" pitchFamily="34" charset="0"/>
                <a:ea typeface="Calibri" pitchFamily="34" charset="-122"/>
                <a:cs typeface="Calibri" pitchFamily="34" charset="-120"/>
              </a:rPr>
              <a:t>Read all 3 CSV files with pandas</a:t>
            </a:r>
            <a:endParaRPr lang="en-US" sz="1100" dirty="0"/>
          </a:p>
        </p:txBody>
      </p:sp>
      <p:sp>
        <p:nvSpPr>
          <p:cNvPr id="9" name="Shape 7"/>
          <p:cNvSpPr/>
          <p:nvPr/>
        </p:nvSpPr>
        <p:spPr>
          <a:xfrm>
            <a:off x="2194560" y="2971800"/>
            <a:ext cx="109728" cy="0"/>
          </a:xfrm>
          <a:prstGeom prst="line">
            <a:avLst/>
          </a:prstGeom>
          <a:noFill/>
          <a:ln w="25400">
            <a:solidFill>
              <a:srgbClr val="F59E0B"/>
            </a:solidFill>
            <a:prstDash val="solid"/>
          </a:ln>
        </p:spPr>
        <p:txBody>
          <a:bodyPr/>
          <a:lstStyle/>
          <a:p>
            <a:endParaRPr lang="en-US"/>
          </a:p>
        </p:txBody>
      </p:sp>
      <p:sp>
        <p:nvSpPr>
          <p:cNvPr id="10" name="Shape 8"/>
          <p:cNvSpPr/>
          <p:nvPr/>
        </p:nvSpPr>
        <p:spPr>
          <a:xfrm>
            <a:off x="2304288" y="1828800"/>
            <a:ext cx="1783080" cy="2286000"/>
          </a:xfrm>
          <a:prstGeom prst="rect">
            <a:avLst/>
          </a:prstGeom>
          <a:solidFill>
            <a:srgbClr val="FFFFFF"/>
          </a:solidFill>
          <a:ln w="19050">
            <a:solidFill>
              <a:srgbClr val="1E3A68"/>
            </a:solidFill>
            <a:prstDash val="solid"/>
          </a:ln>
        </p:spPr>
        <p:txBody>
          <a:bodyPr/>
          <a:lstStyle/>
          <a:p>
            <a:endParaRPr lang="en-US"/>
          </a:p>
        </p:txBody>
      </p:sp>
      <p:sp>
        <p:nvSpPr>
          <p:cNvPr id="11" name="Shape 9"/>
          <p:cNvSpPr/>
          <p:nvPr/>
        </p:nvSpPr>
        <p:spPr>
          <a:xfrm>
            <a:off x="2830068" y="1417320"/>
            <a:ext cx="731520" cy="731520"/>
          </a:xfrm>
          <a:prstGeom prst="ellipse">
            <a:avLst/>
          </a:prstGeom>
          <a:solidFill>
            <a:srgbClr val="1E3A68"/>
          </a:solidFill>
          <a:ln w="12700">
            <a:solidFill>
              <a:srgbClr val="1E3A68"/>
            </a:solidFill>
            <a:prstDash val="solid"/>
          </a:ln>
        </p:spPr>
        <p:txBody>
          <a:bodyPr/>
          <a:lstStyle/>
          <a:p>
            <a:endParaRPr lang="en-US"/>
          </a:p>
        </p:txBody>
      </p:sp>
      <p:sp>
        <p:nvSpPr>
          <p:cNvPr id="12" name="Text 10"/>
          <p:cNvSpPr/>
          <p:nvPr/>
        </p:nvSpPr>
        <p:spPr>
          <a:xfrm>
            <a:off x="2830068" y="1417320"/>
            <a:ext cx="731520" cy="73152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2</a:t>
            </a:r>
            <a:endParaRPr lang="en-US" sz="2600" dirty="0"/>
          </a:p>
        </p:txBody>
      </p:sp>
      <p:sp>
        <p:nvSpPr>
          <p:cNvPr id="13" name="Text 11"/>
          <p:cNvSpPr/>
          <p:nvPr/>
        </p:nvSpPr>
        <p:spPr>
          <a:xfrm>
            <a:off x="2395728" y="2423160"/>
            <a:ext cx="1600200" cy="502920"/>
          </a:xfrm>
          <a:prstGeom prst="rect">
            <a:avLst/>
          </a:prstGeom>
          <a:noFill/>
          <a:ln/>
        </p:spPr>
        <p:txBody>
          <a:bodyPr wrap="square" lIns="0" tIns="0" rIns="0" bIns="0" rtlCol="0" anchor="ctr"/>
          <a:lstStyle/>
          <a:p>
            <a:pPr marL="0" indent="0" algn="ctr">
              <a:buNone/>
            </a:pPr>
            <a:r>
              <a:rPr lang="en-US" sz="1400" b="1" dirty="0">
                <a:solidFill>
                  <a:srgbClr val="1E3A68"/>
                </a:solidFill>
                <a:latin typeface="Calibri" pitchFamily="34" charset="0"/>
                <a:ea typeface="Calibri" pitchFamily="34" charset="-122"/>
                <a:cs typeface="Calibri" pitchFamily="34" charset="-120"/>
              </a:rPr>
              <a:t>Column Removal</a:t>
            </a:r>
            <a:endParaRPr lang="en-US" sz="1400" dirty="0"/>
          </a:p>
        </p:txBody>
      </p:sp>
      <p:sp>
        <p:nvSpPr>
          <p:cNvPr id="14" name="Text 12"/>
          <p:cNvSpPr/>
          <p:nvPr/>
        </p:nvSpPr>
        <p:spPr>
          <a:xfrm>
            <a:off x="2441448" y="2971800"/>
            <a:ext cx="1508760" cy="1051560"/>
          </a:xfrm>
          <a:prstGeom prst="rect">
            <a:avLst/>
          </a:prstGeom>
          <a:noFill/>
          <a:ln/>
        </p:spPr>
        <p:txBody>
          <a:bodyPr wrap="square" lIns="0" tIns="0" rIns="0" bIns="0" rtlCol="0" anchor="t"/>
          <a:lstStyle/>
          <a:p>
            <a:pPr marL="0" indent="0" algn="ctr">
              <a:buNone/>
            </a:pPr>
            <a:r>
              <a:rPr lang="en-US" sz="1100" dirty="0">
                <a:solidFill>
                  <a:srgbClr val="1E293B"/>
                </a:solidFill>
                <a:latin typeface="Calibri" pitchFamily="34" charset="0"/>
                <a:ea typeface="Calibri" pitchFamily="34" charset="-122"/>
                <a:cs typeface="Calibri" pitchFamily="34" charset="-120"/>
              </a:rPr>
              <a:t>Drop IDs, leakage and low-value columns</a:t>
            </a:r>
            <a:endParaRPr lang="en-US" sz="1100" dirty="0"/>
          </a:p>
        </p:txBody>
      </p:sp>
      <p:sp>
        <p:nvSpPr>
          <p:cNvPr id="15" name="Shape 13"/>
          <p:cNvSpPr/>
          <p:nvPr/>
        </p:nvSpPr>
        <p:spPr>
          <a:xfrm>
            <a:off x="4087368" y="2971800"/>
            <a:ext cx="109728" cy="0"/>
          </a:xfrm>
          <a:prstGeom prst="line">
            <a:avLst/>
          </a:prstGeom>
          <a:noFill/>
          <a:ln w="25400">
            <a:solidFill>
              <a:srgbClr val="F59E0B"/>
            </a:solidFill>
            <a:prstDash val="solid"/>
          </a:ln>
        </p:spPr>
        <p:txBody>
          <a:bodyPr/>
          <a:lstStyle/>
          <a:p>
            <a:endParaRPr lang="en-US"/>
          </a:p>
        </p:txBody>
      </p:sp>
      <p:sp>
        <p:nvSpPr>
          <p:cNvPr id="16" name="Shape 14"/>
          <p:cNvSpPr/>
          <p:nvPr/>
        </p:nvSpPr>
        <p:spPr>
          <a:xfrm>
            <a:off x="4197096" y="1828800"/>
            <a:ext cx="1783080" cy="2286000"/>
          </a:xfrm>
          <a:prstGeom prst="rect">
            <a:avLst/>
          </a:prstGeom>
          <a:solidFill>
            <a:srgbClr val="FFFFFF"/>
          </a:solidFill>
          <a:ln w="19050">
            <a:solidFill>
              <a:srgbClr val="1E3A68"/>
            </a:solidFill>
            <a:prstDash val="solid"/>
          </a:ln>
        </p:spPr>
        <p:txBody>
          <a:bodyPr/>
          <a:lstStyle/>
          <a:p>
            <a:endParaRPr lang="en-US"/>
          </a:p>
        </p:txBody>
      </p:sp>
      <p:sp>
        <p:nvSpPr>
          <p:cNvPr id="17" name="Shape 15"/>
          <p:cNvSpPr/>
          <p:nvPr/>
        </p:nvSpPr>
        <p:spPr>
          <a:xfrm>
            <a:off x="4722876" y="1417320"/>
            <a:ext cx="731520" cy="731520"/>
          </a:xfrm>
          <a:prstGeom prst="ellipse">
            <a:avLst/>
          </a:prstGeom>
          <a:solidFill>
            <a:srgbClr val="1E3A68"/>
          </a:solidFill>
          <a:ln w="12700">
            <a:solidFill>
              <a:srgbClr val="1E3A68"/>
            </a:solidFill>
            <a:prstDash val="solid"/>
          </a:ln>
        </p:spPr>
        <p:txBody>
          <a:bodyPr/>
          <a:lstStyle/>
          <a:p>
            <a:endParaRPr lang="en-US"/>
          </a:p>
        </p:txBody>
      </p:sp>
      <p:sp>
        <p:nvSpPr>
          <p:cNvPr id="18" name="Text 16"/>
          <p:cNvSpPr/>
          <p:nvPr/>
        </p:nvSpPr>
        <p:spPr>
          <a:xfrm>
            <a:off x="4722876" y="1417320"/>
            <a:ext cx="731520" cy="73152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3</a:t>
            </a:r>
            <a:endParaRPr lang="en-US" sz="2600" dirty="0"/>
          </a:p>
        </p:txBody>
      </p:sp>
      <p:sp>
        <p:nvSpPr>
          <p:cNvPr id="19" name="Text 17"/>
          <p:cNvSpPr/>
          <p:nvPr/>
        </p:nvSpPr>
        <p:spPr>
          <a:xfrm>
            <a:off x="4288536" y="2423160"/>
            <a:ext cx="1600200" cy="502920"/>
          </a:xfrm>
          <a:prstGeom prst="rect">
            <a:avLst/>
          </a:prstGeom>
          <a:noFill/>
          <a:ln/>
        </p:spPr>
        <p:txBody>
          <a:bodyPr wrap="square" lIns="0" tIns="0" rIns="0" bIns="0" rtlCol="0" anchor="ctr"/>
          <a:lstStyle/>
          <a:p>
            <a:pPr marL="0" indent="0" algn="ctr">
              <a:buNone/>
            </a:pPr>
            <a:r>
              <a:rPr lang="en-US" sz="1400" b="1" dirty="0">
                <a:solidFill>
                  <a:srgbClr val="1E3A68"/>
                </a:solidFill>
                <a:latin typeface="Calibri" pitchFamily="34" charset="0"/>
                <a:ea typeface="Calibri" pitchFamily="34" charset="-122"/>
                <a:cs typeface="Calibri" pitchFamily="34" charset="-120"/>
              </a:rPr>
              <a:t>Missing Values</a:t>
            </a:r>
            <a:endParaRPr lang="en-US" sz="1400" dirty="0"/>
          </a:p>
        </p:txBody>
      </p:sp>
      <p:sp>
        <p:nvSpPr>
          <p:cNvPr id="20" name="Text 18"/>
          <p:cNvSpPr/>
          <p:nvPr/>
        </p:nvSpPr>
        <p:spPr>
          <a:xfrm>
            <a:off x="4334256" y="2971800"/>
            <a:ext cx="1508760" cy="1051560"/>
          </a:xfrm>
          <a:prstGeom prst="rect">
            <a:avLst/>
          </a:prstGeom>
          <a:noFill/>
          <a:ln/>
        </p:spPr>
        <p:txBody>
          <a:bodyPr wrap="square" lIns="0" tIns="0" rIns="0" bIns="0" rtlCol="0" anchor="t"/>
          <a:lstStyle/>
          <a:p>
            <a:pPr marL="0" indent="0" algn="ctr">
              <a:buNone/>
            </a:pPr>
            <a:r>
              <a:rPr lang="en-US" sz="1100" dirty="0">
                <a:solidFill>
                  <a:srgbClr val="1E293B"/>
                </a:solidFill>
                <a:latin typeface="Calibri" pitchFamily="34" charset="0"/>
                <a:ea typeface="Calibri" pitchFamily="34" charset="-122"/>
                <a:cs typeface="Calibri" pitchFamily="34" charset="-120"/>
              </a:rPr>
              <a:t>Fill with 0, mean or mode based on type</a:t>
            </a:r>
            <a:endParaRPr lang="en-US" sz="1100" dirty="0"/>
          </a:p>
        </p:txBody>
      </p:sp>
      <p:sp>
        <p:nvSpPr>
          <p:cNvPr id="21" name="Shape 19"/>
          <p:cNvSpPr/>
          <p:nvPr/>
        </p:nvSpPr>
        <p:spPr>
          <a:xfrm>
            <a:off x="5980176" y="2971800"/>
            <a:ext cx="109728" cy="0"/>
          </a:xfrm>
          <a:prstGeom prst="line">
            <a:avLst/>
          </a:prstGeom>
          <a:noFill/>
          <a:ln w="25400">
            <a:solidFill>
              <a:srgbClr val="F59E0B"/>
            </a:solidFill>
            <a:prstDash val="solid"/>
          </a:ln>
        </p:spPr>
        <p:txBody>
          <a:bodyPr/>
          <a:lstStyle/>
          <a:p>
            <a:endParaRPr lang="en-US"/>
          </a:p>
        </p:txBody>
      </p:sp>
      <p:sp>
        <p:nvSpPr>
          <p:cNvPr id="22" name="Shape 20"/>
          <p:cNvSpPr/>
          <p:nvPr/>
        </p:nvSpPr>
        <p:spPr>
          <a:xfrm>
            <a:off x="6089904" y="1828800"/>
            <a:ext cx="1783080" cy="2286000"/>
          </a:xfrm>
          <a:prstGeom prst="rect">
            <a:avLst/>
          </a:prstGeom>
          <a:solidFill>
            <a:srgbClr val="FFFFFF"/>
          </a:solidFill>
          <a:ln w="19050">
            <a:solidFill>
              <a:srgbClr val="1E3A68"/>
            </a:solidFill>
            <a:prstDash val="solid"/>
          </a:ln>
        </p:spPr>
        <p:txBody>
          <a:bodyPr/>
          <a:lstStyle/>
          <a:p>
            <a:endParaRPr lang="en-US"/>
          </a:p>
        </p:txBody>
      </p:sp>
      <p:sp>
        <p:nvSpPr>
          <p:cNvPr id="23" name="Shape 21"/>
          <p:cNvSpPr/>
          <p:nvPr/>
        </p:nvSpPr>
        <p:spPr>
          <a:xfrm>
            <a:off x="6615684" y="1417320"/>
            <a:ext cx="731520" cy="731520"/>
          </a:xfrm>
          <a:prstGeom prst="ellipse">
            <a:avLst/>
          </a:prstGeom>
          <a:solidFill>
            <a:srgbClr val="1E3A68"/>
          </a:solidFill>
          <a:ln w="12700">
            <a:solidFill>
              <a:srgbClr val="1E3A68"/>
            </a:solidFill>
            <a:prstDash val="solid"/>
          </a:ln>
        </p:spPr>
        <p:txBody>
          <a:bodyPr/>
          <a:lstStyle/>
          <a:p>
            <a:endParaRPr lang="en-US"/>
          </a:p>
        </p:txBody>
      </p:sp>
      <p:sp>
        <p:nvSpPr>
          <p:cNvPr id="24" name="Text 22"/>
          <p:cNvSpPr/>
          <p:nvPr/>
        </p:nvSpPr>
        <p:spPr>
          <a:xfrm>
            <a:off x="6615684" y="1417320"/>
            <a:ext cx="731520" cy="73152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4</a:t>
            </a:r>
            <a:endParaRPr lang="en-US" sz="2600" dirty="0"/>
          </a:p>
        </p:txBody>
      </p:sp>
      <p:sp>
        <p:nvSpPr>
          <p:cNvPr id="25" name="Text 23"/>
          <p:cNvSpPr/>
          <p:nvPr/>
        </p:nvSpPr>
        <p:spPr>
          <a:xfrm>
            <a:off x="6181344" y="2423160"/>
            <a:ext cx="1600200" cy="502920"/>
          </a:xfrm>
          <a:prstGeom prst="rect">
            <a:avLst/>
          </a:prstGeom>
          <a:noFill/>
          <a:ln/>
        </p:spPr>
        <p:txBody>
          <a:bodyPr wrap="square" lIns="0" tIns="0" rIns="0" bIns="0" rtlCol="0" anchor="ctr"/>
          <a:lstStyle/>
          <a:p>
            <a:pPr marL="0" indent="0" algn="ctr">
              <a:buNone/>
            </a:pPr>
            <a:r>
              <a:rPr lang="en-US" sz="1400" b="1" dirty="0">
                <a:solidFill>
                  <a:srgbClr val="1E3A68"/>
                </a:solidFill>
                <a:latin typeface="Calibri" pitchFamily="34" charset="0"/>
                <a:ea typeface="Calibri" pitchFamily="34" charset="-122"/>
                <a:cs typeface="Calibri" pitchFamily="34" charset="-120"/>
              </a:rPr>
              <a:t>Encoding</a:t>
            </a:r>
            <a:endParaRPr lang="en-US" sz="1400" dirty="0"/>
          </a:p>
        </p:txBody>
      </p:sp>
      <p:sp>
        <p:nvSpPr>
          <p:cNvPr id="26" name="Text 24"/>
          <p:cNvSpPr/>
          <p:nvPr/>
        </p:nvSpPr>
        <p:spPr>
          <a:xfrm>
            <a:off x="6227064" y="2971800"/>
            <a:ext cx="1508760" cy="1051560"/>
          </a:xfrm>
          <a:prstGeom prst="rect">
            <a:avLst/>
          </a:prstGeom>
          <a:noFill/>
          <a:ln/>
        </p:spPr>
        <p:txBody>
          <a:bodyPr wrap="square" lIns="0" tIns="0" rIns="0" bIns="0" rtlCol="0" anchor="t"/>
          <a:lstStyle/>
          <a:p>
            <a:pPr marL="0" indent="0" algn="ctr">
              <a:buNone/>
            </a:pPr>
            <a:r>
              <a:rPr lang="en-US" sz="1100" dirty="0">
                <a:solidFill>
                  <a:srgbClr val="1E293B"/>
                </a:solidFill>
                <a:latin typeface="Calibri" pitchFamily="34" charset="0"/>
                <a:ea typeface="Calibri" pitchFamily="34" charset="-122"/>
                <a:cs typeface="Calibri" pitchFamily="34" charset="-120"/>
              </a:rPr>
              <a:t>One-hot encoding for categorical features</a:t>
            </a:r>
            <a:endParaRPr lang="en-US" sz="1100" dirty="0"/>
          </a:p>
        </p:txBody>
      </p:sp>
      <p:sp>
        <p:nvSpPr>
          <p:cNvPr id="27" name="Shape 25"/>
          <p:cNvSpPr/>
          <p:nvPr/>
        </p:nvSpPr>
        <p:spPr>
          <a:xfrm>
            <a:off x="7872984" y="2971800"/>
            <a:ext cx="109728" cy="0"/>
          </a:xfrm>
          <a:prstGeom prst="line">
            <a:avLst/>
          </a:prstGeom>
          <a:noFill/>
          <a:ln w="25400">
            <a:solidFill>
              <a:srgbClr val="F59E0B"/>
            </a:solidFill>
            <a:prstDash val="solid"/>
          </a:ln>
        </p:spPr>
        <p:txBody>
          <a:bodyPr/>
          <a:lstStyle/>
          <a:p>
            <a:endParaRPr lang="en-US"/>
          </a:p>
        </p:txBody>
      </p:sp>
      <p:sp>
        <p:nvSpPr>
          <p:cNvPr id="28" name="Shape 26"/>
          <p:cNvSpPr/>
          <p:nvPr/>
        </p:nvSpPr>
        <p:spPr>
          <a:xfrm>
            <a:off x="7982712" y="1828800"/>
            <a:ext cx="1783080" cy="2286000"/>
          </a:xfrm>
          <a:prstGeom prst="rect">
            <a:avLst/>
          </a:prstGeom>
          <a:solidFill>
            <a:srgbClr val="FFFFFF"/>
          </a:solidFill>
          <a:ln w="19050">
            <a:solidFill>
              <a:srgbClr val="1E3A68"/>
            </a:solidFill>
            <a:prstDash val="solid"/>
          </a:ln>
        </p:spPr>
        <p:txBody>
          <a:bodyPr/>
          <a:lstStyle/>
          <a:p>
            <a:endParaRPr lang="en-US"/>
          </a:p>
        </p:txBody>
      </p:sp>
      <p:sp>
        <p:nvSpPr>
          <p:cNvPr id="29" name="Shape 27"/>
          <p:cNvSpPr/>
          <p:nvPr/>
        </p:nvSpPr>
        <p:spPr>
          <a:xfrm>
            <a:off x="8508492" y="1417320"/>
            <a:ext cx="731520" cy="731520"/>
          </a:xfrm>
          <a:prstGeom prst="ellipse">
            <a:avLst/>
          </a:prstGeom>
          <a:solidFill>
            <a:srgbClr val="1E3A68"/>
          </a:solidFill>
          <a:ln w="12700">
            <a:solidFill>
              <a:srgbClr val="1E3A68"/>
            </a:solidFill>
            <a:prstDash val="solid"/>
          </a:ln>
        </p:spPr>
        <p:txBody>
          <a:bodyPr/>
          <a:lstStyle/>
          <a:p>
            <a:endParaRPr lang="en-US"/>
          </a:p>
        </p:txBody>
      </p:sp>
      <p:sp>
        <p:nvSpPr>
          <p:cNvPr id="30" name="Text 28"/>
          <p:cNvSpPr/>
          <p:nvPr/>
        </p:nvSpPr>
        <p:spPr>
          <a:xfrm>
            <a:off x="8508492" y="1417320"/>
            <a:ext cx="731520" cy="73152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5</a:t>
            </a:r>
            <a:endParaRPr lang="en-US" sz="2600" dirty="0"/>
          </a:p>
        </p:txBody>
      </p:sp>
      <p:sp>
        <p:nvSpPr>
          <p:cNvPr id="31" name="Text 29"/>
          <p:cNvSpPr/>
          <p:nvPr/>
        </p:nvSpPr>
        <p:spPr>
          <a:xfrm>
            <a:off x="8074152" y="2423160"/>
            <a:ext cx="1600200" cy="502920"/>
          </a:xfrm>
          <a:prstGeom prst="rect">
            <a:avLst/>
          </a:prstGeom>
          <a:noFill/>
          <a:ln/>
        </p:spPr>
        <p:txBody>
          <a:bodyPr wrap="square" lIns="0" tIns="0" rIns="0" bIns="0" rtlCol="0" anchor="ctr"/>
          <a:lstStyle/>
          <a:p>
            <a:pPr marL="0" indent="0" algn="ctr">
              <a:buNone/>
            </a:pPr>
            <a:r>
              <a:rPr lang="en-US" sz="1400" b="1" dirty="0">
                <a:solidFill>
                  <a:srgbClr val="1E3A68"/>
                </a:solidFill>
                <a:latin typeface="Calibri" pitchFamily="34" charset="0"/>
                <a:ea typeface="Calibri" pitchFamily="34" charset="-122"/>
                <a:cs typeface="Calibri" pitchFamily="34" charset="-120"/>
              </a:rPr>
              <a:t>Feature Scaling</a:t>
            </a:r>
            <a:endParaRPr lang="en-US" sz="1400" dirty="0"/>
          </a:p>
        </p:txBody>
      </p:sp>
      <p:sp>
        <p:nvSpPr>
          <p:cNvPr id="32" name="Text 30"/>
          <p:cNvSpPr/>
          <p:nvPr/>
        </p:nvSpPr>
        <p:spPr>
          <a:xfrm>
            <a:off x="8119872" y="2971800"/>
            <a:ext cx="1508760" cy="1051560"/>
          </a:xfrm>
          <a:prstGeom prst="rect">
            <a:avLst/>
          </a:prstGeom>
          <a:noFill/>
          <a:ln/>
        </p:spPr>
        <p:txBody>
          <a:bodyPr wrap="square" lIns="0" tIns="0" rIns="0" bIns="0" rtlCol="0" anchor="t"/>
          <a:lstStyle/>
          <a:p>
            <a:pPr marL="0" indent="0" algn="ctr">
              <a:buNone/>
            </a:pPr>
            <a:r>
              <a:rPr lang="en-US" sz="1100" dirty="0">
                <a:solidFill>
                  <a:srgbClr val="1E293B"/>
                </a:solidFill>
                <a:latin typeface="Calibri" pitchFamily="34" charset="0"/>
                <a:ea typeface="Calibri" pitchFamily="34" charset="-122"/>
                <a:cs typeface="Calibri" pitchFamily="34" charset="-120"/>
              </a:rPr>
              <a:t>StandardScaler: zero mean, unit variance</a:t>
            </a:r>
            <a:endParaRPr lang="en-US" sz="1100" dirty="0"/>
          </a:p>
        </p:txBody>
      </p:sp>
      <p:sp>
        <p:nvSpPr>
          <p:cNvPr id="33" name="Shape 31"/>
          <p:cNvSpPr/>
          <p:nvPr/>
        </p:nvSpPr>
        <p:spPr>
          <a:xfrm>
            <a:off x="9765792" y="2971800"/>
            <a:ext cx="109728" cy="0"/>
          </a:xfrm>
          <a:prstGeom prst="line">
            <a:avLst/>
          </a:prstGeom>
          <a:noFill/>
          <a:ln w="25400">
            <a:solidFill>
              <a:srgbClr val="F59E0B"/>
            </a:solidFill>
            <a:prstDash val="solid"/>
          </a:ln>
        </p:spPr>
        <p:txBody>
          <a:bodyPr/>
          <a:lstStyle/>
          <a:p>
            <a:endParaRPr lang="en-US"/>
          </a:p>
        </p:txBody>
      </p:sp>
      <p:sp>
        <p:nvSpPr>
          <p:cNvPr id="34" name="Shape 32"/>
          <p:cNvSpPr/>
          <p:nvPr/>
        </p:nvSpPr>
        <p:spPr>
          <a:xfrm>
            <a:off x="9875520" y="1828800"/>
            <a:ext cx="1783080" cy="2286000"/>
          </a:xfrm>
          <a:prstGeom prst="rect">
            <a:avLst/>
          </a:prstGeom>
          <a:solidFill>
            <a:srgbClr val="FFFFFF"/>
          </a:solidFill>
          <a:ln w="19050">
            <a:solidFill>
              <a:srgbClr val="1E3A68"/>
            </a:solidFill>
            <a:prstDash val="solid"/>
          </a:ln>
        </p:spPr>
        <p:txBody>
          <a:bodyPr/>
          <a:lstStyle/>
          <a:p>
            <a:endParaRPr lang="en-US"/>
          </a:p>
        </p:txBody>
      </p:sp>
      <p:sp>
        <p:nvSpPr>
          <p:cNvPr id="35" name="Shape 33"/>
          <p:cNvSpPr/>
          <p:nvPr/>
        </p:nvSpPr>
        <p:spPr>
          <a:xfrm>
            <a:off x="10401300" y="1417320"/>
            <a:ext cx="731520" cy="731520"/>
          </a:xfrm>
          <a:prstGeom prst="ellipse">
            <a:avLst/>
          </a:prstGeom>
          <a:solidFill>
            <a:srgbClr val="1E3A68"/>
          </a:solidFill>
          <a:ln w="12700">
            <a:solidFill>
              <a:srgbClr val="1E3A68"/>
            </a:solidFill>
            <a:prstDash val="solid"/>
          </a:ln>
        </p:spPr>
        <p:txBody>
          <a:bodyPr/>
          <a:lstStyle/>
          <a:p>
            <a:endParaRPr lang="en-US"/>
          </a:p>
        </p:txBody>
      </p:sp>
      <p:sp>
        <p:nvSpPr>
          <p:cNvPr id="36" name="Text 34"/>
          <p:cNvSpPr/>
          <p:nvPr/>
        </p:nvSpPr>
        <p:spPr>
          <a:xfrm>
            <a:off x="10401300" y="1417320"/>
            <a:ext cx="731520" cy="73152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6</a:t>
            </a:r>
            <a:endParaRPr lang="en-US" sz="2600" dirty="0"/>
          </a:p>
        </p:txBody>
      </p:sp>
      <p:sp>
        <p:nvSpPr>
          <p:cNvPr id="37" name="Text 35"/>
          <p:cNvSpPr/>
          <p:nvPr/>
        </p:nvSpPr>
        <p:spPr>
          <a:xfrm>
            <a:off x="9966960" y="2423160"/>
            <a:ext cx="1600200" cy="502920"/>
          </a:xfrm>
          <a:prstGeom prst="rect">
            <a:avLst/>
          </a:prstGeom>
          <a:noFill/>
          <a:ln/>
        </p:spPr>
        <p:txBody>
          <a:bodyPr wrap="square" lIns="0" tIns="0" rIns="0" bIns="0" rtlCol="0" anchor="ctr"/>
          <a:lstStyle/>
          <a:p>
            <a:pPr marL="0" indent="0" algn="ctr">
              <a:buNone/>
            </a:pPr>
            <a:r>
              <a:rPr lang="en-US" sz="1400" b="1" dirty="0">
                <a:solidFill>
                  <a:srgbClr val="1E3A68"/>
                </a:solidFill>
                <a:latin typeface="Calibri" pitchFamily="34" charset="0"/>
                <a:ea typeface="Calibri" pitchFamily="34" charset="-122"/>
                <a:cs typeface="Calibri" pitchFamily="34" charset="-120"/>
              </a:rPr>
              <a:t>Target Encoding</a:t>
            </a:r>
            <a:endParaRPr lang="en-US" sz="1400" dirty="0"/>
          </a:p>
        </p:txBody>
      </p:sp>
      <p:sp>
        <p:nvSpPr>
          <p:cNvPr id="38" name="Text 36"/>
          <p:cNvSpPr/>
          <p:nvPr/>
        </p:nvSpPr>
        <p:spPr>
          <a:xfrm>
            <a:off x="10012680" y="2971800"/>
            <a:ext cx="1508760" cy="1051560"/>
          </a:xfrm>
          <a:prstGeom prst="rect">
            <a:avLst/>
          </a:prstGeom>
          <a:noFill/>
          <a:ln/>
        </p:spPr>
        <p:txBody>
          <a:bodyPr wrap="square" lIns="0" tIns="0" rIns="0" bIns="0" rtlCol="0" anchor="t"/>
          <a:lstStyle/>
          <a:p>
            <a:pPr marL="0" indent="0" algn="ctr">
              <a:buNone/>
            </a:pPr>
            <a:r>
              <a:rPr lang="en-US" sz="1100" dirty="0">
                <a:solidFill>
                  <a:srgbClr val="1E293B"/>
                </a:solidFill>
                <a:latin typeface="Calibri" pitchFamily="34" charset="0"/>
                <a:ea typeface="Calibri" pitchFamily="34" charset="-122"/>
                <a:cs typeface="Calibri" pitchFamily="34" charset="-120"/>
              </a:rPr>
              <a:t>Canceled = 1, Not_Canceled = 0</a:t>
            </a:r>
            <a:endParaRPr lang="en-US" sz="1100" dirty="0"/>
          </a:p>
        </p:txBody>
      </p:sp>
      <p:sp>
        <p:nvSpPr>
          <p:cNvPr id="39" name="Text 37"/>
          <p:cNvSpPr/>
          <p:nvPr/>
        </p:nvSpPr>
        <p:spPr>
          <a:xfrm>
            <a:off x="548640" y="5120640"/>
            <a:ext cx="11064240" cy="457200"/>
          </a:xfrm>
          <a:prstGeom prst="rect">
            <a:avLst/>
          </a:prstGeom>
          <a:noFill/>
          <a:ln/>
        </p:spPr>
        <p:txBody>
          <a:bodyPr wrap="square" lIns="0" tIns="0" rIns="0" bIns="0" rtlCol="0" anchor="ctr"/>
          <a:lstStyle/>
          <a:p>
            <a:pPr marL="0" indent="0" algn="ctr">
              <a:buNone/>
            </a:pPr>
            <a:r>
              <a:rPr lang="en-US" sz="1400" i="1" dirty="0">
                <a:solidFill>
                  <a:srgbClr val="64748B"/>
                </a:solidFill>
                <a:latin typeface="Calibri" pitchFamily="34" charset="0"/>
                <a:ea typeface="Calibri" pitchFamily="34" charset="-122"/>
                <a:cs typeface="Calibri" pitchFamily="34" charset="-120"/>
              </a:rPr>
              <a:t>The same pipeline runs on all three datasets which is what makes the model comparison fair.</a:t>
            </a:r>
            <a:endParaRPr lang="en-US" sz="1400" dirty="0"/>
          </a:p>
        </p:txBody>
      </p:sp>
      <p:sp>
        <p:nvSpPr>
          <p:cNvPr id="40" name="Shape 38"/>
          <p:cNvSpPr/>
          <p:nvPr/>
        </p:nvSpPr>
        <p:spPr>
          <a:xfrm>
            <a:off x="0" y="6675120"/>
            <a:ext cx="12161520" cy="182880"/>
          </a:xfrm>
          <a:prstGeom prst="rect">
            <a:avLst/>
          </a:prstGeom>
          <a:solidFill>
            <a:srgbClr val="1E3A68"/>
          </a:solidFill>
          <a:ln w="12700">
            <a:solidFill>
              <a:srgbClr val="1E3A68"/>
            </a:solidFill>
            <a:prstDash val="solid"/>
          </a:ln>
        </p:spPr>
        <p:txBody>
          <a:bodyPr/>
          <a:lstStyle/>
          <a:p>
            <a:endParaRPr lang="en-US"/>
          </a:p>
        </p:txBody>
      </p:sp>
      <p:sp>
        <p:nvSpPr>
          <p:cNvPr id="41" name="Text 39"/>
          <p:cNvSpPr/>
          <p:nvPr/>
        </p:nvSpPr>
        <p:spPr>
          <a:xfrm>
            <a:off x="365760" y="6675120"/>
            <a:ext cx="6400800" cy="18288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Hotel Booking Cancellation Prediction  |  Team 32</a:t>
            </a:r>
            <a:endParaRPr lang="en-US" sz="900" dirty="0"/>
          </a:p>
        </p:txBody>
      </p:sp>
      <p:sp>
        <p:nvSpPr>
          <p:cNvPr id="42" name="Text 40"/>
          <p:cNvSpPr/>
          <p:nvPr/>
        </p:nvSpPr>
        <p:spPr>
          <a:xfrm>
            <a:off x="11338560" y="6675120"/>
            <a:ext cx="548640" cy="18288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9 / 19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0972800" cy="274320"/>
          </a:xfrm>
          <a:prstGeom prst="rect">
            <a:avLst/>
          </a:prstGeom>
          <a:noFill/>
          <a:ln/>
        </p:spPr>
        <p:txBody>
          <a:bodyPr wrap="square" lIns="0" tIns="0" rIns="0" bIns="0" rtlCol="0" anchor="ctr"/>
          <a:lstStyle/>
          <a:p>
            <a:pPr marL="0" indent="0">
              <a:buNone/>
            </a:pPr>
            <a:r>
              <a:rPr lang="en-US" sz="1100" b="1" kern="0" spc="400" dirty="0">
                <a:solidFill>
                  <a:srgbClr val="F59E0B"/>
                </a:solidFill>
                <a:latin typeface="Calibri" pitchFamily="34" charset="0"/>
                <a:ea typeface="Calibri" pitchFamily="34" charset="-122"/>
                <a:cs typeface="Calibri" pitchFamily="34" charset="-120"/>
              </a:rPr>
              <a:t>03  ·  EDA</a:t>
            </a:r>
            <a:endParaRPr lang="en-US" sz="1100" dirty="0"/>
          </a:p>
        </p:txBody>
      </p:sp>
      <p:sp>
        <p:nvSpPr>
          <p:cNvPr id="3" name="Text 1"/>
          <p:cNvSpPr/>
          <p:nvPr/>
        </p:nvSpPr>
        <p:spPr>
          <a:xfrm>
            <a:off x="548640" y="594360"/>
            <a:ext cx="10972800" cy="640080"/>
          </a:xfrm>
          <a:prstGeom prst="rect">
            <a:avLst/>
          </a:prstGeom>
          <a:noFill/>
          <a:ln/>
        </p:spPr>
        <p:txBody>
          <a:bodyPr wrap="square" lIns="0" tIns="0" rIns="0" bIns="0" rtlCol="0" anchor="ctr"/>
          <a:lstStyle/>
          <a:p>
            <a:pPr marL="0" indent="0">
              <a:buNone/>
            </a:pPr>
            <a:r>
              <a:rPr lang="en-US" sz="3000" b="1" dirty="0">
                <a:solidFill>
                  <a:srgbClr val="1E3A68"/>
                </a:solidFill>
                <a:latin typeface="Calibri" pitchFamily="34" charset="0"/>
                <a:ea typeface="Calibri" pitchFamily="34" charset="-122"/>
                <a:cs typeface="Calibri" pitchFamily="34" charset="-120"/>
              </a:rPr>
              <a:t>Lead Time is the Strongest Signal</a:t>
            </a:r>
            <a:endParaRPr lang="en-US" sz="3000" dirty="0"/>
          </a:p>
        </p:txBody>
      </p:sp>
      <p:pic>
        <p:nvPicPr>
          <p:cNvPr id="4" name="Image 0" descr="/sessions/eloquent-determined-pascal/mnt/outputs/assets/viz_d2_num.png"/>
          <p:cNvPicPr>
            <a:picLocks noChangeAspect="1"/>
          </p:cNvPicPr>
          <p:nvPr/>
        </p:nvPicPr>
        <p:blipFill>
          <a:blip r:embed="rId3"/>
          <a:stretch>
            <a:fillRect/>
          </a:stretch>
        </p:blipFill>
        <p:spPr>
          <a:xfrm>
            <a:off x="502920" y="1691640"/>
            <a:ext cx="6949440" cy="4434840"/>
          </a:xfrm>
          <a:prstGeom prst="rect">
            <a:avLst/>
          </a:prstGeom>
        </p:spPr>
      </p:pic>
      <p:sp>
        <p:nvSpPr>
          <p:cNvPr id="5" name="Shape 2"/>
          <p:cNvSpPr/>
          <p:nvPr/>
        </p:nvSpPr>
        <p:spPr>
          <a:xfrm>
            <a:off x="7680960" y="1691640"/>
            <a:ext cx="4023360" cy="4434840"/>
          </a:xfrm>
          <a:prstGeom prst="rect">
            <a:avLst/>
          </a:prstGeom>
          <a:solidFill>
            <a:srgbClr val="F0F4FA"/>
          </a:solidFill>
          <a:ln w="12700">
            <a:solidFill>
              <a:srgbClr val="F0F4FA"/>
            </a:solidFill>
            <a:prstDash val="solid"/>
          </a:ln>
        </p:spPr>
        <p:txBody>
          <a:bodyPr/>
          <a:lstStyle/>
          <a:p>
            <a:endParaRPr lang="en-US"/>
          </a:p>
        </p:txBody>
      </p:sp>
      <p:sp>
        <p:nvSpPr>
          <p:cNvPr id="6" name="Text 3"/>
          <p:cNvSpPr/>
          <p:nvPr/>
        </p:nvSpPr>
        <p:spPr>
          <a:xfrm>
            <a:off x="7863840" y="1828800"/>
            <a:ext cx="3749040" cy="411480"/>
          </a:xfrm>
          <a:prstGeom prst="rect">
            <a:avLst/>
          </a:prstGeom>
          <a:noFill/>
          <a:ln/>
        </p:spPr>
        <p:txBody>
          <a:bodyPr wrap="square" lIns="0" tIns="0" rIns="0" bIns="0" rtlCol="0" anchor="ctr"/>
          <a:lstStyle/>
          <a:p>
            <a:pPr marL="0" indent="0">
              <a:buNone/>
            </a:pPr>
            <a:r>
              <a:rPr lang="en-US" sz="1700" b="1" dirty="0">
                <a:solidFill>
                  <a:srgbClr val="1E3A68"/>
                </a:solidFill>
                <a:latin typeface="Calibri" pitchFamily="34" charset="0"/>
                <a:ea typeface="Calibri" pitchFamily="34" charset="-122"/>
                <a:cs typeface="Calibri" pitchFamily="34" charset="-120"/>
              </a:rPr>
              <a:t>Key Observations</a:t>
            </a:r>
            <a:endParaRPr lang="en-US" sz="1700" dirty="0"/>
          </a:p>
        </p:txBody>
      </p:sp>
      <p:sp>
        <p:nvSpPr>
          <p:cNvPr id="7" name="Text 4"/>
          <p:cNvSpPr/>
          <p:nvPr/>
        </p:nvSpPr>
        <p:spPr>
          <a:xfrm>
            <a:off x="7863840" y="2286000"/>
            <a:ext cx="3749040" cy="3794760"/>
          </a:xfrm>
          <a:prstGeom prst="rect">
            <a:avLst/>
          </a:prstGeom>
          <a:noFill/>
          <a:ln/>
        </p:spPr>
        <p:txBody>
          <a:bodyPr wrap="square" lIns="0" tIns="0" rIns="0" bIns="0" rtlCol="0" anchor="ctr"/>
          <a:lstStyle/>
          <a:p>
            <a:pPr marL="0" indent="0">
              <a:buNone/>
            </a:pPr>
            <a:r>
              <a:rPr lang="en-US" sz="1200" b="1" dirty="0">
                <a:solidFill>
                  <a:srgbClr val="1E3A68"/>
                </a:solidFill>
                <a:latin typeface="Calibri" pitchFamily="34" charset="0"/>
                <a:ea typeface="Calibri" pitchFamily="34" charset="-122"/>
                <a:cs typeface="Calibri" pitchFamily="34" charset="-120"/>
              </a:rPr>
              <a:t>Lead time gap</a:t>
            </a:r>
            <a:endParaRPr lang="en-US" sz="1200" dirty="0"/>
          </a:p>
          <a:p>
            <a:pPr marL="0" indent="0">
              <a:spcAft>
                <a:spcPts val="800"/>
              </a:spcAft>
              <a:buNone/>
            </a:pPr>
            <a:r>
              <a:rPr lang="en-US" sz="1200" dirty="0">
                <a:solidFill>
                  <a:srgbClr val="1E293B"/>
                </a:solidFill>
                <a:latin typeface="Calibri" pitchFamily="34" charset="0"/>
                <a:ea typeface="Calibri" pitchFamily="34" charset="-122"/>
                <a:cs typeface="Calibri" pitchFamily="34" charset="-120"/>
              </a:rPr>
              <a:t>Canceled bookings sit around 120 days median vs 40 days for non-canceled.</a:t>
            </a:r>
            <a:endParaRPr lang="en-US" sz="1200" dirty="0"/>
          </a:p>
          <a:p>
            <a:pPr marL="0" indent="0">
              <a:buNone/>
            </a:pPr>
            <a:r>
              <a:rPr lang="en-US" sz="1200" b="1" dirty="0">
                <a:solidFill>
                  <a:srgbClr val="1E3A68"/>
                </a:solidFill>
                <a:latin typeface="Calibri" pitchFamily="34" charset="0"/>
                <a:ea typeface="Calibri" pitchFamily="34" charset="-122"/>
                <a:cs typeface="Calibri" pitchFamily="34" charset="-120"/>
              </a:rPr>
              <a:t>Special requests</a:t>
            </a:r>
            <a:endParaRPr lang="en-US" sz="1200" dirty="0"/>
          </a:p>
          <a:p>
            <a:pPr marL="0" indent="0">
              <a:spcAft>
                <a:spcPts val="800"/>
              </a:spcAft>
              <a:buNone/>
            </a:pPr>
            <a:r>
              <a:rPr lang="en-US" sz="1200" dirty="0">
                <a:solidFill>
                  <a:srgbClr val="1E293B"/>
                </a:solidFill>
                <a:latin typeface="Calibri" pitchFamily="34" charset="0"/>
                <a:ea typeface="Calibri" pitchFamily="34" charset="-122"/>
                <a:cs typeface="Calibri" pitchFamily="34" charset="-120"/>
              </a:rPr>
              <a:t>Guests who add requests are more committed and rarely cancel.</a:t>
            </a:r>
            <a:endParaRPr lang="en-US" sz="1200" dirty="0"/>
          </a:p>
          <a:p>
            <a:pPr marL="0" indent="0">
              <a:buNone/>
            </a:pPr>
            <a:r>
              <a:rPr lang="en-US" sz="1200" b="1" dirty="0">
                <a:solidFill>
                  <a:srgbClr val="1E3A68"/>
                </a:solidFill>
                <a:latin typeface="Calibri" pitchFamily="34" charset="0"/>
                <a:ea typeface="Calibri" pitchFamily="34" charset="-122"/>
                <a:cs typeface="Calibri" pitchFamily="34" charset="-120"/>
              </a:rPr>
              <a:t>Price per room</a:t>
            </a:r>
            <a:endParaRPr lang="en-US" sz="1200" dirty="0"/>
          </a:p>
          <a:p>
            <a:pPr marL="0" indent="0">
              <a:spcAft>
                <a:spcPts val="800"/>
              </a:spcAft>
              <a:buNone/>
            </a:pPr>
            <a:r>
              <a:rPr lang="en-US" sz="1200" dirty="0">
                <a:solidFill>
                  <a:srgbClr val="1E293B"/>
                </a:solidFill>
                <a:latin typeface="Calibri" pitchFamily="34" charset="0"/>
                <a:ea typeface="Calibri" pitchFamily="34" charset="-122"/>
                <a:cs typeface="Calibri" pitchFamily="34" charset="-120"/>
              </a:rPr>
              <a:t>Slightly higher for canceled bookings. Pricier rooms get second-guessed.</a:t>
            </a:r>
            <a:endParaRPr lang="en-US" sz="1200" dirty="0"/>
          </a:p>
          <a:p>
            <a:pPr marL="0" indent="0">
              <a:buNone/>
            </a:pPr>
            <a:r>
              <a:rPr lang="en-US" sz="1200" b="1" dirty="0">
                <a:solidFill>
                  <a:srgbClr val="1E3A68"/>
                </a:solidFill>
                <a:latin typeface="Calibri" pitchFamily="34" charset="0"/>
                <a:ea typeface="Calibri" pitchFamily="34" charset="-122"/>
                <a:cs typeface="Calibri" pitchFamily="34" charset="-120"/>
              </a:rPr>
              <a:t>Length of stay</a:t>
            </a:r>
            <a:endParaRPr lang="en-US" sz="1200" dirty="0"/>
          </a:p>
          <a:p>
            <a:pPr marL="0" indent="0">
              <a:buNone/>
            </a:pPr>
            <a:r>
              <a:rPr lang="en-US" sz="1200" dirty="0">
                <a:solidFill>
                  <a:srgbClr val="1E293B"/>
                </a:solidFill>
                <a:latin typeface="Calibri" pitchFamily="34" charset="0"/>
                <a:ea typeface="Calibri" pitchFamily="34" charset="-122"/>
                <a:cs typeface="Calibri" pitchFamily="34" charset="-120"/>
              </a:rPr>
              <a:t>Weak predictor. Distributions overlap heavily between the two classes.</a:t>
            </a:r>
            <a:endParaRPr lang="en-US" sz="1200" dirty="0"/>
          </a:p>
        </p:txBody>
      </p:sp>
      <p:sp>
        <p:nvSpPr>
          <p:cNvPr id="8" name="Shape 5"/>
          <p:cNvSpPr/>
          <p:nvPr/>
        </p:nvSpPr>
        <p:spPr>
          <a:xfrm>
            <a:off x="0" y="6675120"/>
            <a:ext cx="12161520" cy="182880"/>
          </a:xfrm>
          <a:prstGeom prst="rect">
            <a:avLst/>
          </a:prstGeom>
          <a:solidFill>
            <a:srgbClr val="1E3A68"/>
          </a:solidFill>
          <a:ln w="12700">
            <a:solidFill>
              <a:srgbClr val="1E3A68"/>
            </a:solidFill>
            <a:prstDash val="solid"/>
          </a:ln>
        </p:spPr>
        <p:txBody>
          <a:bodyPr/>
          <a:lstStyle/>
          <a:p>
            <a:endParaRPr lang="en-US"/>
          </a:p>
        </p:txBody>
      </p:sp>
      <p:sp>
        <p:nvSpPr>
          <p:cNvPr id="9" name="Text 6"/>
          <p:cNvSpPr/>
          <p:nvPr/>
        </p:nvSpPr>
        <p:spPr>
          <a:xfrm>
            <a:off x="365760" y="6675120"/>
            <a:ext cx="6400800" cy="18288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Hotel Booking Cancellation Prediction  |  Team 32</a:t>
            </a:r>
            <a:endParaRPr lang="en-US" sz="900" dirty="0"/>
          </a:p>
        </p:txBody>
      </p:sp>
      <p:sp>
        <p:nvSpPr>
          <p:cNvPr id="10" name="Text 7"/>
          <p:cNvSpPr/>
          <p:nvPr/>
        </p:nvSpPr>
        <p:spPr>
          <a:xfrm>
            <a:off x="11338560" y="6675120"/>
            <a:ext cx="548640" cy="18288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10 / 19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0972800" cy="274320"/>
          </a:xfrm>
          <a:prstGeom prst="rect">
            <a:avLst/>
          </a:prstGeom>
          <a:noFill/>
          <a:ln/>
        </p:spPr>
        <p:txBody>
          <a:bodyPr wrap="square" lIns="0" tIns="0" rIns="0" bIns="0" rtlCol="0" anchor="ctr"/>
          <a:lstStyle/>
          <a:p>
            <a:pPr marL="0" indent="0">
              <a:buNone/>
            </a:pPr>
            <a:r>
              <a:rPr lang="en-US" sz="1100" b="1" kern="0" spc="400" dirty="0">
                <a:solidFill>
                  <a:srgbClr val="F59E0B"/>
                </a:solidFill>
                <a:latin typeface="Calibri" pitchFamily="34" charset="0"/>
                <a:ea typeface="Calibri" pitchFamily="34" charset="-122"/>
                <a:cs typeface="Calibri" pitchFamily="34" charset="-120"/>
              </a:rPr>
              <a:t>04  ·  MODELS</a:t>
            </a:r>
            <a:endParaRPr lang="en-US" sz="1100" dirty="0"/>
          </a:p>
        </p:txBody>
      </p:sp>
      <p:sp>
        <p:nvSpPr>
          <p:cNvPr id="3" name="Text 1"/>
          <p:cNvSpPr/>
          <p:nvPr/>
        </p:nvSpPr>
        <p:spPr>
          <a:xfrm>
            <a:off x="548640" y="594360"/>
            <a:ext cx="10972800" cy="640080"/>
          </a:xfrm>
          <a:prstGeom prst="rect">
            <a:avLst/>
          </a:prstGeom>
          <a:noFill/>
          <a:ln/>
        </p:spPr>
        <p:txBody>
          <a:bodyPr wrap="square" lIns="0" tIns="0" rIns="0" bIns="0" rtlCol="0" anchor="ctr"/>
          <a:lstStyle/>
          <a:p>
            <a:pPr marL="0" indent="0">
              <a:buNone/>
            </a:pPr>
            <a:r>
              <a:rPr lang="en-US" sz="3000" b="1" dirty="0">
                <a:solidFill>
                  <a:srgbClr val="1E3A68"/>
                </a:solidFill>
                <a:latin typeface="Calibri" pitchFamily="34" charset="0"/>
                <a:ea typeface="Calibri" pitchFamily="34" charset="-122"/>
                <a:cs typeface="Calibri" pitchFamily="34" charset="-120"/>
              </a:rPr>
              <a:t>Five Algorithms, One Fair Pipeline</a:t>
            </a:r>
            <a:endParaRPr lang="en-US" sz="3000" dirty="0"/>
          </a:p>
        </p:txBody>
      </p:sp>
      <p:sp>
        <p:nvSpPr>
          <p:cNvPr id="4" name="Shape 2"/>
          <p:cNvSpPr/>
          <p:nvPr/>
        </p:nvSpPr>
        <p:spPr>
          <a:xfrm>
            <a:off x="411480" y="1691640"/>
            <a:ext cx="2176272" cy="4023360"/>
          </a:xfrm>
          <a:prstGeom prst="rect">
            <a:avLst/>
          </a:prstGeom>
          <a:solidFill>
            <a:srgbClr val="FFFFFF"/>
          </a:solidFill>
          <a:ln w="12700">
            <a:solidFill>
              <a:srgbClr val="DCE5F2"/>
            </a:solidFill>
            <a:prstDash val="solid"/>
          </a:ln>
          <a:effectLst>
            <a:outerShdw blurRad="127000" dist="25400" dir="5400000" algn="bl" rotWithShape="0">
              <a:srgbClr val="000000">
                <a:alpha val="10000"/>
              </a:srgbClr>
            </a:outerShdw>
          </a:effectLst>
        </p:spPr>
        <p:txBody>
          <a:bodyPr/>
          <a:lstStyle/>
          <a:p>
            <a:endParaRPr lang="en-US"/>
          </a:p>
        </p:txBody>
      </p:sp>
      <p:sp>
        <p:nvSpPr>
          <p:cNvPr id="5" name="Shape 3"/>
          <p:cNvSpPr/>
          <p:nvPr/>
        </p:nvSpPr>
        <p:spPr>
          <a:xfrm>
            <a:off x="996696" y="1965960"/>
            <a:ext cx="1005840" cy="1005840"/>
          </a:xfrm>
          <a:prstGeom prst="ellipse">
            <a:avLst/>
          </a:prstGeom>
          <a:solidFill>
            <a:srgbClr val="1E3A68"/>
          </a:solidFill>
          <a:ln w="12700">
            <a:solidFill>
              <a:srgbClr val="1E3A68"/>
            </a:solidFill>
            <a:prstDash val="solid"/>
          </a:ln>
        </p:spPr>
        <p:txBody>
          <a:bodyPr/>
          <a:lstStyle/>
          <a:p>
            <a:endParaRPr lang="en-US"/>
          </a:p>
        </p:txBody>
      </p:sp>
      <p:sp>
        <p:nvSpPr>
          <p:cNvPr id="6" name="Text 4"/>
          <p:cNvSpPr/>
          <p:nvPr/>
        </p:nvSpPr>
        <p:spPr>
          <a:xfrm>
            <a:off x="996696" y="1965960"/>
            <a:ext cx="1005840" cy="10058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LR</a:t>
            </a:r>
            <a:endParaRPr lang="en-US" sz="2000" dirty="0"/>
          </a:p>
        </p:txBody>
      </p:sp>
      <p:sp>
        <p:nvSpPr>
          <p:cNvPr id="7" name="Text 5"/>
          <p:cNvSpPr/>
          <p:nvPr/>
        </p:nvSpPr>
        <p:spPr>
          <a:xfrm>
            <a:off x="502920" y="3108960"/>
            <a:ext cx="1993392" cy="685800"/>
          </a:xfrm>
          <a:prstGeom prst="rect">
            <a:avLst/>
          </a:prstGeom>
          <a:noFill/>
          <a:ln/>
        </p:spPr>
        <p:txBody>
          <a:bodyPr wrap="square" lIns="0" tIns="0" rIns="0" bIns="0" rtlCol="0" anchor="ctr"/>
          <a:lstStyle/>
          <a:p>
            <a:pPr marL="0" indent="0" algn="ctr">
              <a:buNone/>
            </a:pPr>
            <a:r>
              <a:rPr lang="en-US" sz="1400" b="1" dirty="0">
                <a:solidFill>
                  <a:srgbClr val="1E3A68"/>
                </a:solidFill>
                <a:latin typeface="Calibri" pitchFamily="34" charset="0"/>
                <a:ea typeface="Calibri" pitchFamily="34" charset="-122"/>
                <a:cs typeface="Calibri" pitchFamily="34" charset="-120"/>
              </a:rPr>
              <a:t>Logistic Regression</a:t>
            </a:r>
            <a:endParaRPr lang="en-US" sz="1400" dirty="0"/>
          </a:p>
        </p:txBody>
      </p:sp>
      <p:sp>
        <p:nvSpPr>
          <p:cNvPr id="8" name="Text 6"/>
          <p:cNvSpPr/>
          <p:nvPr/>
        </p:nvSpPr>
        <p:spPr>
          <a:xfrm>
            <a:off x="576072" y="3886200"/>
            <a:ext cx="1847088" cy="1417320"/>
          </a:xfrm>
          <a:prstGeom prst="rect">
            <a:avLst/>
          </a:prstGeom>
          <a:noFill/>
          <a:ln/>
        </p:spPr>
        <p:txBody>
          <a:bodyPr wrap="square" lIns="0" tIns="0" rIns="0" bIns="0" rtlCol="0" anchor="t"/>
          <a:lstStyle/>
          <a:p>
            <a:pPr marL="0" indent="0" algn="ctr">
              <a:buNone/>
            </a:pPr>
            <a:r>
              <a:rPr lang="en-US" sz="1100" dirty="0">
                <a:solidFill>
                  <a:srgbClr val="1E293B"/>
                </a:solidFill>
                <a:latin typeface="Calibri" pitchFamily="34" charset="0"/>
                <a:ea typeface="Calibri" pitchFamily="34" charset="-122"/>
                <a:cs typeface="Calibri" pitchFamily="34" charset="-120"/>
              </a:rPr>
              <a:t>Linear baseline. Fast, interpretable, simple decision boundary.</a:t>
            </a:r>
            <a:endParaRPr lang="en-US" sz="1100" dirty="0"/>
          </a:p>
        </p:txBody>
      </p:sp>
      <p:sp>
        <p:nvSpPr>
          <p:cNvPr id="9" name="Shape 7"/>
          <p:cNvSpPr/>
          <p:nvPr/>
        </p:nvSpPr>
        <p:spPr>
          <a:xfrm>
            <a:off x="2734056" y="1691640"/>
            <a:ext cx="2176272" cy="4023360"/>
          </a:xfrm>
          <a:prstGeom prst="rect">
            <a:avLst/>
          </a:prstGeom>
          <a:solidFill>
            <a:srgbClr val="FFFFFF"/>
          </a:solidFill>
          <a:ln w="12700">
            <a:solidFill>
              <a:srgbClr val="DCE5F2"/>
            </a:solidFill>
            <a:prstDash val="solid"/>
          </a:ln>
          <a:effectLst>
            <a:outerShdw blurRad="127000" dist="25400" dir="5400000" algn="bl" rotWithShape="0">
              <a:srgbClr val="000000">
                <a:alpha val="10000"/>
              </a:srgbClr>
            </a:outerShdw>
          </a:effectLst>
        </p:spPr>
        <p:txBody>
          <a:bodyPr/>
          <a:lstStyle/>
          <a:p>
            <a:endParaRPr lang="en-US"/>
          </a:p>
        </p:txBody>
      </p:sp>
      <p:sp>
        <p:nvSpPr>
          <p:cNvPr id="10" name="Shape 8"/>
          <p:cNvSpPr/>
          <p:nvPr/>
        </p:nvSpPr>
        <p:spPr>
          <a:xfrm>
            <a:off x="3319272" y="1965960"/>
            <a:ext cx="1005840" cy="1005840"/>
          </a:xfrm>
          <a:prstGeom prst="ellipse">
            <a:avLst/>
          </a:prstGeom>
          <a:solidFill>
            <a:srgbClr val="1E3A68"/>
          </a:solidFill>
          <a:ln w="12700">
            <a:solidFill>
              <a:srgbClr val="1E3A68"/>
            </a:solidFill>
            <a:prstDash val="solid"/>
          </a:ln>
        </p:spPr>
        <p:txBody>
          <a:bodyPr/>
          <a:lstStyle/>
          <a:p>
            <a:endParaRPr lang="en-US"/>
          </a:p>
        </p:txBody>
      </p:sp>
      <p:sp>
        <p:nvSpPr>
          <p:cNvPr id="11" name="Text 9"/>
          <p:cNvSpPr/>
          <p:nvPr/>
        </p:nvSpPr>
        <p:spPr>
          <a:xfrm>
            <a:off x="3319272" y="1965960"/>
            <a:ext cx="1005840" cy="10058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KNN</a:t>
            </a:r>
            <a:endParaRPr lang="en-US" sz="2000" dirty="0"/>
          </a:p>
        </p:txBody>
      </p:sp>
      <p:sp>
        <p:nvSpPr>
          <p:cNvPr id="12" name="Text 10"/>
          <p:cNvSpPr/>
          <p:nvPr/>
        </p:nvSpPr>
        <p:spPr>
          <a:xfrm>
            <a:off x="2825496" y="3108960"/>
            <a:ext cx="1993392" cy="685800"/>
          </a:xfrm>
          <a:prstGeom prst="rect">
            <a:avLst/>
          </a:prstGeom>
          <a:noFill/>
          <a:ln/>
        </p:spPr>
        <p:txBody>
          <a:bodyPr wrap="square" lIns="0" tIns="0" rIns="0" bIns="0" rtlCol="0" anchor="ctr"/>
          <a:lstStyle/>
          <a:p>
            <a:pPr marL="0" indent="0" algn="ctr">
              <a:buNone/>
            </a:pPr>
            <a:r>
              <a:rPr lang="en-US" sz="1400" b="1" dirty="0">
                <a:solidFill>
                  <a:srgbClr val="1E3A68"/>
                </a:solidFill>
                <a:latin typeface="Calibri" pitchFamily="34" charset="0"/>
                <a:ea typeface="Calibri" pitchFamily="34" charset="-122"/>
                <a:cs typeface="Calibri" pitchFamily="34" charset="-120"/>
              </a:rPr>
              <a:t>K-Nearest Neighbors</a:t>
            </a:r>
            <a:endParaRPr lang="en-US" sz="1400" dirty="0"/>
          </a:p>
        </p:txBody>
      </p:sp>
      <p:sp>
        <p:nvSpPr>
          <p:cNvPr id="13" name="Text 11"/>
          <p:cNvSpPr/>
          <p:nvPr/>
        </p:nvSpPr>
        <p:spPr>
          <a:xfrm>
            <a:off x="2898648" y="3886200"/>
            <a:ext cx="1847088" cy="1417320"/>
          </a:xfrm>
          <a:prstGeom prst="rect">
            <a:avLst/>
          </a:prstGeom>
          <a:noFill/>
          <a:ln/>
        </p:spPr>
        <p:txBody>
          <a:bodyPr wrap="square" lIns="0" tIns="0" rIns="0" bIns="0" rtlCol="0" anchor="t"/>
          <a:lstStyle/>
          <a:p>
            <a:pPr marL="0" indent="0" algn="ctr">
              <a:buNone/>
            </a:pPr>
            <a:r>
              <a:rPr lang="en-US" sz="1100" dirty="0">
                <a:solidFill>
                  <a:srgbClr val="1E293B"/>
                </a:solidFill>
                <a:latin typeface="Calibri" pitchFamily="34" charset="0"/>
                <a:ea typeface="Calibri" pitchFamily="34" charset="-122"/>
                <a:cs typeface="Calibri" pitchFamily="34" charset="-120"/>
              </a:rPr>
              <a:t>Lazy learner. Predicts by looking at the k closest neighbors (k = 5).</a:t>
            </a:r>
            <a:endParaRPr lang="en-US" sz="1100" dirty="0"/>
          </a:p>
        </p:txBody>
      </p:sp>
      <p:sp>
        <p:nvSpPr>
          <p:cNvPr id="14" name="Shape 12"/>
          <p:cNvSpPr/>
          <p:nvPr/>
        </p:nvSpPr>
        <p:spPr>
          <a:xfrm>
            <a:off x="5056632" y="1703672"/>
            <a:ext cx="2176272" cy="4023360"/>
          </a:xfrm>
          <a:prstGeom prst="rect">
            <a:avLst/>
          </a:prstGeom>
          <a:solidFill>
            <a:srgbClr val="FFFFFF"/>
          </a:solidFill>
          <a:ln w="12700">
            <a:solidFill>
              <a:srgbClr val="DCE5F2"/>
            </a:solidFill>
            <a:prstDash val="solid"/>
          </a:ln>
          <a:effectLst>
            <a:outerShdw blurRad="127000" dist="25400" dir="5400000" algn="bl" rotWithShape="0">
              <a:srgbClr val="000000">
                <a:alpha val="10000"/>
              </a:srgbClr>
            </a:outerShdw>
          </a:effectLst>
        </p:spPr>
        <p:txBody>
          <a:bodyPr/>
          <a:lstStyle/>
          <a:p>
            <a:endParaRPr lang="en-US"/>
          </a:p>
        </p:txBody>
      </p:sp>
      <p:sp>
        <p:nvSpPr>
          <p:cNvPr id="15" name="Shape 13"/>
          <p:cNvSpPr/>
          <p:nvPr/>
        </p:nvSpPr>
        <p:spPr>
          <a:xfrm>
            <a:off x="5641848" y="1965960"/>
            <a:ext cx="1005840" cy="1005840"/>
          </a:xfrm>
          <a:prstGeom prst="ellipse">
            <a:avLst/>
          </a:prstGeom>
          <a:solidFill>
            <a:srgbClr val="1E3A68"/>
          </a:solidFill>
          <a:ln w="12700">
            <a:solidFill>
              <a:srgbClr val="1E3A68"/>
            </a:solidFill>
            <a:prstDash val="solid"/>
          </a:ln>
        </p:spPr>
        <p:txBody>
          <a:bodyPr/>
          <a:lstStyle/>
          <a:p>
            <a:endParaRPr lang="en-US"/>
          </a:p>
        </p:txBody>
      </p:sp>
      <p:sp>
        <p:nvSpPr>
          <p:cNvPr id="16" name="Text 14"/>
          <p:cNvSpPr/>
          <p:nvPr/>
        </p:nvSpPr>
        <p:spPr>
          <a:xfrm>
            <a:off x="5641848" y="1965960"/>
            <a:ext cx="1005840" cy="10058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DT</a:t>
            </a:r>
            <a:endParaRPr lang="en-US" sz="2000" dirty="0"/>
          </a:p>
        </p:txBody>
      </p:sp>
      <p:sp>
        <p:nvSpPr>
          <p:cNvPr id="17" name="Text 15"/>
          <p:cNvSpPr/>
          <p:nvPr/>
        </p:nvSpPr>
        <p:spPr>
          <a:xfrm>
            <a:off x="5148072" y="3108960"/>
            <a:ext cx="1993392" cy="685800"/>
          </a:xfrm>
          <a:prstGeom prst="rect">
            <a:avLst/>
          </a:prstGeom>
          <a:noFill/>
          <a:ln/>
        </p:spPr>
        <p:txBody>
          <a:bodyPr wrap="square" lIns="0" tIns="0" rIns="0" bIns="0" rtlCol="0" anchor="ctr"/>
          <a:lstStyle/>
          <a:p>
            <a:pPr marL="0" indent="0" algn="ctr">
              <a:buNone/>
            </a:pPr>
            <a:r>
              <a:rPr lang="en-US" sz="1400" b="1" dirty="0">
                <a:solidFill>
                  <a:srgbClr val="1E3A68"/>
                </a:solidFill>
                <a:latin typeface="Calibri" pitchFamily="34" charset="0"/>
                <a:ea typeface="Calibri" pitchFamily="34" charset="-122"/>
                <a:cs typeface="Calibri" pitchFamily="34" charset="-120"/>
              </a:rPr>
              <a:t>Decision Tree</a:t>
            </a:r>
            <a:endParaRPr lang="en-US" sz="1400" dirty="0"/>
          </a:p>
        </p:txBody>
      </p:sp>
      <p:sp>
        <p:nvSpPr>
          <p:cNvPr id="18" name="Text 16"/>
          <p:cNvSpPr/>
          <p:nvPr/>
        </p:nvSpPr>
        <p:spPr>
          <a:xfrm>
            <a:off x="5221224" y="3886200"/>
            <a:ext cx="1847088" cy="1417320"/>
          </a:xfrm>
          <a:prstGeom prst="rect">
            <a:avLst/>
          </a:prstGeom>
          <a:noFill/>
          <a:ln/>
        </p:spPr>
        <p:txBody>
          <a:bodyPr wrap="square" lIns="0" tIns="0" rIns="0" bIns="0" rtlCol="0" anchor="t"/>
          <a:lstStyle/>
          <a:p>
            <a:pPr marL="0" indent="0" algn="ctr">
              <a:buNone/>
            </a:pPr>
            <a:r>
              <a:rPr lang="en-US" sz="1100" dirty="0">
                <a:solidFill>
                  <a:srgbClr val="1E293B"/>
                </a:solidFill>
                <a:latin typeface="Calibri" pitchFamily="34" charset="0"/>
                <a:ea typeface="Calibri" pitchFamily="34" charset="-122"/>
                <a:cs typeface="Calibri" pitchFamily="34" charset="-120"/>
              </a:rPr>
              <a:t>Splits data with yes/no questions. Handles non-linear patterns.</a:t>
            </a:r>
            <a:endParaRPr lang="en-US" sz="1100" dirty="0"/>
          </a:p>
        </p:txBody>
      </p:sp>
      <p:sp>
        <p:nvSpPr>
          <p:cNvPr id="19" name="Shape 17"/>
          <p:cNvSpPr/>
          <p:nvPr/>
        </p:nvSpPr>
        <p:spPr>
          <a:xfrm>
            <a:off x="7379208" y="1691640"/>
            <a:ext cx="2176272" cy="4023360"/>
          </a:xfrm>
          <a:prstGeom prst="rect">
            <a:avLst/>
          </a:prstGeom>
          <a:solidFill>
            <a:srgbClr val="FFF8E6"/>
          </a:solidFill>
          <a:ln w="31750">
            <a:solidFill>
              <a:srgbClr val="F59E0B"/>
            </a:solidFill>
            <a:prstDash val="solid"/>
          </a:ln>
          <a:effectLst>
            <a:outerShdw blurRad="127000" dist="25400" dir="5400000" algn="bl" rotWithShape="0">
              <a:srgbClr val="000000">
                <a:alpha val="10000"/>
              </a:srgbClr>
            </a:outerShdw>
          </a:effectLst>
        </p:spPr>
        <p:txBody>
          <a:bodyPr/>
          <a:lstStyle/>
          <a:p>
            <a:endParaRPr lang="en-US"/>
          </a:p>
        </p:txBody>
      </p:sp>
      <p:sp>
        <p:nvSpPr>
          <p:cNvPr id="20" name="Shape 18"/>
          <p:cNvSpPr/>
          <p:nvPr/>
        </p:nvSpPr>
        <p:spPr>
          <a:xfrm>
            <a:off x="7964424" y="1965960"/>
            <a:ext cx="1005840" cy="1005840"/>
          </a:xfrm>
          <a:prstGeom prst="ellipse">
            <a:avLst/>
          </a:prstGeom>
          <a:solidFill>
            <a:srgbClr val="F59E0B"/>
          </a:solidFill>
          <a:ln w="12700">
            <a:solidFill>
              <a:srgbClr val="F59E0B"/>
            </a:solidFill>
            <a:prstDash val="solid"/>
          </a:ln>
        </p:spPr>
        <p:txBody>
          <a:bodyPr/>
          <a:lstStyle/>
          <a:p>
            <a:endParaRPr lang="en-US"/>
          </a:p>
        </p:txBody>
      </p:sp>
      <p:sp>
        <p:nvSpPr>
          <p:cNvPr id="21" name="Text 19"/>
          <p:cNvSpPr/>
          <p:nvPr/>
        </p:nvSpPr>
        <p:spPr>
          <a:xfrm>
            <a:off x="7964424" y="1965960"/>
            <a:ext cx="1005840" cy="10058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RF</a:t>
            </a:r>
            <a:endParaRPr lang="en-US" sz="2000" dirty="0"/>
          </a:p>
        </p:txBody>
      </p:sp>
      <p:sp>
        <p:nvSpPr>
          <p:cNvPr id="22" name="Text 20"/>
          <p:cNvSpPr/>
          <p:nvPr/>
        </p:nvSpPr>
        <p:spPr>
          <a:xfrm>
            <a:off x="7470648" y="3108960"/>
            <a:ext cx="1993392" cy="685800"/>
          </a:xfrm>
          <a:prstGeom prst="rect">
            <a:avLst/>
          </a:prstGeom>
          <a:noFill/>
          <a:ln/>
        </p:spPr>
        <p:txBody>
          <a:bodyPr wrap="square" lIns="0" tIns="0" rIns="0" bIns="0" rtlCol="0" anchor="ctr"/>
          <a:lstStyle/>
          <a:p>
            <a:pPr marL="0" indent="0" algn="ctr">
              <a:buNone/>
            </a:pPr>
            <a:r>
              <a:rPr lang="en-US" sz="1400" b="1" dirty="0">
                <a:solidFill>
                  <a:srgbClr val="1E3A68"/>
                </a:solidFill>
                <a:latin typeface="Calibri" pitchFamily="34" charset="0"/>
                <a:ea typeface="Calibri" pitchFamily="34" charset="-122"/>
                <a:cs typeface="Calibri" pitchFamily="34" charset="-120"/>
              </a:rPr>
              <a:t>Random Forest</a:t>
            </a:r>
            <a:endParaRPr lang="en-US" sz="1400" dirty="0"/>
          </a:p>
        </p:txBody>
      </p:sp>
      <p:sp>
        <p:nvSpPr>
          <p:cNvPr id="23" name="Text 21"/>
          <p:cNvSpPr/>
          <p:nvPr/>
        </p:nvSpPr>
        <p:spPr>
          <a:xfrm>
            <a:off x="7543800" y="3886200"/>
            <a:ext cx="1847088" cy="1417320"/>
          </a:xfrm>
          <a:prstGeom prst="rect">
            <a:avLst/>
          </a:prstGeom>
          <a:noFill/>
          <a:ln/>
        </p:spPr>
        <p:txBody>
          <a:bodyPr wrap="square" lIns="0" tIns="0" rIns="0" bIns="0" rtlCol="0" anchor="t"/>
          <a:lstStyle/>
          <a:p>
            <a:pPr marL="0" indent="0" algn="ctr">
              <a:buNone/>
            </a:pPr>
            <a:r>
              <a:rPr lang="en-US" sz="1100" dirty="0">
                <a:solidFill>
                  <a:srgbClr val="1E293B"/>
                </a:solidFill>
                <a:latin typeface="Calibri" pitchFamily="34" charset="0"/>
                <a:ea typeface="Calibri" pitchFamily="34" charset="-122"/>
                <a:cs typeface="Calibri" pitchFamily="34" charset="-120"/>
              </a:rPr>
              <a:t>Ensemble of 100 trees. Robust to overfitting and high dimensions.</a:t>
            </a:r>
            <a:endParaRPr lang="en-US" sz="1100" dirty="0"/>
          </a:p>
        </p:txBody>
      </p:sp>
      <p:sp>
        <p:nvSpPr>
          <p:cNvPr id="24" name="Text 22"/>
          <p:cNvSpPr/>
          <p:nvPr/>
        </p:nvSpPr>
        <p:spPr>
          <a:xfrm>
            <a:off x="7543800" y="5257800"/>
            <a:ext cx="1847088" cy="292608"/>
          </a:xfrm>
          <a:prstGeom prst="rect">
            <a:avLst/>
          </a:prstGeom>
          <a:noFill/>
          <a:ln/>
        </p:spPr>
        <p:txBody>
          <a:bodyPr wrap="square" lIns="0" tIns="0" rIns="0" bIns="0" rtlCol="0" anchor="ctr"/>
          <a:lstStyle/>
          <a:p>
            <a:pPr marL="0" indent="0" algn="ctr">
              <a:buNone/>
            </a:pPr>
            <a:r>
              <a:rPr lang="en-US" sz="1100" b="1" kern="0" spc="400" dirty="0">
                <a:solidFill>
                  <a:srgbClr val="F59E0B"/>
                </a:solidFill>
                <a:latin typeface="Calibri" pitchFamily="34" charset="0"/>
                <a:ea typeface="Calibri" pitchFamily="34" charset="-122"/>
                <a:cs typeface="Calibri" pitchFamily="34" charset="-120"/>
              </a:rPr>
              <a:t>WINNER</a:t>
            </a:r>
            <a:endParaRPr lang="en-US" sz="1100" dirty="0"/>
          </a:p>
        </p:txBody>
      </p:sp>
      <p:sp>
        <p:nvSpPr>
          <p:cNvPr id="25" name="Shape 23"/>
          <p:cNvSpPr/>
          <p:nvPr/>
        </p:nvSpPr>
        <p:spPr>
          <a:xfrm>
            <a:off x="9701784" y="1691640"/>
            <a:ext cx="2176272" cy="4023360"/>
          </a:xfrm>
          <a:prstGeom prst="rect">
            <a:avLst/>
          </a:prstGeom>
          <a:solidFill>
            <a:srgbClr val="FFFFFF"/>
          </a:solidFill>
          <a:ln w="12700">
            <a:solidFill>
              <a:srgbClr val="DCE5F2"/>
            </a:solidFill>
            <a:prstDash val="solid"/>
          </a:ln>
          <a:effectLst>
            <a:outerShdw blurRad="127000" dist="25400" dir="5400000" algn="bl" rotWithShape="0">
              <a:srgbClr val="000000">
                <a:alpha val="10000"/>
              </a:srgbClr>
            </a:outerShdw>
          </a:effectLst>
        </p:spPr>
        <p:txBody>
          <a:bodyPr/>
          <a:lstStyle/>
          <a:p>
            <a:endParaRPr lang="en-US"/>
          </a:p>
        </p:txBody>
      </p:sp>
      <p:sp>
        <p:nvSpPr>
          <p:cNvPr id="26" name="Shape 24"/>
          <p:cNvSpPr/>
          <p:nvPr/>
        </p:nvSpPr>
        <p:spPr>
          <a:xfrm>
            <a:off x="10287000" y="1965960"/>
            <a:ext cx="1005840" cy="1005840"/>
          </a:xfrm>
          <a:prstGeom prst="ellipse">
            <a:avLst/>
          </a:prstGeom>
          <a:solidFill>
            <a:srgbClr val="1E3A68"/>
          </a:solidFill>
          <a:ln w="12700">
            <a:solidFill>
              <a:srgbClr val="1E3A68"/>
            </a:solidFill>
            <a:prstDash val="solid"/>
          </a:ln>
        </p:spPr>
        <p:txBody>
          <a:bodyPr/>
          <a:lstStyle/>
          <a:p>
            <a:endParaRPr lang="en-US"/>
          </a:p>
        </p:txBody>
      </p:sp>
      <p:sp>
        <p:nvSpPr>
          <p:cNvPr id="27" name="Text 25"/>
          <p:cNvSpPr/>
          <p:nvPr/>
        </p:nvSpPr>
        <p:spPr>
          <a:xfrm>
            <a:off x="10287000" y="1965960"/>
            <a:ext cx="1005840" cy="10058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CNN</a:t>
            </a:r>
            <a:endParaRPr lang="en-US" sz="2000" dirty="0"/>
          </a:p>
        </p:txBody>
      </p:sp>
      <p:sp>
        <p:nvSpPr>
          <p:cNvPr id="28" name="Text 26"/>
          <p:cNvSpPr/>
          <p:nvPr/>
        </p:nvSpPr>
        <p:spPr>
          <a:xfrm>
            <a:off x="9793224" y="3108960"/>
            <a:ext cx="1993392" cy="685800"/>
          </a:xfrm>
          <a:prstGeom prst="rect">
            <a:avLst/>
          </a:prstGeom>
          <a:noFill/>
          <a:ln/>
        </p:spPr>
        <p:txBody>
          <a:bodyPr wrap="square" lIns="0" tIns="0" rIns="0" bIns="0" rtlCol="0" anchor="ctr"/>
          <a:lstStyle/>
          <a:p>
            <a:pPr marL="0" indent="0" algn="ctr">
              <a:buNone/>
            </a:pPr>
            <a:r>
              <a:rPr lang="en-US" sz="1400" b="1" dirty="0">
                <a:solidFill>
                  <a:srgbClr val="1E3A68"/>
                </a:solidFill>
                <a:latin typeface="Calibri" pitchFamily="34" charset="0"/>
                <a:ea typeface="Calibri" pitchFamily="34" charset="-122"/>
                <a:cs typeface="Calibri" pitchFamily="34" charset="-120"/>
              </a:rPr>
              <a:t>1D CNN</a:t>
            </a:r>
            <a:endParaRPr lang="en-US" sz="1400" dirty="0"/>
          </a:p>
        </p:txBody>
      </p:sp>
      <p:sp>
        <p:nvSpPr>
          <p:cNvPr id="29" name="Text 27"/>
          <p:cNvSpPr/>
          <p:nvPr/>
        </p:nvSpPr>
        <p:spPr>
          <a:xfrm>
            <a:off x="9866376" y="3886200"/>
            <a:ext cx="1847088" cy="1417320"/>
          </a:xfrm>
          <a:prstGeom prst="rect">
            <a:avLst/>
          </a:prstGeom>
          <a:noFill/>
          <a:ln/>
        </p:spPr>
        <p:txBody>
          <a:bodyPr wrap="square" lIns="0" tIns="0" rIns="0" bIns="0" rtlCol="0" anchor="t"/>
          <a:lstStyle/>
          <a:p>
            <a:pPr marL="0" indent="0" algn="ctr">
              <a:buNone/>
            </a:pPr>
            <a:r>
              <a:rPr lang="en-US" sz="1100" dirty="0">
                <a:solidFill>
                  <a:srgbClr val="1E293B"/>
                </a:solidFill>
                <a:latin typeface="Calibri" pitchFamily="34" charset="0"/>
                <a:ea typeface="Calibri" pitchFamily="34" charset="-122"/>
                <a:cs typeface="Calibri" pitchFamily="34" charset="-120"/>
              </a:rPr>
              <a:t>Conv1D + dense layers. Tests deep learning on tabular data.</a:t>
            </a:r>
            <a:endParaRPr lang="en-US" sz="1100" dirty="0"/>
          </a:p>
        </p:txBody>
      </p:sp>
      <p:sp>
        <p:nvSpPr>
          <p:cNvPr id="30" name="Shape 28"/>
          <p:cNvSpPr/>
          <p:nvPr/>
        </p:nvSpPr>
        <p:spPr>
          <a:xfrm>
            <a:off x="0" y="6675120"/>
            <a:ext cx="12161520" cy="182880"/>
          </a:xfrm>
          <a:prstGeom prst="rect">
            <a:avLst/>
          </a:prstGeom>
          <a:solidFill>
            <a:srgbClr val="1E3A68"/>
          </a:solidFill>
          <a:ln w="12700">
            <a:solidFill>
              <a:srgbClr val="1E3A68"/>
            </a:solidFill>
            <a:prstDash val="solid"/>
          </a:ln>
        </p:spPr>
        <p:txBody>
          <a:bodyPr/>
          <a:lstStyle/>
          <a:p>
            <a:endParaRPr lang="en-US"/>
          </a:p>
        </p:txBody>
      </p:sp>
      <p:sp>
        <p:nvSpPr>
          <p:cNvPr id="31" name="Text 29"/>
          <p:cNvSpPr/>
          <p:nvPr/>
        </p:nvSpPr>
        <p:spPr>
          <a:xfrm>
            <a:off x="365760" y="6675120"/>
            <a:ext cx="6400800" cy="18288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Hotel Booking Cancellation Prediction  |  Team 32</a:t>
            </a:r>
            <a:endParaRPr lang="en-US" sz="900" dirty="0"/>
          </a:p>
        </p:txBody>
      </p:sp>
      <p:sp>
        <p:nvSpPr>
          <p:cNvPr id="32" name="Text 30"/>
          <p:cNvSpPr/>
          <p:nvPr/>
        </p:nvSpPr>
        <p:spPr>
          <a:xfrm>
            <a:off x="11338560" y="6675120"/>
            <a:ext cx="548640" cy="18288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11 / 19</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0972800" cy="274320"/>
          </a:xfrm>
          <a:prstGeom prst="rect">
            <a:avLst/>
          </a:prstGeom>
          <a:noFill/>
          <a:ln/>
        </p:spPr>
        <p:txBody>
          <a:bodyPr wrap="square" lIns="0" tIns="0" rIns="0" bIns="0" rtlCol="0" anchor="ctr"/>
          <a:lstStyle/>
          <a:p>
            <a:pPr marL="0" indent="0">
              <a:buNone/>
            </a:pPr>
            <a:r>
              <a:rPr lang="en-US" sz="1100" b="1" kern="0" spc="400" dirty="0">
                <a:solidFill>
                  <a:srgbClr val="F59E0B"/>
                </a:solidFill>
                <a:latin typeface="Calibri" pitchFamily="34" charset="0"/>
                <a:ea typeface="Calibri" pitchFamily="34" charset="-122"/>
                <a:cs typeface="Calibri" pitchFamily="34" charset="-120"/>
              </a:rPr>
              <a:t>05  ·  EVALUATION</a:t>
            </a:r>
            <a:endParaRPr lang="en-US" sz="1100" dirty="0"/>
          </a:p>
        </p:txBody>
      </p:sp>
      <p:sp>
        <p:nvSpPr>
          <p:cNvPr id="3" name="Text 1"/>
          <p:cNvSpPr/>
          <p:nvPr/>
        </p:nvSpPr>
        <p:spPr>
          <a:xfrm>
            <a:off x="548640" y="594360"/>
            <a:ext cx="10972800" cy="640080"/>
          </a:xfrm>
          <a:prstGeom prst="rect">
            <a:avLst/>
          </a:prstGeom>
          <a:noFill/>
          <a:ln/>
        </p:spPr>
        <p:txBody>
          <a:bodyPr wrap="square" lIns="0" tIns="0" rIns="0" bIns="0" rtlCol="0" anchor="ctr"/>
          <a:lstStyle/>
          <a:p>
            <a:pPr marL="0" indent="0">
              <a:buNone/>
            </a:pPr>
            <a:r>
              <a:rPr lang="en-US" sz="3000" b="1" dirty="0">
                <a:solidFill>
                  <a:srgbClr val="1E3A68"/>
                </a:solidFill>
                <a:latin typeface="Calibri" pitchFamily="34" charset="0"/>
                <a:ea typeface="Calibri" pitchFamily="34" charset="-122"/>
                <a:cs typeface="Calibri" pitchFamily="34" charset="-120"/>
              </a:rPr>
              <a:t>How We Measure Success</a:t>
            </a:r>
            <a:endParaRPr lang="en-US" sz="3000" dirty="0"/>
          </a:p>
        </p:txBody>
      </p:sp>
      <p:sp>
        <p:nvSpPr>
          <p:cNvPr id="4" name="Shape 2"/>
          <p:cNvSpPr/>
          <p:nvPr/>
        </p:nvSpPr>
        <p:spPr>
          <a:xfrm>
            <a:off x="548640" y="1691640"/>
            <a:ext cx="5440680" cy="2011680"/>
          </a:xfrm>
          <a:prstGeom prst="rect">
            <a:avLst/>
          </a:prstGeom>
          <a:solidFill>
            <a:srgbClr val="F0F4FA"/>
          </a:solidFill>
          <a:ln w="12700">
            <a:solidFill>
              <a:srgbClr val="F0F4FA"/>
            </a:solidFill>
            <a:prstDash val="solid"/>
          </a:ln>
        </p:spPr>
        <p:txBody>
          <a:bodyPr/>
          <a:lstStyle/>
          <a:p>
            <a:endParaRPr lang="en-US"/>
          </a:p>
        </p:txBody>
      </p:sp>
      <p:sp>
        <p:nvSpPr>
          <p:cNvPr id="5" name="Shape 3"/>
          <p:cNvSpPr/>
          <p:nvPr/>
        </p:nvSpPr>
        <p:spPr>
          <a:xfrm>
            <a:off x="548640" y="1691640"/>
            <a:ext cx="109728" cy="2011680"/>
          </a:xfrm>
          <a:prstGeom prst="rect">
            <a:avLst/>
          </a:prstGeom>
          <a:solidFill>
            <a:srgbClr val="F59E0B"/>
          </a:solidFill>
          <a:ln w="12700">
            <a:solidFill>
              <a:srgbClr val="F59E0B"/>
            </a:solidFill>
            <a:prstDash val="solid"/>
          </a:ln>
        </p:spPr>
        <p:txBody>
          <a:bodyPr/>
          <a:lstStyle/>
          <a:p>
            <a:endParaRPr lang="en-US"/>
          </a:p>
        </p:txBody>
      </p:sp>
      <p:sp>
        <p:nvSpPr>
          <p:cNvPr id="6" name="Text 4"/>
          <p:cNvSpPr/>
          <p:nvPr/>
        </p:nvSpPr>
        <p:spPr>
          <a:xfrm>
            <a:off x="822960" y="1828800"/>
            <a:ext cx="2286000" cy="502920"/>
          </a:xfrm>
          <a:prstGeom prst="rect">
            <a:avLst/>
          </a:prstGeom>
          <a:noFill/>
          <a:ln/>
        </p:spPr>
        <p:txBody>
          <a:bodyPr wrap="square" lIns="0" tIns="0" rIns="0" bIns="0" rtlCol="0" anchor="ctr"/>
          <a:lstStyle/>
          <a:p>
            <a:pPr marL="0" indent="0">
              <a:buNone/>
            </a:pPr>
            <a:r>
              <a:rPr lang="en-US" sz="2200" b="1" dirty="0">
                <a:solidFill>
                  <a:srgbClr val="1E3A68"/>
                </a:solidFill>
                <a:latin typeface="Calibri" pitchFamily="34" charset="0"/>
                <a:ea typeface="Calibri" pitchFamily="34" charset="-122"/>
                <a:cs typeface="Calibri" pitchFamily="34" charset="-120"/>
              </a:rPr>
              <a:t>Accuracy</a:t>
            </a:r>
            <a:endParaRPr lang="en-US" sz="2200" dirty="0"/>
          </a:p>
        </p:txBody>
      </p:sp>
      <p:sp>
        <p:nvSpPr>
          <p:cNvPr id="7" name="Text 5"/>
          <p:cNvSpPr/>
          <p:nvPr/>
        </p:nvSpPr>
        <p:spPr>
          <a:xfrm>
            <a:off x="3291840" y="1856232"/>
            <a:ext cx="2606040" cy="457200"/>
          </a:xfrm>
          <a:prstGeom prst="rect">
            <a:avLst/>
          </a:prstGeom>
          <a:noFill/>
          <a:ln/>
        </p:spPr>
        <p:txBody>
          <a:bodyPr wrap="square" lIns="0" tIns="0" rIns="0" bIns="0" rtlCol="0" anchor="ctr"/>
          <a:lstStyle/>
          <a:p>
            <a:pPr marL="0" indent="0" algn="r">
              <a:buNone/>
            </a:pPr>
            <a:r>
              <a:rPr lang="en-US" sz="1400" i="1" dirty="0">
                <a:solidFill>
                  <a:srgbClr val="1E293B"/>
                </a:solidFill>
                <a:latin typeface="Consolas" pitchFamily="34" charset="0"/>
                <a:ea typeface="Consolas" pitchFamily="34" charset="-122"/>
                <a:cs typeface="Consolas" pitchFamily="34" charset="-120"/>
              </a:rPr>
              <a:t>(TP + TN) / total</a:t>
            </a:r>
            <a:endParaRPr lang="en-US" sz="1400" dirty="0"/>
          </a:p>
        </p:txBody>
      </p:sp>
      <p:sp>
        <p:nvSpPr>
          <p:cNvPr id="8" name="Text 6"/>
          <p:cNvSpPr/>
          <p:nvPr/>
        </p:nvSpPr>
        <p:spPr>
          <a:xfrm>
            <a:off x="822960" y="2468880"/>
            <a:ext cx="4983480" cy="1188720"/>
          </a:xfrm>
          <a:prstGeom prst="rect">
            <a:avLst/>
          </a:prstGeom>
          <a:noFill/>
          <a:ln/>
        </p:spPr>
        <p:txBody>
          <a:bodyPr wrap="square" lIns="0" tIns="0" rIns="0" bIns="0" rtlCol="0" anchor="t"/>
          <a:lstStyle/>
          <a:p>
            <a:pPr marL="0" indent="0">
              <a:buNone/>
            </a:pPr>
            <a:r>
              <a:rPr lang="en-US" sz="1200" dirty="0">
                <a:solidFill>
                  <a:srgbClr val="1E293B"/>
                </a:solidFill>
                <a:latin typeface="Calibri" pitchFamily="34" charset="0"/>
                <a:ea typeface="Calibri" pitchFamily="34" charset="-122"/>
                <a:cs typeface="Calibri" pitchFamily="34" charset="-120"/>
              </a:rPr>
              <a:t>Overall fraction of correct predictions. Easy to read but can lie when classes are imbalanced.</a:t>
            </a:r>
            <a:endParaRPr lang="en-US" sz="1200" dirty="0"/>
          </a:p>
        </p:txBody>
      </p:sp>
      <p:sp>
        <p:nvSpPr>
          <p:cNvPr id="9" name="Shape 7"/>
          <p:cNvSpPr/>
          <p:nvPr/>
        </p:nvSpPr>
        <p:spPr>
          <a:xfrm>
            <a:off x="6263640" y="1691640"/>
            <a:ext cx="5440680" cy="2011680"/>
          </a:xfrm>
          <a:prstGeom prst="rect">
            <a:avLst/>
          </a:prstGeom>
          <a:solidFill>
            <a:srgbClr val="F0F4FA"/>
          </a:solidFill>
          <a:ln w="12700">
            <a:solidFill>
              <a:srgbClr val="F0F4FA"/>
            </a:solidFill>
            <a:prstDash val="solid"/>
          </a:ln>
        </p:spPr>
        <p:txBody>
          <a:bodyPr/>
          <a:lstStyle/>
          <a:p>
            <a:endParaRPr lang="en-US"/>
          </a:p>
        </p:txBody>
      </p:sp>
      <p:sp>
        <p:nvSpPr>
          <p:cNvPr id="10" name="Shape 8"/>
          <p:cNvSpPr/>
          <p:nvPr/>
        </p:nvSpPr>
        <p:spPr>
          <a:xfrm>
            <a:off x="6263640" y="1691640"/>
            <a:ext cx="109728" cy="2011680"/>
          </a:xfrm>
          <a:prstGeom prst="rect">
            <a:avLst/>
          </a:prstGeom>
          <a:solidFill>
            <a:srgbClr val="F59E0B"/>
          </a:solidFill>
          <a:ln w="12700">
            <a:solidFill>
              <a:srgbClr val="F59E0B"/>
            </a:solidFill>
            <a:prstDash val="solid"/>
          </a:ln>
        </p:spPr>
        <p:txBody>
          <a:bodyPr/>
          <a:lstStyle/>
          <a:p>
            <a:endParaRPr lang="en-US"/>
          </a:p>
        </p:txBody>
      </p:sp>
      <p:sp>
        <p:nvSpPr>
          <p:cNvPr id="11" name="Text 9"/>
          <p:cNvSpPr/>
          <p:nvPr/>
        </p:nvSpPr>
        <p:spPr>
          <a:xfrm>
            <a:off x="6537960" y="1828800"/>
            <a:ext cx="2286000" cy="502920"/>
          </a:xfrm>
          <a:prstGeom prst="rect">
            <a:avLst/>
          </a:prstGeom>
          <a:noFill/>
          <a:ln/>
        </p:spPr>
        <p:txBody>
          <a:bodyPr wrap="square" lIns="0" tIns="0" rIns="0" bIns="0" rtlCol="0" anchor="ctr"/>
          <a:lstStyle/>
          <a:p>
            <a:pPr marL="0" indent="0">
              <a:buNone/>
            </a:pPr>
            <a:r>
              <a:rPr lang="en-US" sz="2200" b="1" dirty="0">
                <a:solidFill>
                  <a:srgbClr val="1E3A68"/>
                </a:solidFill>
                <a:latin typeface="Calibri" pitchFamily="34" charset="0"/>
                <a:ea typeface="Calibri" pitchFamily="34" charset="-122"/>
                <a:cs typeface="Calibri" pitchFamily="34" charset="-120"/>
              </a:rPr>
              <a:t>Precision</a:t>
            </a:r>
            <a:endParaRPr lang="en-US" sz="2200" dirty="0"/>
          </a:p>
        </p:txBody>
      </p:sp>
      <p:sp>
        <p:nvSpPr>
          <p:cNvPr id="12" name="Text 10"/>
          <p:cNvSpPr/>
          <p:nvPr/>
        </p:nvSpPr>
        <p:spPr>
          <a:xfrm>
            <a:off x="9006840" y="1856232"/>
            <a:ext cx="2606040" cy="457200"/>
          </a:xfrm>
          <a:prstGeom prst="rect">
            <a:avLst/>
          </a:prstGeom>
          <a:noFill/>
          <a:ln/>
        </p:spPr>
        <p:txBody>
          <a:bodyPr wrap="square" lIns="0" tIns="0" rIns="0" bIns="0" rtlCol="0" anchor="ctr"/>
          <a:lstStyle/>
          <a:p>
            <a:pPr marL="0" indent="0" algn="r">
              <a:buNone/>
            </a:pPr>
            <a:r>
              <a:rPr lang="en-US" sz="1400" i="1" dirty="0">
                <a:solidFill>
                  <a:srgbClr val="1E293B"/>
                </a:solidFill>
                <a:latin typeface="Consolas" pitchFamily="34" charset="0"/>
                <a:ea typeface="Consolas" pitchFamily="34" charset="-122"/>
                <a:cs typeface="Consolas" pitchFamily="34" charset="-120"/>
              </a:rPr>
              <a:t>TP / (TP + FP)</a:t>
            </a:r>
            <a:endParaRPr lang="en-US" sz="1400" dirty="0"/>
          </a:p>
        </p:txBody>
      </p:sp>
      <p:sp>
        <p:nvSpPr>
          <p:cNvPr id="13" name="Text 11"/>
          <p:cNvSpPr/>
          <p:nvPr/>
        </p:nvSpPr>
        <p:spPr>
          <a:xfrm>
            <a:off x="6537960" y="2468880"/>
            <a:ext cx="4983480" cy="1188720"/>
          </a:xfrm>
          <a:prstGeom prst="rect">
            <a:avLst/>
          </a:prstGeom>
          <a:noFill/>
          <a:ln/>
        </p:spPr>
        <p:txBody>
          <a:bodyPr wrap="square" lIns="0" tIns="0" rIns="0" bIns="0" rtlCol="0" anchor="t"/>
          <a:lstStyle/>
          <a:p>
            <a:pPr marL="0" indent="0">
              <a:buNone/>
            </a:pPr>
            <a:r>
              <a:rPr lang="en-US" sz="1200" dirty="0">
                <a:solidFill>
                  <a:srgbClr val="1E293B"/>
                </a:solidFill>
                <a:latin typeface="Calibri" pitchFamily="34" charset="0"/>
                <a:ea typeface="Calibri" pitchFamily="34" charset="-122"/>
                <a:cs typeface="Calibri" pitchFamily="34" charset="-120"/>
              </a:rPr>
              <a:t>Out of bookings flagged as canceled, how many actually were. Low precision means too many false alarms.</a:t>
            </a:r>
            <a:endParaRPr lang="en-US" sz="1200" dirty="0"/>
          </a:p>
        </p:txBody>
      </p:sp>
      <p:sp>
        <p:nvSpPr>
          <p:cNvPr id="14" name="Shape 12"/>
          <p:cNvSpPr/>
          <p:nvPr/>
        </p:nvSpPr>
        <p:spPr>
          <a:xfrm>
            <a:off x="548640" y="3931920"/>
            <a:ext cx="5440680" cy="2011680"/>
          </a:xfrm>
          <a:prstGeom prst="rect">
            <a:avLst/>
          </a:prstGeom>
          <a:solidFill>
            <a:srgbClr val="F0F4FA"/>
          </a:solidFill>
          <a:ln w="12700">
            <a:solidFill>
              <a:srgbClr val="F0F4FA"/>
            </a:solidFill>
            <a:prstDash val="solid"/>
          </a:ln>
        </p:spPr>
        <p:txBody>
          <a:bodyPr/>
          <a:lstStyle/>
          <a:p>
            <a:endParaRPr lang="en-US"/>
          </a:p>
        </p:txBody>
      </p:sp>
      <p:sp>
        <p:nvSpPr>
          <p:cNvPr id="15" name="Shape 13"/>
          <p:cNvSpPr/>
          <p:nvPr/>
        </p:nvSpPr>
        <p:spPr>
          <a:xfrm>
            <a:off x="548640" y="3931920"/>
            <a:ext cx="109728" cy="2011680"/>
          </a:xfrm>
          <a:prstGeom prst="rect">
            <a:avLst/>
          </a:prstGeom>
          <a:solidFill>
            <a:srgbClr val="F59E0B"/>
          </a:solidFill>
          <a:ln w="12700">
            <a:solidFill>
              <a:srgbClr val="F59E0B"/>
            </a:solidFill>
            <a:prstDash val="solid"/>
          </a:ln>
        </p:spPr>
        <p:txBody>
          <a:bodyPr/>
          <a:lstStyle/>
          <a:p>
            <a:endParaRPr lang="en-US"/>
          </a:p>
        </p:txBody>
      </p:sp>
      <p:sp>
        <p:nvSpPr>
          <p:cNvPr id="16" name="Text 14"/>
          <p:cNvSpPr/>
          <p:nvPr/>
        </p:nvSpPr>
        <p:spPr>
          <a:xfrm>
            <a:off x="822960" y="4069080"/>
            <a:ext cx="2286000" cy="502920"/>
          </a:xfrm>
          <a:prstGeom prst="rect">
            <a:avLst/>
          </a:prstGeom>
          <a:noFill/>
          <a:ln/>
        </p:spPr>
        <p:txBody>
          <a:bodyPr wrap="square" lIns="0" tIns="0" rIns="0" bIns="0" rtlCol="0" anchor="ctr"/>
          <a:lstStyle/>
          <a:p>
            <a:pPr marL="0" indent="0">
              <a:buNone/>
            </a:pPr>
            <a:r>
              <a:rPr lang="en-US" sz="2200" b="1" dirty="0">
                <a:solidFill>
                  <a:srgbClr val="1E3A68"/>
                </a:solidFill>
                <a:latin typeface="Calibri" pitchFamily="34" charset="0"/>
                <a:ea typeface="Calibri" pitchFamily="34" charset="-122"/>
                <a:cs typeface="Calibri" pitchFamily="34" charset="-120"/>
              </a:rPr>
              <a:t>Recall</a:t>
            </a:r>
            <a:endParaRPr lang="en-US" sz="2200" dirty="0"/>
          </a:p>
        </p:txBody>
      </p:sp>
      <p:sp>
        <p:nvSpPr>
          <p:cNvPr id="17" name="Text 15"/>
          <p:cNvSpPr/>
          <p:nvPr/>
        </p:nvSpPr>
        <p:spPr>
          <a:xfrm>
            <a:off x="3291840" y="4096512"/>
            <a:ext cx="2606040" cy="457200"/>
          </a:xfrm>
          <a:prstGeom prst="rect">
            <a:avLst/>
          </a:prstGeom>
          <a:noFill/>
          <a:ln/>
        </p:spPr>
        <p:txBody>
          <a:bodyPr wrap="square" lIns="0" tIns="0" rIns="0" bIns="0" rtlCol="0" anchor="ctr"/>
          <a:lstStyle/>
          <a:p>
            <a:pPr marL="0" indent="0" algn="r">
              <a:buNone/>
            </a:pPr>
            <a:r>
              <a:rPr lang="en-US" sz="1400" i="1" dirty="0">
                <a:solidFill>
                  <a:srgbClr val="1E293B"/>
                </a:solidFill>
                <a:latin typeface="Consolas" pitchFamily="34" charset="0"/>
                <a:ea typeface="Consolas" pitchFamily="34" charset="-122"/>
                <a:cs typeface="Consolas" pitchFamily="34" charset="-120"/>
              </a:rPr>
              <a:t>TP / (TP + FN)</a:t>
            </a:r>
            <a:endParaRPr lang="en-US" sz="1400" dirty="0"/>
          </a:p>
        </p:txBody>
      </p:sp>
      <p:sp>
        <p:nvSpPr>
          <p:cNvPr id="18" name="Text 16"/>
          <p:cNvSpPr/>
          <p:nvPr/>
        </p:nvSpPr>
        <p:spPr>
          <a:xfrm>
            <a:off x="822960" y="4709160"/>
            <a:ext cx="4983480" cy="1188720"/>
          </a:xfrm>
          <a:prstGeom prst="rect">
            <a:avLst/>
          </a:prstGeom>
          <a:noFill/>
          <a:ln/>
        </p:spPr>
        <p:txBody>
          <a:bodyPr wrap="square" lIns="0" tIns="0" rIns="0" bIns="0" rtlCol="0" anchor="t"/>
          <a:lstStyle/>
          <a:p>
            <a:pPr marL="0" indent="0">
              <a:buNone/>
            </a:pPr>
            <a:r>
              <a:rPr lang="en-US" sz="1200" dirty="0">
                <a:solidFill>
                  <a:srgbClr val="1E293B"/>
                </a:solidFill>
                <a:latin typeface="Calibri" pitchFamily="34" charset="0"/>
                <a:ea typeface="Calibri" pitchFamily="34" charset="-122"/>
                <a:cs typeface="Calibri" pitchFamily="34" charset="-120"/>
              </a:rPr>
              <a:t>Out of real cancellations, how many were caught. This is the metric hotels care about most.</a:t>
            </a:r>
            <a:endParaRPr lang="en-US" sz="1200" dirty="0"/>
          </a:p>
        </p:txBody>
      </p:sp>
      <p:sp>
        <p:nvSpPr>
          <p:cNvPr id="19" name="Shape 17"/>
          <p:cNvSpPr/>
          <p:nvPr/>
        </p:nvSpPr>
        <p:spPr>
          <a:xfrm>
            <a:off x="6263640" y="3931920"/>
            <a:ext cx="5440680" cy="2011680"/>
          </a:xfrm>
          <a:prstGeom prst="rect">
            <a:avLst/>
          </a:prstGeom>
          <a:solidFill>
            <a:srgbClr val="F0F4FA"/>
          </a:solidFill>
          <a:ln w="12700">
            <a:solidFill>
              <a:srgbClr val="F0F4FA"/>
            </a:solidFill>
            <a:prstDash val="solid"/>
          </a:ln>
        </p:spPr>
        <p:txBody>
          <a:bodyPr/>
          <a:lstStyle/>
          <a:p>
            <a:endParaRPr lang="en-US"/>
          </a:p>
        </p:txBody>
      </p:sp>
      <p:sp>
        <p:nvSpPr>
          <p:cNvPr id="20" name="Shape 18"/>
          <p:cNvSpPr/>
          <p:nvPr/>
        </p:nvSpPr>
        <p:spPr>
          <a:xfrm>
            <a:off x="6263640" y="3931920"/>
            <a:ext cx="109728" cy="2011680"/>
          </a:xfrm>
          <a:prstGeom prst="rect">
            <a:avLst/>
          </a:prstGeom>
          <a:solidFill>
            <a:srgbClr val="F59E0B"/>
          </a:solidFill>
          <a:ln w="12700">
            <a:solidFill>
              <a:srgbClr val="F59E0B"/>
            </a:solidFill>
            <a:prstDash val="solid"/>
          </a:ln>
        </p:spPr>
        <p:txBody>
          <a:bodyPr/>
          <a:lstStyle/>
          <a:p>
            <a:endParaRPr lang="en-US"/>
          </a:p>
        </p:txBody>
      </p:sp>
      <p:sp>
        <p:nvSpPr>
          <p:cNvPr id="21" name="Text 19"/>
          <p:cNvSpPr/>
          <p:nvPr/>
        </p:nvSpPr>
        <p:spPr>
          <a:xfrm>
            <a:off x="6537960" y="4069080"/>
            <a:ext cx="2286000" cy="502920"/>
          </a:xfrm>
          <a:prstGeom prst="rect">
            <a:avLst/>
          </a:prstGeom>
          <a:noFill/>
          <a:ln/>
        </p:spPr>
        <p:txBody>
          <a:bodyPr wrap="square" lIns="0" tIns="0" rIns="0" bIns="0" rtlCol="0" anchor="ctr"/>
          <a:lstStyle/>
          <a:p>
            <a:pPr marL="0" indent="0">
              <a:buNone/>
            </a:pPr>
            <a:r>
              <a:rPr lang="en-US" sz="2200" b="1" dirty="0">
                <a:solidFill>
                  <a:srgbClr val="1E3A68"/>
                </a:solidFill>
                <a:latin typeface="Calibri" pitchFamily="34" charset="0"/>
                <a:ea typeface="Calibri" pitchFamily="34" charset="-122"/>
                <a:cs typeface="Calibri" pitchFamily="34" charset="-120"/>
              </a:rPr>
              <a:t>F1 Score</a:t>
            </a:r>
            <a:endParaRPr lang="en-US" sz="2200" dirty="0"/>
          </a:p>
        </p:txBody>
      </p:sp>
      <p:sp>
        <p:nvSpPr>
          <p:cNvPr id="22" name="Text 20"/>
          <p:cNvSpPr/>
          <p:nvPr/>
        </p:nvSpPr>
        <p:spPr>
          <a:xfrm>
            <a:off x="9006840" y="4096512"/>
            <a:ext cx="2606040" cy="457200"/>
          </a:xfrm>
          <a:prstGeom prst="rect">
            <a:avLst/>
          </a:prstGeom>
          <a:noFill/>
          <a:ln/>
        </p:spPr>
        <p:txBody>
          <a:bodyPr wrap="square" lIns="0" tIns="0" rIns="0" bIns="0" rtlCol="0" anchor="ctr"/>
          <a:lstStyle/>
          <a:p>
            <a:pPr marL="0" indent="0" algn="r">
              <a:buNone/>
            </a:pPr>
            <a:r>
              <a:rPr lang="en-US" sz="1400" i="1" dirty="0">
                <a:solidFill>
                  <a:srgbClr val="1E293B"/>
                </a:solidFill>
                <a:latin typeface="Consolas" pitchFamily="34" charset="0"/>
                <a:ea typeface="Consolas" pitchFamily="34" charset="-122"/>
                <a:cs typeface="Consolas" pitchFamily="34" charset="-120"/>
              </a:rPr>
              <a:t>2·P·R / (P + R)</a:t>
            </a:r>
            <a:endParaRPr lang="en-US" sz="1400" dirty="0"/>
          </a:p>
        </p:txBody>
      </p:sp>
      <p:sp>
        <p:nvSpPr>
          <p:cNvPr id="23" name="Text 21"/>
          <p:cNvSpPr/>
          <p:nvPr/>
        </p:nvSpPr>
        <p:spPr>
          <a:xfrm>
            <a:off x="6537960" y="4709160"/>
            <a:ext cx="4983480" cy="1188720"/>
          </a:xfrm>
          <a:prstGeom prst="rect">
            <a:avLst/>
          </a:prstGeom>
          <a:noFill/>
          <a:ln/>
        </p:spPr>
        <p:txBody>
          <a:bodyPr wrap="square" lIns="0" tIns="0" rIns="0" bIns="0" rtlCol="0" anchor="t"/>
          <a:lstStyle/>
          <a:p>
            <a:pPr marL="0" indent="0">
              <a:buNone/>
            </a:pPr>
            <a:r>
              <a:rPr lang="en-US" sz="1200" dirty="0">
                <a:solidFill>
                  <a:srgbClr val="1E293B"/>
                </a:solidFill>
                <a:latin typeface="Calibri" pitchFamily="34" charset="0"/>
                <a:ea typeface="Calibri" pitchFamily="34" charset="-122"/>
                <a:cs typeface="Calibri" pitchFamily="34" charset="-120"/>
              </a:rPr>
              <a:t>Harmonic mean of precision and recall. Useful single number when balance matters.</a:t>
            </a:r>
            <a:endParaRPr lang="en-US" sz="1200" dirty="0"/>
          </a:p>
        </p:txBody>
      </p:sp>
      <p:sp>
        <p:nvSpPr>
          <p:cNvPr id="24" name="Shape 22"/>
          <p:cNvSpPr/>
          <p:nvPr/>
        </p:nvSpPr>
        <p:spPr>
          <a:xfrm>
            <a:off x="0" y="6675120"/>
            <a:ext cx="12161520" cy="182880"/>
          </a:xfrm>
          <a:prstGeom prst="rect">
            <a:avLst/>
          </a:prstGeom>
          <a:solidFill>
            <a:srgbClr val="1E3A68"/>
          </a:solidFill>
          <a:ln w="12700">
            <a:solidFill>
              <a:srgbClr val="1E3A68"/>
            </a:solidFill>
            <a:prstDash val="solid"/>
          </a:ln>
        </p:spPr>
        <p:txBody>
          <a:bodyPr/>
          <a:lstStyle/>
          <a:p>
            <a:endParaRPr lang="en-US"/>
          </a:p>
        </p:txBody>
      </p:sp>
      <p:sp>
        <p:nvSpPr>
          <p:cNvPr id="25" name="Text 23"/>
          <p:cNvSpPr/>
          <p:nvPr/>
        </p:nvSpPr>
        <p:spPr>
          <a:xfrm>
            <a:off x="365760" y="6675120"/>
            <a:ext cx="6400800" cy="18288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Hotel Booking Cancellation Prediction  |  Team 32</a:t>
            </a:r>
            <a:endParaRPr lang="en-US" sz="900" dirty="0"/>
          </a:p>
        </p:txBody>
      </p:sp>
      <p:sp>
        <p:nvSpPr>
          <p:cNvPr id="26" name="Text 24"/>
          <p:cNvSpPr/>
          <p:nvPr/>
        </p:nvSpPr>
        <p:spPr>
          <a:xfrm>
            <a:off x="11338560" y="6675120"/>
            <a:ext cx="548640" cy="18288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12 / 19</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0972800" cy="274320"/>
          </a:xfrm>
          <a:prstGeom prst="rect">
            <a:avLst/>
          </a:prstGeom>
          <a:noFill/>
          <a:ln/>
        </p:spPr>
        <p:txBody>
          <a:bodyPr wrap="square" lIns="0" tIns="0" rIns="0" bIns="0" rtlCol="0" anchor="ctr"/>
          <a:lstStyle/>
          <a:p>
            <a:pPr marL="0" indent="0">
              <a:buNone/>
            </a:pPr>
            <a:r>
              <a:rPr lang="en-US" sz="1100" b="1" kern="0" spc="400" dirty="0">
                <a:solidFill>
                  <a:srgbClr val="F59E0B"/>
                </a:solidFill>
                <a:latin typeface="Calibri" pitchFamily="34" charset="0"/>
                <a:ea typeface="Calibri" pitchFamily="34" charset="-122"/>
                <a:cs typeface="Calibri" pitchFamily="34" charset="-120"/>
              </a:rPr>
              <a:t>06  ·  RESULTS</a:t>
            </a:r>
            <a:endParaRPr lang="en-US" sz="1100" dirty="0"/>
          </a:p>
        </p:txBody>
      </p:sp>
      <p:sp>
        <p:nvSpPr>
          <p:cNvPr id="3" name="Text 1"/>
          <p:cNvSpPr/>
          <p:nvPr/>
        </p:nvSpPr>
        <p:spPr>
          <a:xfrm>
            <a:off x="548640" y="594360"/>
            <a:ext cx="10972800" cy="640080"/>
          </a:xfrm>
          <a:prstGeom prst="rect">
            <a:avLst/>
          </a:prstGeom>
          <a:noFill/>
          <a:ln/>
        </p:spPr>
        <p:txBody>
          <a:bodyPr wrap="square" lIns="0" tIns="0" rIns="0" bIns="0" rtlCol="0" anchor="ctr"/>
          <a:lstStyle/>
          <a:p>
            <a:pPr marL="0" indent="0">
              <a:buNone/>
            </a:pPr>
            <a:r>
              <a:rPr lang="en-US" sz="3000" b="1" dirty="0">
                <a:solidFill>
                  <a:srgbClr val="1E3A68"/>
                </a:solidFill>
                <a:latin typeface="Calibri" pitchFamily="34" charset="0"/>
                <a:ea typeface="Calibri" pitchFamily="34" charset="-122"/>
                <a:cs typeface="Calibri" pitchFamily="34" charset="-120"/>
              </a:rPr>
              <a:t>Dataset 1 — Indian Resort Hotels</a:t>
            </a:r>
            <a:endParaRPr lang="en-US" sz="3000" dirty="0"/>
          </a:p>
        </p:txBody>
      </p:sp>
      <p:pic>
        <p:nvPicPr>
          <p:cNvPr id="4" name="Image 0" descr="/sessions/eloquent-determined-pascal/mnt/outputs/assets/Table_Dataset1.png"/>
          <p:cNvPicPr>
            <a:picLocks noChangeAspect="1"/>
          </p:cNvPicPr>
          <p:nvPr/>
        </p:nvPicPr>
        <p:blipFill>
          <a:blip r:embed="rId3"/>
          <a:stretch>
            <a:fillRect/>
          </a:stretch>
        </p:blipFill>
        <p:spPr>
          <a:xfrm>
            <a:off x="640080" y="1691640"/>
            <a:ext cx="8229600" cy="4206240"/>
          </a:xfrm>
          <a:prstGeom prst="rect">
            <a:avLst/>
          </a:prstGeom>
        </p:spPr>
      </p:pic>
      <p:sp>
        <p:nvSpPr>
          <p:cNvPr id="5" name="Shape 2"/>
          <p:cNvSpPr/>
          <p:nvPr/>
        </p:nvSpPr>
        <p:spPr>
          <a:xfrm>
            <a:off x="9144000" y="1691640"/>
            <a:ext cx="2606040" cy="4206240"/>
          </a:xfrm>
          <a:prstGeom prst="rect">
            <a:avLst/>
          </a:prstGeom>
          <a:solidFill>
            <a:srgbClr val="1E3A68"/>
          </a:solidFill>
          <a:ln w="12700">
            <a:solidFill>
              <a:srgbClr val="1E3A68"/>
            </a:solidFill>
            <a:prstDash val="solid"/>
          </a:ln>
        </p:spPr>
        <p:txBody>
          <a:bodyPr/>
          <a:lstStyle/>
          <a:p>
            <a:endParaRPr lang="en-US"/>
          </a:p>
        </p:txBody>
      </p:sp>
      <p:sp>
        <p:nvSpPr>
          <p:cNvPr id="6" name="Text 3"/>
          <p:cNvSpPr/>
          <p:nvPr/>
        </p:nvSpPr>
        <p:spPr>
          <a:xfrm>
            <a:off x="9326880" y="1828800"/>
            <a:ext cx="2331720" cy="411480"/>
          </a:xfrm>
          <a:prstGeom prst="rect">
            <a:avLst/>
          </a:prstGeom>
          <a:noFill/>
          <a:ln/>
        </p:spPr>
        <p:txBody>
          <a:bodyPr wrap="square" lIns="0" tIns="0" rIns="0" bIns="0" rtlCol="0" anchor="ctr"/>
          <a:lstStyle/>
          <a:p>
            <a:pPr marL="0" indent="0">
              <a:buNone/>
            </a:pPr>
            <a:r>
              <a:rPr lang="en-US" sz="1600" b="1" dirty="0">
                <a:solidFill>
                  <a:srgbClr val="F59E0B"/>
                </a:solidFill>
                <a:latin typeface="Calibri" pitchFamily="34" charset="0"/>
                <a:ea typeface="Calibri" pitchFamily="34" charset="-122"/>
                <a:cs typeface="Calibri" pitchFamily="34" charset="-120"/>
              </a:rPr>
              <a:t>Highlights</a:t>
            </a:r>
            <a:endParaRPr lang="en-US" sz="1600" dirty="0"/>
          </a:p>
        </p:txBody>
      </p:sp>
      <p:sp>
        <p:nvSpPr>
          <p:cNvPr id="7" name="Text 4"/>
          <p:cNvSpPr/>
          <p:nvPr/>
        </p:nvSpPr>
        <p:spPr>
          <a:xfrm>
            <a:off x="9326880" y="2331720"/>
            <a:ext cx="2331720" cy="35204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Random Forest</a:t>
            </a:r>
            <a:endParaRPr lang="en-US" sz="1300" dirty="0"/>
          </a:p>
          <a:p>
            <a:pPr marL="0" indent="0">
              <a:spcAft>
                <a:spcPts val="1200"/>
              </a:spcAft>
              <a:buNone/>
            </a:pPr>
            <a:r>
              <a:rPr lang="en-US" sz="2600" b="1" dirty="0">
                <a:solidFill>
                  <a:srgbClr val="F59E0B"/>
                </a:solidFill>
                <a:latin typeface="Calibri" pitchFamily="34" charset="0"/>
                <a:ea typeface="Calibri" pitchFamily="34" charset="-122"/>
                <a:cs typeface="Calibri" pitchFamily="34" charset="-120"/>
              </a:rPr>
              <a:t>87.07 %</a:t>
            </a:r>
            <a:endParaRPr lang="en-US" sz="1300" dirty="0"/>
          </a:p>
          <a:p>
            <a:pPr marL="0" indent="0">
              <a:buNone/>
            </a:pPr>
            <a:r>
              <a:rPr lang="en-US" sz="1300" b="1" dirty="0">
                <a:solidFill>
                  <a:srgbClr val="FFFFFF"/>
                </a:solidFill>
                <a:latin typeface="Calibri" pitchFamily="34" charset="0"/>
                <a:ea typeface="Calibri" pitchFamily="34" charset="-122"/>
                <a:cs typeface="Calibri" pitchFamily="34" charset="-120"/>
              </a:rPr>
              <a:t>Worst model</a:t>
            </a:r>
            <a:endParaRPr lang="en-US" sz="1300" dirty="0"/>
          </a:p>
          <a:p>
            <a:pPr marL="0" indent="0">
              <a:buNone/>
            </a:pPr>
            <a:r>
              <a:rPr lang="en-US" sz="1300" dirty="0">
                <a:solidFill>
                  <a:srgbClr val="CADCFC"/>
                </a:solidFill>
                <a:latin typeface="Calibri" pitchFamily="34" charset="0"/>
                <a:ea typeface="Calibri" pitchFamily="34" charset="-122"/>
                <a:cs typeface="Calibri" pitchFamily="34" charset="-120"/>
              </a:rPr>
              <a:t>Logistic Regression</a:t>
            </a:r>
            <a:endParaRPr lang="en-US" sz="1300" dirty="0"/>
          </a:p>
          <a:p>
            <a:pPr marL="0" indent="0">
              <a:spcAft>
                <a:spcPts val="1200"/>
              </a:spcAft>
              <a:buNone/>
            </a:pPr>
            <a:r>
              <a:rPr lang="en-US" sz="2000" b="1" dirty="0">
                <a:solidFill>
                  <a:srgbClr val="FFFFFF"/>
                </a:solidFill>
                <a:latin typeface="Calibri" pitchFamily="34" charset="0"/>
                <a:ea typeface="Calibri" pitchFamily="34" charset="-122"/>
                <a:cs typeface="Calibri" pitchFamily="34" charset="-120"/>
              </a:rPr>
              <a:t>81.77 %</a:t>
            </a:r>
            <a:endParaRPr lang="en-US" sz="1300" dirty="0"/>
          </a:p>
          <a:p>
            <a:pPr marL="0" indent="0">
              <a:buNone/>
            </a:pPr>
            <a:r>
              <a:rPr lang="en-US" sz="1300" b="1" dirty="0">
                <a:solidFill>
                  <a:srgbClr val="FFFFFF"/>
                </a:solidFill>
                <a:latin typeface="Calibri" pitchFamily="34" charset="0"/>
                <a:ea typeface="Calibri" pitchFamily="34" charset="-122"/>
                <a:cs typeface="Calibri" pitchFamily="34" charset="-120"/>
              </a:rPr>
              <a:t>Test set</a:t>
            </a:r>
            <a:endParaRPr lang="en-US" sz="1300" dirty="0"/>
          </a:p>
          <a:p>
            <a:pPr marL="0" indent="0">
              <a:buNone/>
            </a:pPr>
            <a:r>
              <a:rPr lang="en-US" sz="1300" dirty="0">
                <a:solidFill>
                  <a:srgbClr val="CADCFC"/>
                </a:solidFill>
                <a:latin typeface="Calibri" pitchFamily="34" charset="0"/>
                <a:ea typeface="Calibri" pitchFamily="34" charset="-122"/>
                <a:cs typeface="Calibri" pitchFamily="34" charset="-120"/>
              </a:rPr>
              <a:t>23,878 bookings</a:t>
            </a:r>
            <a:endParaRPr lang="en-US" sz="1300" dirty="0"/>
          </a:p>
        </p:txBody>
      </p:sp>
      <p:sp>
        <p:nvSpPr>
          <p:cNvPr id="8" name="Shape 5"/>
          <p:cNvSpPr/>
          <p:nvPr/>
        </p:nvSpPr>
        <p:spPr>
          <a:xfrm>
            <a:off x="0" y="6675120"/>
            <a:ext cx="12161520" cy="182880"/>
          </a:xfrm>
          <a:prstGeom prst="rect">
            <a:avLst/>
          </a:prstGeom>
          <a:solidFill>
            <a:srgbClr val="1E3A68"/>
          </a:solidFill>
          <a:ln w="12700">
            <a:solidFill>
              <a:srgbClr val="1E3A68"/>
            </a:solidFill>
            <a:prstDash val="solid"/>
          </a:ln>
        </p:spPr>
        <p:txBody>
          <a:bodyPr/>
          <a:lstStyle/>
          <a:p>
            <a:endParaRPr lang="en-US"/>
          </a:p>
        </p:txBody>
      </p:sp>
      <p:sp>
        <p:nvSpPr>
          <p:cNvPr id="9" name="Text 6"/>
          <p:cNvSpPr/>
          <p:nvPr/>
        </p:nvSpPr>
        <p:spPr>
          <a:xfrm>
            <a:off x="365760" y="6675120"/>
            <a:ext cx="6400800" cy="18288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Hotel Booking Cancellation Prediction  |  Team 32</a:t>
            </a:r>
            <a:endParaRPr lang="en-US" sz="900" dirty="0"/>
          </a:p>
        </p:txBody>
      </p:sp>
      <p:sp>
        <p:nvSpPr>
          <p:cNvPr id="10" name="Text 7"/>
          <p:cNvSpPr/>
          <p:nvPr/>
        </p:nvSpPr>
        <p:spPr>
          <a:xfrm>
            <a:off x="11338560" y="6675120"/>
            <a:ext cx="548640" cy="18288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13 / 19</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0972800" cy="274320"/>
          </a:xfrm>
          <a:prstGeom prst="rect">
            <a:avLst/>
          </a:prstGeom>
          <a:noFill/>
          <a:ln/>
        </p:spPr>
        <p:txBody>
          <a:bodyPr wrap="square" lIns="0" tIns="0" rIns="0" bIns="0" rtlCol="0" anchor="ctr"/>
          <a:lstStyle/>
          <a:p>
            <a:pPr marL="0" indent="0">
              <a:buNone/>
            </a:pPr>
            <a:r>
              <a:rPr lang="en-US" sz="1100" b="1" kern="0" spc="400" dirty="0">
                <a:solidFill>
                  <a:srgbClr val="F59E0B"/>
                </a:solidFill>
                <a:latin typeface="Calibri" pitchFamily="34" charset="0"/>
                <a:ea typeface="Calibri" pitchFamily="34" charset="-122"/>
                <a:cs typeface="Calibri" pitchFamily="34" charset="-120"/>
              </a:rPr>
              <a:t>06  ·  RESULTS</a:t>
            </a:r>
            <a:endParaRPr lang="en-US" sz="1100" dirty="0"/>
          </a:p>
        </p:txBody>
      </p:sp>
      <p:sp>
        <p:nvSpPr>
          <p:cNvPr id="3" name="Text 1"/>
          <p:cNvSpPr/>
          <p:nvPr/>
        </p:nvSpPr>
        <p:spPr>
          <a:xfrm>
            <a:off x="548640" y="594360"/>
            <a:ext cx="10972800" cy="640080"/>
          </a:xfrm>
          <a:prstGeom prst="rect">
            <a:avLst/>
          </a:prstGeom>
          <a:noFill/>
          <a:ln/>
        </p:spPr>
        <p:txBody>
          <a:bodyPr wrap="square" lIns="0" tIns="0" rIns="0" bIns="0" rtlCol="0" anchor="ctr"/>
          <a:lstStyle/>
          <a:p>
            <a:pPr marL="0" indent="0">
              <a:buNone/>
            </a:pPr>
            <a:r>
              <a:rPr lang="en-US" sz="3000" b="1" dirty="0">
                <a:solidFill>
                  <a:srgbClr val="1E3A68"/>
                </a:solidFill>
                <a:latin typeface="Calibri" pitchFamily="34" charset="0"/>
                <a:ea typeface="Calibri" pitchFamily="34" charset="-122"/>
                <a:cs typeface="Calibri" pitchFamily="34" charset="-120"/>
              </a:rPr>
              <a:t>Dataset 2 — Inn Hotel</a:t>
            </a:r>
            <a:endParaRPr lang="en-US" sz="3000" dirty="0"/>
          </a:p>
        </p:txBody>
      </p:sp>
      <p:pic>
        <p:nvPicPr>
          <p:cNvPr id="4" name="Image 0" descr="/sessions/eloquent-determined-pascal/mnt/outputs/assets/Table_Dataset2.png"/>
          <p:cNvPicPr>
            <a:picLocks noChangeAspect="1"/>
          </p:cNvPicPr>
          <p:nvPr/>
        </p:nvPicPr>
        <p:blipFill>
          <a:blip r:embed="rId3"/>
          <a:stretch>
            <a:fillRect/>
          </a:stretch>
        </p:blipFill>
        <p:spPr>
          <a:xfrm>
            <a:off x="640080" y="1691640"/>
            <a:ext cx="8229600" cy="4206240"/>
          </a:xfrm>
          <a:prstGeom prst="rect">
            <a:avLst/>
          </a:prstGeom>
        </p:spPr>
      </p:pic>
      <p:sp>
        <p:nvSpPr>
          <p:cNvPr id="5" name="Shape 2"/>
          <p:cNvSpPr/>
          <p:nvPr/>
        </p:nvSpPr>
        <p:spPr>
          <a:xfrm>
            <a:off x="9144000" y="1691640"/>
            <a:ext cx="2606040" cy="4206240"/>
          </a:xfrm>
          <a:prstGeom prst="rect">
            <a:avLst/>
          </a:prstGeom>
          <a:solidFill>
            <a:srgbClr val="1E3A68"/>
          </a:solidFill>
          <a:ln w="12700">
            <a:solidFill>
              <a:srgbClr val="1E3A68"/>
            </a:solidFill>
            <a:prstDash val="solid"/>
          </a:ln>
        </p:spPr>
        <p:txBody>
          <a:bodyPr/>
          <a:lstStyle/>
          <a:p>
            <a:endParaRPr lang="en-US"/>
          </a:p>
        </p:txBody>
      </p:sp>
      <p:sp>
        <p:nvSpPr>
          <p:cNvPr id="6" name="Text 3"/>
          <p:cNvSpPr/>
          <p:nvPr/>
        </p:nvSpPr>
        <p:spPr>
          <a:xfrm>
            <a:off x="9326880" y="1828800"/>
            <a:ext cx="2331720" cy="411480"/>
          </a:xfrm>
          <a:prstGeom prst="rect">
            <a:avLst/>
          </a:prstGeom>
          <a:noFill/>
          <a:ln/>
        </p:spPr>
        <p:txBody>
          <a:bodyPr wrap="square" lIns="0" tIns="0" rIns="0" bIns="0" rtlCol="0" anchor="ctr"/>
          <a:lstStyle/>
          <a:p>
            <a:pPr marL="0" indent="0">
              <a:buNone/>
            </a:pPr>
            <a:r>
              <a:rPr lang="en-US" sz="1600" b="1" dirty="0">
                <a:solidFill>
                  <a:srgbClr val="F59E0B"/>
                </a:solidFill>
                <a:latin typeface="Calibri" pitchFamily="34" charset="0"/>
                <a:ea typeface="Calibri" pitchFamily="34" charset="-122"/>
                <a:cs typeface="Calibri" pitchFamily="34" charset="-120"/>
              </a:rPr>
              <a:t>Highlights</a:t>
            </a:r>
            <a:endParaRPr lang="en-US" sz="1600" dirty="0"/>
          </a:p>
        </p:txBody>
      </p:sp>
      <p:sp>
        <p:nvSpPr>
          <p:cNvPr id="7" name="Text 4"/>
          <p:cNvSpPr/>
          <p:nvPr/>
        </p:nvSpPr>
        <p:spPr>
          <a:xfrm>
            <a:off x="9326880" y="2331720"/>
            <a:ext cx="2331720" cy="35204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Random Forest</a:t>
            </a:r>
            <a:endParaRPr lang="en-US" sz="1300" dirty="0"/>
          </a:p>
          <a:p>
            <a:pPr marL="0" indent="0">
              <a:spcAft>
                <a:spcPts val="1200"/>
              </a:spcAft>
              <a:buNone/>
            </a:pPr>
            <a:r>
              <a:rPr lang="en-US" sz="2600" b="1" dirty="0">
                <a:solidFill>
                  <a:srgbClr val="F59E0B"/>
                </a:solidFill>
                <a:latin typeface="Calibri" pitchFamily="34" charset="0"/>
                <a:ea typeface="Calibri" pitchFamily="34" charset="-122"/>
                <a:cs typeface="Calibri" pitchFamily="34" charset="-120"/>
              </a:rPr>
              <a:t>90.09 %</a:t>
            </a:r>
            <a:endParaRPr lang="en-US" sz="1300" dirty="0"/>
          </a:p>
          <a:p>
            <a:pPr marL="0" indent="0">
              <a:spcAft>
                <a:spcPts val="1200"/>
              </a:spcAft>
              <a:buNone/>
            </a:pPr>
            <a:r>
              <a:rPr lang="en-US" sz="1300" i="1" dirty="0">
                <a:solidFill>
                  <a:srgbClr val="CADCFC"/>
                </a:solidFill>
                <a:latin typeface="Calibri" pitchFamily="34" charset="0"/>
                <a:ea typeface="Calibri" pitchFamily="34" charset="-122"/>
                <a:cs typeface="Calibri" pitchFamily="34" charset="-120"/>
              </a:rPr>
              <a:t>Best dataset overall</a:t>
            </a:r>
            <a:endParaRPr lang="en-US" sz="1300" dirty="0"/>
          </a:p>
          <a:p>
            <a:pPr marL="0" indent="0">
              <a:buNone/>
            </a:pPr>
            <a:r>
              <a:rPr lang="en-US" sz="1300" b="1" dirty="0">
                <a:solidFill>
                  <a:srgbClr val="FFFFFF"/>
                </a:solidFill>
                <a:latin typeface="Calibri" pitchFamily="34" charset="0"/>
                <a:ea typeface="Calibri" pitchFamily="34" charset="-122"/>
                <a:cs typeface="Calibri" pitchFamily="34" charset="-120"/>
              </a:rPr>
              <a:t>Worst model</a:t>
            </a:r>
            <a:endParaRPr lang="en-US" sz="1300" dirty="0"/>
          </a:p>
          <a:p>
            <a:pPr marL="0" indent="0">
              <a:spcAft>
                <a:spcPts val="1200"/>
              </a:spcAft>
              <a:buNone/>
            </a:pPr>
            <a:r>
              <a:rPr lang="en-US" sz="1300" dirty="0">
                <a:solidFill>
                  <a:srgbClr val="CADCFC"/>
                </a:solidFill>
                <a:latin typeface="Calibri" pitchFamily="34" charset="0"/>
                <a:ea typeface="Calibri" pitchFamily="34" charset="-122"/>
                <a:cs typeface="Calibri" pitchFamily="34" charset="-120"/>
              </a:rPr>
              <a:t>Logistic Regression  80.23 %</a:t>
            </a:r>
            <a:endParaRPr lang="en-US" sz="1300" dirty="0"/>
          </a:p>
          <a:p>
            <a:pPr marL="0" indent="0">
              <a:buNone/>
            </a:pPr>
            <a:r>
              <a:rPr lang="en-US" sz="1300" b="1" dirty="0">
                <a:solidFill>
                  <a:srgbClr val="FFFFFF"/>
                </a:solidFill>
                <a:latin typeface="Calibri" pitchFamily="34" charset="0"/>
                <a:ea typeface="Calibri" pitchFamily="34" charset="-122"/>
                <a:cs typeface="Calibri" pitchFamily="34" charset="-120"/>
              </a:rPr>
              <a:t>Test set</a:t>
            </a:r>
            <a:endParaRPr lang="en-US" sz="1300" dirty="0"/>
          </a:p>
          <a:p>
            <a:pPr marL="0" indent="0">
              <a:buNone/>
            </a:pPr>
            <a:r>
              <a:rPr lang="en-US" sz="1300" dirty="0">
                <a:solidFill>
                  <a:srgbClr val="CADCFC"/>
                </a:solidFill>
                <a:latin typeface="Calibri" pitchFamily="34" charset="0"/>
                <a:ea typeface="Calibri" pitchFamily="34" charset="-122"/>
                <a:cs typeface="Calibri" pitchFamily="34" charset="-120"/>
              </a:rPr>
              <a:t>7,255 bookings</a:t>
            </a:r>
            <a:endParaRPr lang="en-US" sz="1300" dirty="0"/>
          </a:p>
        </p:txBody>
      </p:sp>
      <p:sp>
        <p:nvSpPr>
          <p:cNvPr id="8" name="Shape 5"/>
          <p:cNvSpPr/>
          <p:nvPr/>
        </p:nvSpPr>
        <p:spPr>
          <a:xfrm>
            <a:off x="0" y="6675120"/>
            <a:ext cx="12161520" cy="182880"/>
          </a:xfrm>
          <a:prstGeom prst="rect">
            <a:avLst/>
          </a:prstGeom>
          <a:solidFill>
            <a:srgbClr val="1E3A68"/>
          </a:solidFill>
          <a:ln w="12700">
            <a:solidFill>
              <a:srgbClr val="1E3A68"/>
            </a:solidFill>
            <a:prstDash val="solid"/>
          </a:ln>
        </p:spPr>
        <p:txBody>
          <a:bodyPr/>
          <a:lstStyle/>
          <a:p>
            <a:endParaRPr lang="en-US"/>
          </a:p>
        </p:txBody>
      </p:sp>
      <p:sp>
        <p:nvSpPr>
          <p:cNvPr id="9" name="Text 6"/>
          <p:cNvSpPr/>
          <p:nvPr/>
        </p:nvSpPr>
        <p:spPr>
          <a:xfrm>
            <a:off x="365760" y="6675120"/>
            <a:ext cx="6400800" cy="18288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Hotel Booking Cancellation Prediction  |  Team 32</a:t>
            </a:r>
            <a:endParaRPr lang="en-US" sz="900" dirty="0"/>
          </a:p>
        </p:txBody>
      </p:sp>
      <p:sp>
        <p:nvSpPr>
          <p:cNvPr id="10" name="Text 7"/>
          <p:cNvSpPr/>
          <p:nvPr/>
        </p:nvSpPr>
        <p:spPr>
          <a:xfrm>
            <a:off x="11338560" y="6675120"/>
            <a:ext cx="548640" cy="18288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14 / 19</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0972800" cy="274320"/>
          </a:xfrm>
          <a:prstGeom prst="rect">
            <a:avLst/>
          </a:prstGeom>
          <a:noFill/>
          <a:ln/>
        </p:spPr>
        <p:txBody>
          <a:bodyPr wrap="square" lIns="0" tIns="0" rIns="0" bIns="0" rtlCol="0" anchor="ctr"/>
          <a:lstStyle/>
          <a:p>
            <a:pPr marL="0" indent="0">
              <a:buNone/>
            </a:pPr>
            <a:r>
              <a:rPr lang="en-US" sz="1100" b="1" kern="0" spc="400" dirty="0">
                <a:solidFill>
                  <a:srgbClr val="F59E0B"/>
                </a:solidFill>
                <a:latin typeface="Calibri" pitchFamily="34" charset="0"/>
                <a:ea typeface="Calibri" pitchFamily="34" charset="-122"/>
                <a:cs typeface="Calibri" pitchFamily="34" charset="-120"/>
              </a:rPr>
              <a:t>06  ·  RESULTS</a:t>
            </a:r>
            <a:endParaRPr lang="en-US" sz="1100" dirty="0"/>
          </a:p>
        </p:txBody>
      </p:sp>
      <p:sp>
        <p:nvSpPr>
          <p:cNvPr id="3" name="Text 1"/>
          <p:cNvSpPr/>
          <p:nvPr/>
        </p:nvSpPr>
        <p:spPr>
          <a:xfrm>
            <a:off x="548640" y="594360"/>
            <a:ext cx="10972800" cy="640080"/>
          </a:xfrm>
          <a:prstGeom prst="rect">
            <a:avLst/>
          </a:prstGeom>
          <a:noFill/>
          <a:ln/>
        </p:spPr>
        <p:txBody>
          <a:bodyPr wrap="square" lIns="0" tIns="0" rIns="0" bIns="0" rtlCol="0" anchor="ctr"/>
          <a:lstStyle/>
          <a:p>
            <a:pPr marL="0" indent="0">
              <a:buNone/>
            </a:pPr>
            <a:r>
              <a:rPr lang="en-US" sz="3000" b="1" dirty="0">
                <a:solidFill>
                  <a:srgbClr val="1E3A68"/>
                </a:solidFill>
                <a:latin typeface="Calibri" pitchFamily="34" charset="0"/>
                <a:ea typeface="Calibri" pitchFamily="34" charset="-122"/>
                <a:cs typeface="Calibri" pitchFamily="34" charset="-120"/>
              </a:rPr>
              <a:t>Dataset 3 — Inn Hotel (variant)</a:t>
            </a:r>
            <a:endParaRPr lang="en-US" sz="3000" dirty="0"/>
          </a:p>
        </p:txBody>
      </p:sp>
      <p:pic>
        <p:nvPicPr>
          <p:cNvPr id="4" name="Image 0" descr="/sessions/eloquent-determined-pascal/mnt/outputs/assets/Table_Dataset3.png"/>
          <p:cNvPicPr>
            <a:picLocks noChangeAspect="1"/>
          </p:cNvPicPr>
          <p:nvPr/>
        </p:nvPicPr>
        <p:blipFill>
          <a:blip r:embed="rId3"/>
          <a:stretch>
            <a:fillRect/>
          </a:stretch>
        </p:blipFill>
        <p:spPr>
          <a:xfrm>
            <a:off x="640080" y="1691640"/>
            <a:ext cx="8229600" cy="4206240"/>
          </a:xfrm>
          <a:prstGeom prst="rect">
            <a:avLst/>
          </a:prstGeom>
        </p:spPr>
      </p:pic>
      <p:sp>
        <p:nvSpPr>
          <p:cNvPr id="5" name="Shape 2"/>
          <p:cNvSpPr/>
          <p:nvPr/>
        </p:nvSpPr>
        <p:spPr>
          <a:xfrm>
            <a:off x="9144000" y="1691640"/>
            <a:ext cx="2606040" cy="4206240"/>
          </a:xfrm>
          <a:prstGeom prst="rect">
            <a:avLst/>
          </a:prstGeom>
          <a:solidFill>
            <a:srgbClr val="1E3A68"/>
          </a:solidFill>
          <a:ln w="12700">
            <a:solidFill>
              <a:srgbClr val="1E3A68"/>
            </a:solidFill>
            <a:prstDash val="solid"/>
          </a:ln>
        </p:spPr>
        <p:txBody>
          <a:bodyPr/>
          <a:lstStyle/>
          <a:p>
            <a:endParaRPr lang="en-US"/>
          </a:p>
        </p:txBody>
      </p:sp>
      <p:sp>
        <p:nvSpPr>
          <p:cNvPr id="6" name="Text 3"/>
          <p:cNvSpPr/>
          <p:nvPr/>
        </p:nvSpPr>
        <p:spPr>
          <a:xfrm>
            <a:off x="9326880" y="1828800"/>
            <a:ext cx="2331720" cy="411480"/>
          </a:xfrm>
          <a:prstGeom prst="rect">
            <a:avLst/>
          </a:prstGeom>
          <a:noFill/>
          <a:ln/>
        </p:spPr>
        <p:txBody>
          <a:bodyPr wrap="square" lIns="0" tIns="0" rIns="0" bIns="0" rtlCol="0" anchor="ctr"/>
          <a:lstStyle/>
          <a:p>
            <a:pPr marL="0" indent="0">
              <a:buNone/>
            </a:pPr>
            <a:r>
              <a:rPr lang="en-US" sz="1600" b="1" dirty="0">
                <a:solidFill>
                  <a:srgbClr val="F59E0B"/>
                </a:solidFill>
                <a:latin typeface="Calibri" pitchFamily="34" charset="0"/>
                <a:ea typeface="Calibri" pitchFamily="34" charset="-122"/>
                <a:cs typeface="Calibri" pitchFamily="34" charset="-120"/>
              </a:rPr>
              <a:t>Highlights</a:t>
            </a:r>
            <a:endParaRPr lang="en-US" sz="1600" dirty="0"/>
          </a:p>
        </p:txBody>
      </p:sp>
      <p:sp>
        <p:nvSpPr>
          <p:cNvPr id="7" name="Text 4"/>
          <p:cNvSpPr/>
          <p:nvPr/>
        </p:nvSpPr>
        <p:spPr>
          <a:xfrm>
            <a:off x="9326880" y="2331720"/>
            <a:ext cx="2331720" cy="35204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Random Forest</a:t>
            </a:r>
            <a:endParaRPr lang="en-US" sz="1300" dirty="0"/>
          </a:p>
          <a:p>
            <a:pPr marL="0" indent="0">
              <a:spcAft>
                <a:spcPts val="1200"/>
              </a:spcAft>
              <a:buNone/>
            </a:pPr>
            <a:r>
              <a:rPr lang="en-US" sz="2600" b="1" dirty="0">
                <a:solidFill>
                  <a:srgbClr val="F59E0B"/>
                </a:solidFill>
                <a:latin typeface="Calibri" pitchFamily="34" charset="0"/>
                <a:ea typeface="Calibri" pitchFamily="34" charset="-122"/>
                <a:cs typeface="Calibri" pitchFamily="34" charset="-120"/>
              </a:rPr>
              <a:t>88.71 %</a:t>
            </a:r>
            <a:endParaRPr lang="en-US" sz="1300" dirty="0"/>
          </a:p>
          <a:p>
            <a:pPr marL="0" indent="0">
              <a:buNone/>
            </a:pPr>
            <a:r>
              <a:rPr lang="en-US" sz="1300" dirty="0">
                <a:solidFill>
                  <a:srgbClr val="CADCFC"/>
                </a:solidFill>
                <a:latin typeface="Calibri" pitchFamily="34" charset="0"/>
                <a:ea typeface="Calibri" pitchFamily="34" charset="-122"/>
                <a:cs typeface="Calibri" pitchFamily="34" charset="-120"/>
              </a:rPr>
              <a:t>Same Inn source as</a:t>
            </a:r>
            <a:endParaRPr lang="en-US" sz="1300" dirty="0"/>
          </a:p>
          <a:p>
            <a:pPr marL="0" indent="0">
              <a:spcAft>
                <a:spcPts val="1200"/>
              </a:spcAft>
              <a:buNone/>
            </a:pPr>
            <a:r>
              <a:rPr lang="en-US" sz="1300" i="1" dirty="0">
                <a:solidFill>
                  <a:srgbClr val="CADCFC"/>
                </a:solidFill>
                <a:latin typeface="Calibri" pitchFamily="34" charset="0"/>
                <a:ea typeface="Calibri" pitchFamily="34" charset="-122"/>
                <a:cs typeface="Calibri" pitchFamily="34" charset="-120"/>
              </a:rPr>
              <a:t>Dataset 2, different column names</a:t>
            </a:r>
            <a:endParaRPr lang="en-US" sz="1300" dirty="0"/>
          </a:p>
          <a:p>
            <a:pPr marL="0" indent="0">
              <a:buNone/>
            </a:pPr>
            <a:r>
              <a:rPr lang="en-US" sz="1300" b="1" dirty="0">
                <a:solidFill>
                  <a:srgbClr val="FFFFFF"/>
                </a:solidFill>
                <a:latin typeface="Calibri" pitchFamily="34" charset="0"/>
                <a:ea typeface="Calibri" pitchFamily="34" charset="-122"/>
                <a:cs typeface="Calibri" pitchFamily="34" charset="-120"/>
              </a:rPr>
              <a:t>Worst model</a:t>
            </a:r>
            <a:endParaRPr lang="en-US" sz="1300" dirty="0"/>
          </a:p>
          <a:p>
            <a:pPr marL="0" indent="0">
              <a:spcAft>
                <a:spcPts val="1200"/>
              </a:spcAft>
              <a:buNone/>
            </a:pPr>
            <a:r>
              <a:rPr lang="en-US" sz="1300" dirty="0">
                <a:solidFill>
                  <a:srgbClr val="CADCFC"/>
                </a:solidFill>
                <a:latin typeface="Calibri" pitchFamily="34" charset="0"/>
                <a:ea typeface="Calibri" pitchFamily="34" charset="-122"/>
                <a:cs typeface="Calibri" pitchFamily="34" charset="-120"/>
              </a:rPr>
              <a:t>Logistic Regression  80.10 %</a:t>
            </a:r>
            <a:endParaRPr lang="en-US" sz="1300" dirty="0"/>
          </a:p>
          <a:p>
            <a:pPr marL="0" indent="0">
              <a:buNone/>
            </a:pPr>
            <a:r>
              <a:rPr lang="en-US" sz="1300" b="1" dirty="0">
                <a:solidFill>
                  <a:srgbClr val="FFFFFF"/>
                </a:solidFill>
                <a:latin typeface="Calibri" pitchFamily="34" charset="0"/>
                <a:ea typeface="Calibri" pitchFamily="34" charset="-122"/>
                <a:cs typeface="Calibri" pitchFamily="34" charset="-120"/>
              </a:rPr>
              <a:t>Test set</a:t>
            </a:r>
            <a:endParaRPr lang="en-US" sz="1300" dirty="0"/>
          </a:p>
          <a:p>
            <a:pPr marL="0" indent="0">
              <a:buNone/>
            </a:pPr>
            <a:r>
              <a:rPr lang="en-US" sz="1300" dirty="0">
                <a:solidFill>
                  <a:srgbClr val="CADCFC"/>
                </a:solidFill>
                <a:latin typeface="Calibri" pitchFamily="34" charset="0"/>
                <a:ea typeface="Calibri" pitchFamily="34" charset="-122"/>
                <a:cs typeface="Calibri" pitchFamily="34" charset="-120"/>
              </a:rPr>
              <a:t>7,257 bookings</a:t>
            </a:r>
            <a:endParaRPr lang="en-US" sz="1300" dirty="0"/>
          </a:p>
        </p:txBody>
      </p:sp>
      <p:sp>
        <p:nvSpPr>
          <p:cNvPr id="8" name="Shape 5"/>
          <p:cNvSpPr/>
          <p:nvPr/>
        </p:nvSpPr>
        <p:spPr>
          <a:xfrm>
            <a:off x="0" y="6675120"/>
            <a:ext cx="12161520" cy="182880"/>
          </a:xfrm>
          <a:prstGeom prst="rect">
            <a:avLst/>
          </a:prstGeom>
          <a:solidFill>
            <a:srgbClr val="1E3A68"/>
          </a:solidFill>
          <a:ln w="12700">
            <a:solidFill>
              <a:srgbClr val="1E3A68"/>
            </a:solidFill>
            <a:prstDash val="solid"/>
          </a:ln>
        </p:spPr>
        <p:txBody>
          <a:bodyPr/>
          <a:lstStyle/>
          <a:p>
            <a:endParaRPr lang="en-US"/>
          </a:p>
        </p:txBody>
      </p:sp>
      <p:sp>
        <p:nvSpPr>
          <p:cNvPr id="9" name="Text 6"/>
          <p:cNvSpPr/>
          <p:nvPr/>
        </p:nvSpPr>
        <p:spPr>
          <a:xfrm>
            <a:off x="365760" y="6675120"/>
            <a:ext cx="6400800" cy="18288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Hotel Booking Cancellation Prediction  |  Team 32</a:t>
            </a:r>
            <a:endParaRPr lang="en-US" sz="900" dirty="0"/>
          </a:p>
        </p:txBody>
      </p:sp>
      <p:sp>
        <p:nvSpPr>
          <p:cNvPr id="10" name="Text 7"/>
          <p:cNvSpPr/>
          <p:nvPr/>
        </p:nvSpPr>
        <p:spPr>
          <a:xfrm>
            <a:off x="11338560" y="6675120"/>
            <a:ext cx="548640" cy="18288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15 / 19</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0972800" cy="274320"/>
          </a:xfrm>
          <a:prstGeom prst="rect">
            <a:avLst/>
          </a:prstGeom>
          <a:noFill/>
          <a:ln/>
        </p:spPr>
        <p:txBody>
          <a:bodyPr wrap="square" lIns="0" tIns="0" rIns="0" bIns="0" rtlCol="0" anchor="ctr"/>
          <a:lstStyle/>
          <a:p>
            <a:pPr marL="0" indent="0">
              <a:buNone/>
            </a:pPr>
            <a:r>
              <a:rPr lang="en-US" sz="1100" b="1" kern="0" spc="400" dirty="0">
                <a:solidFill>
                  <a:srgbClr val="F59E0B"/>
                </a:solidFill>
                <a:latin typeface="Calibri" pitchFamily="34" charset="0"/>
                <a:ea typeface="Calibri" pitchFamily="34" charset="-122"/>
                <a:cs typeface="Calibri" pitchFamily="34" charset="-120"/>
              </a:rPr>
              <a:t>06  ·  RESULTS</a:t>
            </a:r>
            <a:endParaRPr lang="en-US" sz="1100" dirty="0"/>
          </a:p>
        </p:txBody>
      </p:sp>
      <p:sp>
        <p:nvSpPr>
          <p:cNvPr id="3" name="Text 1"/>
          <p:cNvSpPr/>
          <p:nvPr/>
        </p:nvSpPr>
        <p:spPr>
          <a:xfrm>
            <a:off x="548640" y="594360"/>
            <a:ext cx="10972800" cy="640080"/>
          </a:xfrm>
          <a:prstGeom prst="rect">
            <a:avLst/>
          </a:prstGeom>
          <a:noFill/>
          <a:ln/>
        </p:spPr>
        <p:txBody>
          <a:bodyPr wrap="square" lIns="0" tIns="0" rIns="0" bIns="0" rtlCol="0" anchor="ctr"/>
          <a:lstStyle/>
          <a:p>
            <a:pPr marL="0" indent="0">
              <a:buNone/>
            </a:pPr>
            <a:r>
              <a:rPr lang="en-US" sz="3000" b="1" dirty="0">
                <a:solidFill>
                  <a:srgbClr val="1E3A68"/>
                </a:solidFill>
                <a:latin typeface="Calibri" pitchFamily="34" charset="0"/>
                <a:ea typeface="Calibri" pitchFamily="34" charset="-122"/>
                <a:cs typeface="Calibri" pitchFamily="34" charset="-120"/>
              </a:rPr>
              <a:t>All Datasets, Side by Side</a:t>
            </a:r>
            <a:endParaRPr lang="en-US" sz="3000" dirty="0"/>
          </a:p>
        </p:txBody>
      </p:sp>
      <p:pic>
        <p:nvPicPr>
          <p:cNvPr id="4" name="Image 0" descr="/sessions/eloquent-determined-pascal/mnt/outputs/assets/Table_Summary.png"/>
          <p:cNvPicPr>
            <a:picLocks noChangeAspect="1"/>
          </p:cNvPicPr>
          <p:nvPr/>
        </p:nvPicPr>
        <p:blipFill>
          <a:blip r:embed="rId3"/>
          <a:stretch>
            <a:fillRect/>
          </a:stretch>
        </p:blipFill>
        <p:spPr>
          <a:xfrm>
            <a:off x="1463040" y="1645920"/>
            <a:ext cx="9235440" cy="3657600"/>
          </a:xfrm>
          <a:prstGeom prst="rect">
            <a:avLst/>
          </a:prstGeom>
        </p:spPr>
      </p:pic>
      <p:sp>
        <p:nvSpPr>
          <p:cNvPr id="5" name="Shape 2"/>
          <p:cNvSpPr/>
          <p:nvPr/>
        </p:nvSpPr>
        <p:spPr>
          <a:xfrm>
            <a:off x="548640" y="5486400"/>
            <a:ext cx="11064240" cy="868680"/>
          </a:xfrm>
          <a:prstGeom prst="rect">
            <a:avLst/>
          </a:prstGeom>
          <a:solidFill>
            <a:srgbClr val="1E3A68"/>
          </a:solidFill>
          <a:ln w="12700">
            <a:solidFill>
              <a:srgbClr val="1E3A68"/>
            </a:solidFill>
            <a:prstDash val="solid"/>
          </a:ln>
        </p:spPr>
        <p:txBody>
          <a:bodyPr/>
          <a:lstStyle/>
          <a:p>
            <a:endParaRPr lang="en-US"/>
          </a:p>
        </p:txBody>
      </p:sp>
      <p:sp>
        <p:nvSpPr>
          <p:cNvPr id="6" name="Text 3"/>
          <p:cNvSpPr/>
          <p:nvPr/>
        </p:nvSpPr>
        <p:spPr>
          <a:xfrm>
            <a:off x="731520" y="5486400"/>
            <a:ext cx="10789920" cy="868680"/>
          </a:xfrm>
          <a:prstGeom prst="rect">
            <a:avLst/>
          </a:prstGeom>
          <a:noFill/>
          <a:ln/>
        </p:spPr>
        <p:txBody>
          <a:bodyPr wrap="square" lIns="0" tIns="0" rIns="0" bIns="0" rtlCol="0" anchor="ctr"/>
          <a:lstStyle/>
          <a:p>
            <a:pPr marL="0" indent="0" algn="ctr">
              <a:buNone/>
            </a:pPr>
            <a:r>
              <a:rPr lang="en-US" sz="1500" i="1" dirty="0">
                <a:solidFill>
                  <a:srgbClr val="FFFFFF"/>
                </a:solidFill>
                <a:latin typeface="Calibri" pitchFamily="34" charset="0"/>
                <a:ea typeface="Calibri" pitchFamily="34" charset="-122"/>
                <a:cs typeface="Calibri" pitchFamily="34" charset="-120"/>
              </a:rPr>
              <a:t>Random Forest wins on all three datasets. The ranking is identical every time, which makes the result much more trustworthy.</a:t>
            </a:r>
            <a:endParaRPr lang="en-US" sz="1500" dirty="0"/>
          </a:p>
        </p:txBody>
      </p:sp>
      <p:sp>
        <p:nvSpPr>
          <p:cNvPr id="7" name="Shape 4"/>
          <p:cNvSpPr/>
          <p:nvPr/>
        </p:nvSpPr>
        <p:spPr>
          <a:xfrm>
            <a:off x="0" y="6675120"/>
            <a:ext cx="12161520" cy="182880"/>
          </a:xfrm>
          <a:prstGeom prst="rect">
            <a:avLst/>
          </a:prstGeom>
          <a:solidFill>
            <a:srgbClr val="1E3A68"/>
          </a:solidFill>
          <a:ln w="12700">
            <a:solidFill>
              <a:srgbClr val="1E3A68"/>
            </a:solidFill>
            <a:prstDash val="solid"/>
          </a:ln>
        </p:spPr>
        <p:txBody>
          <a:bodyPr/>
          <a:lstStyle/>
          <a:p>
            <a:endParaRPr lang="en-US"/>
          </a:p>
        </p:txBody>
      </p:sp>
      <p:sp>
        <p:nvSpPr>
          <p:cNvPr id="8" name="Text 5"/>
          <p:cNvSpPr/>
          <p:nvPr/>
        </p:nvSpPr>
        <p:spPr>
          <a:xfrm>
            <a:off x="365760" y="6675120"/>
            <a:ext cx="6400800" cy="18288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Hotel Booking Cancellation Prediction  |  Team 32</a:t>
            </a:r>
            <a:endParaRPr lang="en-US" sz="900" dirty="0"/>
          </a:p>
        </p:txBody>
      </p:sp>
      <p:sp>
        <p:nvSpPr>
          <p:cNvPr id="9" name="Text 6"/>
          <p:cNvSpPr/>
          <p:nvPr/>
        </p:nvSpPr>
        <p:spPr>
          <a:xfrm>
            <a:off x="11338560" y="6675120"/>
            <a:ext cx="548640" cy="18288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16 / 19</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0972800" cy="274320"/>
          </a:xfrm>
          <a:prstGeom prst="rect">
            <a:avLst/>
          </a:prstGeom>
          <a:noFill/>
          <a:ln/>
        </p:spPr>
        <p:txBody>
          <a:bodyPr wrap="square" lIns="0" tIns="0" rIns="0" bIns="0" rtlCol="0" anchor="ctr"/>
          <a:lstStyle/>
          <a:p>
            <a:pPr marL="0" indent="0">
              <a:buNone/>
            </a:pPr>
            <a:r>
              <a:rPr lang="en-US" sz="1100" b="1" kern="0" spc="400" dirty="0">
                <a:solidFill>
                  <a:srgbClr val="F59E0B"/>
                </a:solidFill>
                <a:latin typeface="Calibri" pitchFamily="34" charset="0"/>
                <a:ea typeface="Calibri" pitchFamily="34" charset="-122"/>
                <a:cs typeface="Calibri" pitchFamily="34" charset="-120"/>
              </a:rPr>
              <a:t>06  ·  ANALYSIS</a:t>
            </a:r>
            <a:endParaRPr lang="en-US" sz="1100" dirty="0"/>
          </a:p>
        </p:txBody>
      </p:sp>
      <p:sp>
        <p:nvSpPr>
          <p:cNvPr id="3" name="Text 1"/>
          <p:cNvSpPr/>
          <p:nvPr/>
        </p:nvSpPr>
        <p:spPr>
          <a:xfrm>
            <a:off x="548640" y="594360"/>
            <a:ext cx="10972800" cy="640080"/>
          </a:xfrm>
          <a:prstGeom prst="rect">
            <a:avLst/>
          </a:prstGeom>
          <a:noFill/>
          <a:ln/>
        </p:spPr>
        <p:txBody>
          <a:bodyPr wrap="square" lIns="0" tIns="0" rIns="0" bIns="0" rtlCol="0" anchor="ctr"/>
          <a:lstStyle/>
          <a:p>
            <a:pPr marL="0" indent="0">
              <a:buNone/>
            </a:pPr>
            <a:r>
              <a:rPr lang="en-US" sz="3000" b="1" dirty="0">
                <a:solidFill>
                  <a:srgbClr val="1E3A68"/>
                </a:solidFill>
                <a:latin typeface="Calibri" pitchFamily="34" charset="0"/>
                <a:ea typeface="Calibri" pitchFamily="34" charset="-122"/>
                <a:cs typeface="Calibri" pitchFamily="34" charset="-120"/>
              </a:rPr>
              <a:t>Why Random Forest Won</a:t>
            </a:r>
            <a:endParaRPr lang="en-US" sz="3000" dirty="0"/>
          </a:p>
        </p:txBody>
      </p:sp>
      <p:pic>
        <p:nvPicPr>
          <p:cNvPr id="4" name="Image 0" descr="/sessions/eloquent-determined-pascal/mnt/outputs/assets/cm_rf_d1.png"/>
          <p:cNvPicPr>
            <a:picLocks noChangeAspect="1"/>
          </p:cNvPicPr>
          <p:nvPr/>
        </p:nvPicPr>
        <p:blipFill>
          <a:blip r:embed="rId3"/>
          <a:stretch>
            <a:fillRect/>
          </a:stretch>
        </p:blipFill>
        <p:spPr>
          <a:xfrm>
            <a:off x="502920" y="1691640"/>
            <a:ext cx="3246120" cy="3337560"/>
          </a:xfrm>
          <a:prstGeom prst="rect">
            <a:avLst/>
          </a:prstGeom>
        </p:spPr>
      </p:pic>
      <p:sp>
        <p:nvSpPr>
          <p:cNvPr id="5" name="Text 2"/>
          <p:cNvSpPr/>
          <p:nvPr/>
        </p:nvSpPr>
        <p:spPr>
          <a:xfrm>
            <a:off x="502920" y="5074920"/>
            <a:ext cx="3246120" cy="274320"/>
          </a:xfrm>
          <a:prstGeom prst="rect">
            <a:avLst/>
          </a:prstGeom>
          <a:noFill/>
          <a:ln/>
        </p:spPr>
        <p:txBody>
          <a:bodyPr wrap="square" lIns="0" tIns="0" rIns="0" bIns="0" rtlCol="0" anchor="ctr"/>
          <a:lstStyle/>
          <a:p>
            <a:pPr marL="0" indent="0" algn="ctr">
              <a:buNone/>
            </a:pPr>
            <a:r>
              <a:rPr lang="en-US" sz="1200" b="1" dirty="0">
                <a:solidFill>
                  <a:srgbClr val="64748B"/>
                </a:solidFill>
                <a:latin typeface="Calibri" pitchFamily="34" charset="0"/>
                <a:ea typeface="Calibri" pitchFamily="34" charset="-122"/>
                <a:cs typeface="Calibri" pitchFamily="34" charset="-120"/>
              </a:rPr>
              <a:t>Dataset 1</a:t>
            </a:r>
            <a:endParaRPr lang="en-US" sz="1200" dirty="0"/>
          </a:p>
        </p:txBody>
      </p:sp>
      <p:pic>
        <p:nvPicPr>
          <p:cNvPr id="6" name="Image 1" descr="/sessions/eloquent-determined-pascal/mnt/outputs/assets/cm_rf_d2.png"/>
          <p:cNvPicPr>
            <a:picLocks noChangeAspect="1"/>
          </p:cNvPicPr>
          <p:nvPr/>
        </p:nvPicPr>
        <p:blipFill>
          <a:blip r:embed="rId4"/>
          <a:stretch>
            <a:fillRect/>
          </a:stretch>
        </p:blipFill>
        <p:spPr>
          <a:xfrm>
            <a:off x="4023360" y="1691640"/>
            <a:ext cx="3246120" cy="3337560"/>
          </a:xfrm>
          <a:prstGeom prst="rect">
            <a:avLst/>
          </a:prstGeom>
        </p:spPr>
      </p:pic>
      <p:sp>
        <p:nvSpPr>
          <p:cNvPr id="7" name="Text 3"/>
          <p:cNvSpPr/>
          <p:nvPr/>
        </p:nvSpPr>
        <p:spPr>
          <a:xfrm>
            <a:off x="4023360" y="5074920"/>
            <a:ext cx="3246120" cy="274320"/>
          </a:xfrm>
          <a:prstGeom prst="rect">
            <a:avLst/>
          </a:prstGeom>
          <a:noFill/>
          <a:ln/>
        </p:spPr>
        <p:txBody>
          <a:bodyPr wrap="square" lIns="0" tIns="0" rIns="0" bIns="0" rtlCol="0" anchor="ctr"/>
          <a:lstStyle/>
          <a:p>
            <a:pPr marL="0" indent="0" algn="ctr">
              <a:buNone/>
            </a:pPr>
            <a:r>
              <a:rPr lang="en-US" sz="1200" b="1" dirty="0">
                <a:solidFill>
                  <a:srgbClr val="64748B"/>
                </a:solidFill>
                <a:latin typeface="Calibri" pitchFamily="34" charset="0"/>
                <a:ea typeface="Calibri" pitchFamily="34" charset="-122"/>
                <a:cs typeface="Calibri" pitchFamily="34" charset="-120"/>
              </a:rPr>
              <a:t>Dataset 2</a:t>
            </a:r>
            <a:endParaRPr lang="en-US" sz="1200" dirty="0"/>
          </a:p>
        </p:txBody>
      </p:sp>
      <p:pic>
        <p:nvPicPr>
          <p:cNvPr id="8" name="Image 2" descr="/sessions/eloquent-determined-pascal/mnt/outputs/assets/cm_rf_d3.png"/>
          <p:cNvPicPr>
            <a:picLocks noChangeAspect="1"/>
          </p:cNvPicPr>
          <p:nvPr/>
        </p:nvPicPr>
        <p:blipFill>
          <a:blip r:embed="rId5"/>
          <a:stretch>
            <a:fillRect/>
          </a:stretch>
        </p:blipFill>
        <p:spPr>
          <a:xfrm>
            <a:off x="7543800" y="1691640"/>
            <a:ext cx="3246120" cy="3337560"/>
          </a:xfrm>
          <a:prstGeom prst="rect">
            <a:avLst/>
          </a:prstGeom>
        </p:spPr>
      </p:pic>
      <p:sp>
        <p:nvSpPr>
          <p:cNvPr id="9" name="Text 4"/>
          <p:cNvSpPr/>
          <p:nvPr/>
        </p:nvSpPr>
        <p:spPr>
          <a:xfrm>
            <a:off x="7543800" y="5074920"/>
            <a:ext cx="3246120" cy="274320"/>
          </a:xfrm>
          <a:prstGeom prst="rect">
            <a:avLst/>
          </a:prstGeom>
          <a:noFill/>
          <a:ln/>
        </p:spPr>
        <p:txBody>
          <a:bodyPr wrap="square" lIns="0" tIns="0" rIns="0" bIns="0" rtlCol="0" anchor="ctr"/>
          <a:lstStyle/>
          <a:p>
            <a:pPr marL="0" indent="0" algn="ctr">
              <a:buNone/>
            </a:pPr>
            <a:r>
              <a:rPr lang="en-US" sz="1200" b="1" dirty="0">
                <a:solidFill>
                  <a:srgbClr val="64748B"/>
                </a:solidFill>
                <a:latin typeface="Calibri" pitchFamily="34" charset="0"/>
                <a:ea typeface="Calibri" pitchFamily="34" charset="-122"/>
                <a:cs typeface="Calibri" pitchFamily="34" charset="-120"/>
              </a:rPr>
              <a:t>Dataset 3</a:t>
            </a:r>
            <a:endParaRPr lang="en-US" sz="1200" dirty="0"/>
          </a:p>
        </p:txBody>
      </p:sp>
      <p:sp>
        <p:nvSpPr>
          <p:cNvPr id="10" name="Shape 5"/>
          <p:cNvSpPr/>
          <p:nvPr/>
        </p:nvSpPr>
        <p:spPr>
          <a:xfrm>
            <a:off x="502920" y="5532120"/>
            <a:ext cx="11155680" cy="1005840"/>
          </a:xfrm>
          <a:prstGeom prst="rect">
            <a:avLst/>
          </a:prstGeom>
          <a:solidFill>
            <a:srgbClr val="F0F4FA"/>
          </a:solidFill>
          <a:ln w="12700">
            <a:solidFill>
              <a:srgbClr val="F0F4FA"/>
            </a:solidFill>
            <a:prstDash val="solid"/>
          </a:ln>
        </p:spPr>
        <p:txBody>
          <a:bodyPr/>
          <a:lstStyle/>
          <a:p>
            <a:endParaRPr lang="en-US"/>
          </a:p>
        </p:txBody>
      </p:sp>
      <p:sp>
        <p:nvSpPr>
          <p:cNvPr id="11" name="Text 6"/>
          <p:cNvSpPr/>
          <p:nvPr/>
        </p:nvSpPr>
        <p:spPr>
          <a:xfrm>
            <a:off x="685800" y="5532120"/>
            <a:ext cx="10972800" cy="1005840"/>
          </a:xfrm>
          <a:prstGeom prst="rect">
            <a:avLst/>
          </a:prstGeom>
          <a:noFill/>
          <a:ln/>
        </p:spPr>
        <p:txBody>
          <a:bodyPr wrap="square" lIns="0" tIns="0" rIns="0" bIns="0" rtlCol="0" anchor="ctr"/>
          <a:lstStyle/>
          <a:p>
            <a:pPr marL="0" indent="0">
              <a:buNone/>
            </a:pPr>
            <a:r>
              <a:rPr lang="en-US" sz="1200" b="1" dirty="0">
                <a:solidFill>
                  <a:srgbClr val="1E3A68"/>
                </a:solidFill>
                <a:latin typeface="Calibri" pitchFamily="34" charset="0"/>
                <a:ea typeface="Calibri" pitchFamily="34" charset="-122"/>
                <a:cs typeface="Calibri" pitchFamily="34" charset="-120"/>
              </a:rPr>
              <a:t>Why it works:  </a:t>
            </a:r>
            <a:r>
              <a:rPr lang="en-US" sz="1200" dirty="0">
                <a:solidFill>
                  <a:srgbClr val="1E293B"/>
                </a:solidFill>
                <a:latin typeface="Calibri" pitchFamily="34" charset="0"/>
                <a:ea typeface="Calibri" pitchFamily="34" charset="-122"/>
                <a:cs typeface="Calibri" pitchFamily="34" charset="-120"/>
              </a:rPr>
              <a:t>Random Forest combines 100 trees, each trained on a random sample of rows and features. It handles mixed numeric and categorical features without preprocessing tricks, captures non-linear interactions between lead time and deposit type, and resists overfitting through bagging. CNN underperformed because Conv1D assumes spatial structure in features, which tabular data does not have.</a:t>
            </a:r>
            <a:endParaRPr lang="en-US" sz="1200" dirty="0"/>
          </a:p>
        </p:txBody>
      </p:sp>
      <p:sp>
        <p:nvSpPr>
          <p:cNvPr id="12" name="Shape 7"/>
          <p:cNvSpPr/>
          <p:nvPr/>
        </p:nvSpPr>
        <p:spPr>
          <a:xfrm>
            <a:off x="0" y="6675120"/>
            <a:ext cx="12161520" cy="182880"/>
          </a:xfrm>
          <a:prstGeom prst="rect">
            <a:avLst/>
          </a:prstGeom>
          <a:solidFill>
            <a:srgbClr val="1E3A68"/>
          </a:solidFill>
          <a:ln w="12700">
            <a:solidFill>
              <a:srgbClr val="1E3A68"/>
            </a:solidFill>
            <a:prstDash val="solid"/>
          </a:ln>
        </p:spPr>
        <p:txBody>
          <a:bodyPr/>
          <a:lstStyle/>
          <a:p>
            <a:endParaRPr lang="en-US"/>
          </a:p>
        </p:txBody>
      </p:sp>
      <p:sp>
        <p:nvSpPr>
          <p:cNvPr id="13" name="Text 8"/>
          <p:cNvSpPr/>
          <p:nvPr/>
        </p:nvSpPr>
        <p:spPr>
          <a:xfrm>
            <a:off x="365760" y="6675120"/>
            <a:ext cx="6400800" cy="18288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Hotel Booking Cancellation Prediction  |  Team 32</a:t>
            </a:r>
            <a:endParaRPr lang="en-US" sz="900" dirty="0"/>
          </a:p>
        </p:txBody>
      </p:sp>
      <p:sp>
        <p:nvSpPr>
          <p:cNvPr id="14" name="Text 9"/>
          <p:cNvSpPr/>
          <p:nvPr/>
        </p:nvSpPr>
        <p:spPr>
          <a:xfrm>
            <a:off x="11338560" y="6675120"/>
            <a:ext cx="548640" cy="18288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17 / 19</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0972800" cy="274320"/>
          </a:xfrm>
          <a:prstGeom prst="rect">
            <a:avLst/>
          </a:prstGeom>
          <a:noFill/>
          <a:ln/>
        </p:spPr>
        <p:txBody>
          <a:bodyPr wrap="square" lIns="0" tIns="0" rIns="0" bIns="0" rtlCol="0" anchor="ctr"/>
          <a:lstStyle/>
          <a:p>
            <a:pPr marL="0" indent="0">
              <a:buNone/>
            </a:pPr>
            <a:r>
              <a:rPr lang="en-US" sz="1100" b="1" kern="0" spc="400" dirty="0">
                <a:solidFill>
                  <a:srgbClr val="F59E0B"/>
                </a:solidFill>
                <a:latin typeface="Calibri" pitchFamily="34" charset="0"/>
                <a:ea typeface="Calibri" pitchFamily="34" charset="-122"/>
                <a:cs typeface="Calibri" pitchFamily="34" charset="-120"/>
              </a:rPr>
              <a:t>07  ·  CONCLUSION</a:t>
            </a:r>
            <a:endParaRPr lang="en-US" sz="1100" dirty="0"/>
          </a:p>
        </p:txBody>
      </p:sp>
      <p:sp>
        <p:nvSpPr>
          <p:cNvPr id="3" name="Text 1"/>
          <p:cNvSpPr/>
          <p:nvPr/>
        </p:nvSpPr>
        <p:spPr>
          <a:xfrm>
            <a:off x="548640" y="594360"/>
            <a:ext cx="10972800" cy="640080"/>
          </a:xfrm>
          <a:prstGeom prst="rect">
            <a:avLst/>
          </a:prstGeom>
          <a:noFill/>
          <a:ln/>
        </p:spPr>
        <p:txBody>
          <a:bodyPr wrap="square" lIns="0" tIns="0" rIns="0" bIns="0" rtlCol="0" anchor="ctr"/>
          <a:lstStyle/>
          <a:p>
            <a:pPr marL="0" indent="0">
              <a:buNone/>
            </a:pPr>
            <a:r>
              <a:rPr lang="en-US" sz="3000" b="1" dirty="0">
                <a:solidFill>
                  <a:srgbClr val="1E3A68"/>
                </a:solidFill>
                <a:latin typeface="Calibri" pitchFamily="34" charset="0"/>
                <a:ea typeface="Calibri" pitchFamily="34" charset="-122"/>
                <a:cs typeface="Calibri" pitchFamily="34" charset="-120"/>
              </a:rPr>
              <a:t>What We Learned</a:t>
            </a:r>
            <a:endParaRPr lang="en-US" sz="3000" dirty="0"/>
          </a:p>
        </p:txBody>
      </p:sp>
      <p:sp>
        <p:nvSpPr>
          <p:cNvPr id="4" name="Shape 2"/>
          <p:cNvSpPr/>
          <p:nvPr/>
        </p:nvSpPr>
        <p:spPr>
          <a:xfrm>
            <a:off x="548640" y="1691640"/>
            <a:ext cx="5440680" cy="2240280"/>
          </a:xfrm>
          <a:prstGeom prst="rect">
            <a:avLst/>
          </a:prstGeom>
          <a:solidFill>
            <a:srgbClr val="F0F4FA"/>
          </a:solidFill>
          <a:ln w="12700">
            <a:solidFill>
              <a:srgbClr val="F0F4FA"/>
            </a:solidFill>
            <a:prstDash val="solid"/>
          </a:ln>
        </p:spPr>
        <p:txBody>
          <a:bodyPr/>
          <a:lstStyle/>
          <a:p>
            <a:endParaRPr lang="en-US"/>
          </a:p>
        </p:txBody>
      </p:sp>
      <p:sp>
        <p:nvSpPr>
          <p:cNvPr id="5" name="Text 3"/>
          <p:cNvSpPr/>
          <p:nvPr/>
        </p:nvSpPr>
        <p:spPr>
          <a:xfrm>
            <a:off x="685800" y="1783080"/>
            <a:ext cx="822960" cy="2057400"/>
          </a:xfrm>
          <a:prstGeom prst="rect">
            <a:avLst/>
          </a:prstGeom>
          <a:noFill/>
          <a:ln/>
        </p:spPr>
        <p:txBody>
          <a:bodyPr wrap="square" lIns="0" tIns="0" rIns="0" bIns="0" rtlCol="0" anchor="ctr"/>
          <a:lstStyle/>
          <a:p>
            <a:pPr marL="0" indent="0" algn="ctr">
              <a:buNone/>
            </a:pPr>
            <a:r>
              <a:rPr lang="en-US" sz="5800" b="1" dirty="0">
                <a:solidFill>
                  <a:srgbClr val="F59E0B"/>
                </a:solidFill>
                <a:latin typeface="Calibri" pitchFamily="34" charset="0"/>
                <a:ea typeface="Calibri" pitchFamily="34" charset="-122"/>
                <a:cs typeface="Calibri" pitchFamily="34" charset="-120"/>
              </a:rPr>
              <a:t>1</a:t>
            </a:r>
            <a:endParaRPr lang="en-US" sz="5800" dirty="0"/>
          </a:p>
        </p:txBody>
      </p:sp>
      <p:sp>
        <p:nvSpPr>
          <p:cNvPr id="6" name="Text 4"/>
          <p:cNvSpPr/>
          <p:nvPr/>
        </p:nvSpPr>
        <p:spPr>
          <a:xfrm>
            <a:off x="1600200" y="1920240"/>
            <a:ext cx="4251960" cy="502920"/>
          </a:xfrm>
          <a:prstGeom prst="rect">
            <a:avLst/>
          </a:prstGeom>
          <a:noFill/>
          <a:ln/>
        </p:spPr>
        <p:txBody>
          <a:bodyPr wrap="square" lIns="0" tIns="0" rIns="0" bIns="0" rtlCol="0" anchor="ctr"/>
          <a:lstStyle/>
          <a:p>
            <a:pPr marL="0" indent="0">
              <a:buNone/>
            </a:pPr>
            <a:r>
              <a:rPr lang="en-US" sz="1600" b="1" dirty="0">
                <a:solidFill>
                  <a:srgbClr val="1E3A68"/>
                </a:solidFill>
                <a:latin typeface="Calibri" pitchFamily="34" charset="0"/>
                <a:ea typeface="Calibri" pitchFamily="34" charset="-122"/>
                <a:cs typeface="Calibri" pitchFamily="34" charset="-120"/>
              </a:rPr>
              <a:t>Random Forest is the right tool</a:t>
            </a:r>
            <a:endParaRPr lang="en-US" sz="1600" dirty="0"/>
          </a:p>
        </p:txBody>
      </p:sp>
      <p:sp>
        <p:nvSpPr>
          <p:cNvPr id="7" name="Text 5"/>
          <p:cNvSpPr/>
          <p:nvPr/>
        </p:nvSpPr>
        <p:spPr>
          <a:xfrm>
            <a:off x="1600200" y="2468880"/>
            <a:ext cx="4251960" cy="1280160"/>
          </a:xfrm>
          <a:prstGeom prst="rect">
            <a:avLst/>
          </a:prstGeom>
          <a:noFill/>
          <a:ln/>
        </p:spPr>
        <p:txBody>
          <a:bodyPr wrap="square" lIns="0" tIns="0" rIns="0" bIns="0" rtlCol="0" anchor="t"/>
          <a:lstStyle/>
          <a:p>
            <a:pPr marL="0" indent="0">
              <a:buNone/>
            </a:pPr>
            <a:r>
              <a:rPr lang="en-US" sz="1200" dirty="0">
                <a:solidFill>
                  <a:srgbClr val="1E293B"/>
                </a:solidFill>
                <a:latin typeface="Calibri" pitchFamily="34" charset="0"/>
                <a:ea typeface="Calibri" pitchFamily="34" charset="-122"/>
                <a:cs typeface="Calibri" pitchFamily="34" charset="-120"/>
              </a:rPr>
              <a:t>Highest accuracy on every dataset (87 to 90 percent). The ranking did not flip once across three independent sources, which makes this a reliable result.</a:t>
            </a:r>
            <a:endParaRPr lang="en-US" sz="1200" dirty="0"/>
          </a:p>
        </p:txBody>
      </p:sp>
      <p:sp>
        <p:nvSpPr>
          <p:cNvPr id="8" name="Shape 6"/>
          <p:cNvSpPr/>
          <p:nvPr/>
        </p:nvSpPr>
        <p:spPr>
          <a:xfrm>
            <a:off x="6263640" y="1691640"/>
            <a:ext cx="5440680" cy="2240280"/>
          </a:xfrm>
          <a:prstGeom prst="rect">
            <a:avLst/>
          </a:prstGeom>
          <a:solidFill>
            <a:srgbClr val="F0F4FA"/>
          </a:solidFill>
          <a:ln w="12700">
            <a:solidFill>
              <a:srgbClr val="F0F4FA"/>
            </a:solidFill>
            <a:prstDash val="solid"/>
          </a:ln>
        </p:spPr>
        <p:txBody>
          <a:bodyPr/>
          <a:lstStyle/>
          <a:p>
            <a:endParaRPr lang="en-US"/>
          </a:p>
        </p:txBody>
      </p:sp>
      <p:sp>
        <p:nvSpPr>
          <p:cNvPr id="9" name="Text 7"/>
          <p:cNvSpPr/>
          <p:nvPr/>
        </p:nvSpPr>
        <p:spPr>
          <a:xfrm>
            <a:off x="6400800" y="1783080"/>
            <a:ext cx="822960" cy="2057400"/>
          </a:xfrm>
          <a:prstGeom prst="rect">
            <a:avLst/>
          </a:prstGeom>
          <a:noFill/>
          <a:ln/>
        </p:spPr>
        <p:txBody>
          <a:bodyPr wrap="square" lIns="0" tIns="0" rIns="0" bIns="0" rtlCol="0" anchor="ctr"/>
          <a:lstStyle/>
          <a:p>
            <a:pPr marL="0" indent="0" algn="ctr">
              <a:buNone/>
            </a:pPr>
            <a:r>
              <a:rPr lang="en-US" sz="5800" b="1" dirty="0">
                <a:solidFill>
                  <a:srgbClr val="F59E0B"/>
                </a:solidFill>
                <a:latin typeface="Calibri" pitchFamily="34" charset="0"/>
                <a:ea typeface="Calibri" pitchFamily="34" charset="-122"/>
                <a:cs typeface="Calibri" pitchFamily="34" charset="-120"/>
              </a:rPr>
              <a:t>2</a:t>
            </a:r>
            <a:endParaRPr lang="en-US" sz="5800" dirty="0"/>
          </a:p>
        </p:txBody>
      </p:sp>
      <p:sp>
        <p:nvSpPr>
          <p:cNvPr id="10" name="Text 8"/>
          <p:cNvSpPr/>
          <p:nvPr/>
        </p:nvSpPr>
        <p:spPr>
          <a:xfrm>
            <a:off x="7315200" y="1920240"/>
            <a:ext cx="4251960" cy="502920"/>
          </a:xfrm>
          <a:prstGeom prst="rect">
            <a:avLst/>
          </a:prstGeom>
          <a:noFill/>
          <a:ln/>
        </p:spPr>
        <p:txBody>
          <a:bodyPr wrap="square" lIns="0" tIns="0" rIns="0" bIns="0" rtlCol="0" anchor="ctr"/>
          <a:lstStyle/>
          <a:p>
            <a:pPr marL="0" indent="0">
              <a:buNone/>
            </a:pPr>
            <a:r>
              <a:rPr lang="en-US" sz="1600" b="1" dirty="0">
                <a:solidFill>
                  <a:srgbClr val="1E3A68"/>
                </a:solidFill>
                <a:latin typeface="Calibri" pitchFamily="34" charset="0"/>
                <a:ea typeface="Calibri" pitchFamily="34" charset="-122"/>
                <a:cs typeface="Calibri" pitchFamily="34" charset="-120"/>
              </a:rPr>
              <a:t>Tabular data does not need deep learning</a:t>
            </a:r>
            <a:endParaRPr lang="en-US" sz="1600" dirty="0"/>
          </a:p>
        </p:txBody>
      </p:sp>
      <p:sp>
        <p:nvSpPr>
          <p:cNvPr id="11" name="Text 9"/>
          <p:cNvSpPr/>
          <p:nvPr/>
        </p:nvSpPr>
        <p:spPr>
          <a:xfrm>
            <a:off x="7315200" y="2468880"/>
            <a:ext cx="4251960" cy="1280160"/>
          </a:xfrm>
          <a:prstGeom prst="rect">
            <a:avLst/>
          </a:prstGeom>
          <a:noFill/>
          <a:ln/>
        </p:spPr>
        <p:txBody>
          <a:bodyPr wrap="square" lIns="0" tIns="0" rIns="0" bIns="0" rtlCol="0" anchor="t"/>
          <a:lstStyle/>
          <a:p>
            <a:pPr marL="0" indent="0">
              <a:buNone/>
            </a:pPr>
            <a:r>
              <a:rPr lang="en-US" sz="1200" dirty="0">
                <a:solidFill>
                  <a:srgbClr val="1E293B"/>
                </a:solidFill>
                <a:latin typeface="Calibri" pitchFamily="34" charset="0"/>
                <a:ea typeface="Calibri" pitchFamily="34" charset="-122"/>
                <a:cs typeface="Calibri" pitchFamily="34" charset="-120"/>
              </a:rPr>
              <a:t>Conv1D-based CNN lost to tree-based models. Column order is arbitrary in tabular data so the convolutional bias does not help.</a:t>
            </a:r>
            <a:endParaRPr lang="en-US" sz="1200" dirty="0"/>
          </a:p>
        </p:txBody>
      </p:sp>
      <p:sp>
        <p:nvSpPr>
          <p:cNvPr id="12" name="Shape 10"/>
          <p:cNvSpPr/>
          <p:nvPr/>
        </p:nvSpPr>
        <p:spPr>
          <a:xfrm>
            <a:off x="548640" y="4114800"/>
            <a:ext cx="5440680" cy="2240280"/>
          </a:xfrm>
          <a:prstGeom prst="rect">
            <a:avLst/>
          </a:prstGeom>
          <a:solidFill>
            <a:srgbClr val="F0F4FA"/>
          </a:solidFill>
          <a:ln w="12700">
            <a:solidFill>
              <a:srgbClr val="F0F4FA"/>
            </a:solidFill>
            <a:prstDash val="solid"/>
          </a:ln>
        </p:spPr>
        <p:txBody>
          <a:bodyPr/>
          <a:lstStyle/>
          <a:p>
            <a:endParaRPr lang="en-US"/>
          </a:p>
        </p:txBody>
      </p:sp>
      <p:sp>
        <p:nvSpPr>
          <p:cNvPr id="13" name="Text 11"/>
          <p:cNvSpPr/>
          <p:nvPr/>
        </p:nvSpPr>
        <p:spPr>
          <a:xfrm>
            <a:off x="685800" y="4206240"/>
            <a:ext cx="822960" cy="2057400"/>
          </a:xfrm>
          <a:prstGeom prst="rect">
            <a:avLst/>
          </a:prstGeom>
          <a:noFill/>
          <a:ln/>
        </p:spPr>
        <p:txBody>
          <a:bodyPr wrap="square" lIns="0" tIns="0" rIns="0" bIns="0" rtlCol="0" anchor="ctr"/>
          <a:lstStyle/>
          <a:p>
            <a:pPr marL="0" indent="0" algn="ctr">
              <a:buNone/>
            </a:pPr>
            <a:r>
              <a:rPr lang="en-US" sz="5800" b="1" dirty="0">
                <a:solidFill>
                  <a:srgbClr val="F59E0B"/>
                </a:solidFill>
                <a:latin typeface="Calibri" pitchFamily="34" charset="0"/>
                <a:ea typeface="Calibri" pitchFamily="34" charset="-122"/>
                <a:cs typeface="Calibri" pitchFamily="34" charset="-120"/>
              </a:rPr>
              <a:t>3</a:t>
            </a:r>
            <a:endParaRPr lang="en-US" sz="5800" dirty="0"/>
          </a:p>
        </p:txBody>
      </p:sp>
      <p:sp>
        <p:nvSpPr>
          <p:cNvPr id="14" name="Text 12"/>
          <p:cNvSpPr/>
          <p:nvPr/>
        </p:nvSpPr>
        <p:spPr>
          <a:xfrm>
            <a:off x="1600200" y="4343400"/>
            <a:ext cx="4251960" cy="502920"/>
          </a:xfrm>
          <a:prstGeom prst="rect">
            <a:avLst/>
          </a:prstGeom>
          <a:noFill/>
          <a:ln/>
        </p:spPr>
        <p:txBody>
          <a:bodyPr wrap="square" lIns="0" tIns="0" rIns="0" bIns="0" rtlCol="0" anchor="ctr"/>
          <a:lstStyle/>
          <a:p>
            <a:pPr marL="0" indent="0">
              <a:buNone/>
            </a:pPr>
            <a:r>
              <a:rPr lang="en-US" sz="1600" b="1" dirty="0">
                <a:solidFill>
                  <a:srgbClr val="1E3A68"/>
                </a:solidFill>
                <a:latin typeface="Calibri" pitchFamily="34" charset="0"/>
                <a:ea typeface="Calibri" pitchFamily="34" charset="-122"/>
                <a:cs typeface="Calibri" pitchFamily="34" charset="-120"/>
              </a:rPr>
              <a:t>Lead time and deposit type carry the most signal</a:t>
            </a:r>
            <a:endParaRPr lang="en-US" sz="1600" dirty="0"/>
          </a:p>
        </p:txBody>
      </p:sp>
      <p:sp>
        <p:nvSpPr>
          <p:cNvPr id="15" name="Text 13"/>
          <p:cNvSpPr/>
          <p:nvPr/>
        </p:nvSpPr>
        <p:spPr>
          <a:xfrm>
            <a:off x="1600200" y="4892040"/>
            <a:ext cx="4251960" cy="1280160"/>
          </a:xfrm>
          <a:prstGeom prst="rect">
            <a:avLst/>
          </a:prstGeom>
          <a:noFill/>
          <a:ln/>
        </p:spPr>
        <p:txBody>
          <a:bodyPr wrap="square" lIns="0" tIns="0" rIns="0" bIns="0" rtlCol="0" anchor="t"/>
          <a:lstStyle/>
          <a:p>
            <a:pPr marL="0" indent="0">
              <a:buNone/>
            </a:pPr>
            <a:r>
              <a:rPr lang="en-US" sz="1200" dirty="0">
                <a:solidFill>
                  <a:srgbClr val="1E293B"/>
                </a:solidFill>
                <a:latin typeface="Calibri" pitchFamily="34" charset="0"/>
                <a:ea typeface="Calibri" pitchFamily="34" charset="-122"/>
                <a:cs typeface="Calibri" pitchFamily="34" charset="-120"/>
              </a:rPr>
              <a:t>Visualization confirmed it before the models did. These two features alone separate the classes very well.</a:t>
            </a:r>
            <a:endParaRPr lang="en-US" sz="1200" dirty="0"/>
          </a:p>
        </p:txBody>
      </p:sp>
      <p:sp>
        <p:nvSpPr>
          <p:cNvPr id="16" name="Shape 14"/>
          <p:cNvSpPr/>
          <p:nvPr/>
        </p:nvSpPr>
        <p:spPr>
          <a:xfrm>
            <a:off x="6263640" y="4114800"/>
            <a:ext cx="5440680" cy="2240280"/>
          </a:xfrm>
          <a:prstGeom prst="rect">
            <a:avLst/>
          </a:prstGeom>
          <a:solidFill>
            <a:srgbClr val="F0F4FA"/>
          </a:solidFill>
          <a:ln w="12700">
            <a:solidFill>
              <a:srgbClr val="F0F4FA"/>
            </a:solidFill>
            <a:prstDash val="solid"/>
          </a:ln>
        </p:spPr>
        <p:txBody>
          <a:bodyPr/>
          <a:lstStyle/>
          <a:p>
            <a:endParaRPr lang="en-US"/>
          </a:p>
        </p:txBody>
      </p:sp>
      <p:sp>
        <p:nvSpPr>
          <p:cNvPr id="17" name="Text 15"/>
          <p:cNvSpPr/>
          <p:nvPr/>
        </p:nvSpPr>
        <p:spPr>
          <a:xfrm>
            <a:off x="6400800" y="4206240"/>
            <a:ext cx="822960" cy="2057400"/>
          </a:xfrm>
          <a:prstGeom prst="rect">
            <a:avLst/>
          </a:prstGeom>
          <a:noFill/>
          <a:ln/>
        </p:spPr>
        <p:txBody>
          <a:bodyPr wrap="square" lIns="0" tIns="0" rIns="0" bIns="0" rtlCol="0" anchor="ctr"/>
          <a:lstStyle/>
          <a:p>
            <a:pPr marL="0" indent="0" algn="ctr">
              <a:buNone/>
            </a:pPr>
            <a:r>
              <a:rPr lang="en-US" sz="5800" b="1" dirty="0">
                <a:solidFill>
                  <a:srgbClr val="F59E0B"/>
                </a:solidFill>
                <a:latin typeface="Calibri" pitchFamily="34" charset="0"/>
                <a:ea typeface="Calibri" pitchFamily="34" charset="-122"/>
                <a:cs typeface="Calibri" pitchFamily="34" charset="-120"/>
              </a:rPr>
              <a:t>4</a:t>
            </a:r>
            <a:endParaRPr lang="en-US" sz="5800" dirty="0"/>
          </a:p>
        </p:txBody>
      </p:sp>
      <p:sp>
        <p:nvSpPr>
          <p:cNvPr id="18" name="Text 16"/>
          <p:cNvSpPr/>
          <p:nvPr/>
        </p:nvSpPr>
        <p:spPr>
          <a:xfrm>
            <a:off x="7315200" y="4343400"/>
            <a:ext cx="4251960" cy="502920"/>
          </a:xfrm>
          <a:prstGeom prst="rect">
            <a:avLst/>
          </a:prstGeom>
          <a:noFill/>
          <a:ln/>
        </p:spPr>
        <p:txBody>
          <a:bodyPr wrap="square" lIns="0" tIns="0" rIns="0" bIns="0" rtlCol="0" anchor="ctr"/>
          <a:lstStyle/>
          <a:p>
            <a:pPr marL="0" indent="0">
              <a:buNone/>
            </a:pPr>
            <a:r>
              <a:rPr lang="en-US" sz="1600" b="1" dirty="0">
                <a:solidFill>
                  <a:srgbClr val="1E3A68"/>
                </a:solidFill>
                <a:latin typeface="Calibri" pitchFamily="34" charset="0"/>
                <a:ea typeface="Calibri" pitchFamily="34" charset="-122"/>
                <a:cs typeface="Calibri" pitchFamily="34" charset="-120"/>
              </a:rPr>
              <a:t>Class imbalance hurts recall</a:t>
            </a:r>
            <a:endParaRPr lang="en-US" sz="1600" dirty="0"/>
          </a:p>
        </p:txBody>
      </p:sp>
      <p:sp>
        <p:nvSpPr>
          <p:cNvPr id="19" name="Text 17"/>
          <p:cNvSpPr/>
          <p:nvPr/>
        </p:nvSpPr>
        <p:spPr>
          <a:xfrm>
            <a:off x="7315200" y="4892040"/>
            <a:ext cx="4251960" cy="1280160"/>
          </a:xfrm>
          <a:prstGeom prst="rect">
            <a:avLst/>
          </a:prstGeom>
          <a:noFill/>
          <a:ln/>
        </p:spPr>
        <p:txBody>
          <a:bodyPr wrap="square" lIns="0" tIns="0" rIns="0" bIns="0" rtlCol="0" anchor="t"/>
          <a:lstStyle/>
          <a:p>
            <a:pPr marL="0" indent="0">
              <a:buNone/>
            </a:pPr>
            <a:r>
              <a:rPr lang="en-US" sz="1200" dirty="0">
                <a:solidFill>
                  <a:srgbClr val="1E293B"/>
                </a:solidFill>
                <a:latin typeface="Calibri" pitchFamily="34" charset="0"/>
                <a:ea typeface="Calibri" pitchFamily="34" charset="-122"/>
                <a:cs typeface="Calibri" pitchFamily="34" charset="-120"/>
              </a:rPr>
              <a:t>Even our best model missed roughly 20 percent of real cancellations. The minority class is harder than the headline accuracy suggests.</a:t>
            </a:r>
            <a:endParaRPr lang="en-US" sz="1200" dirty="0"/>
          </a:p>
        </p:txBody>
      </p:sp>
      <p:sp>
        <p:nvSpPr>
          <p:cNvPr id="20" name="Shape 18"/>
          <p:cNvSpPr/>
          <p:nvPr/>
        </p:nvSpPr>
        <p:spPr>
          <a:xfrm>
            <a:off x="0" y="6675120"/>
            <a:ext cx="12161520" cy="182880"/>
          </a:xfrm>
          <a:prstGeom prst="rect">
            <a:avLst/>
          </a:prstGeom>
          <a:solidFill>
            <a:srgbClr val="1E3A68"/>
          </a:solidFill>
          <a:ln w="12700">
            <a:solidFill>
              <a:srgbClr val="1E3A68"/>
            </a:solidFill>
            <a:prstDash val="solid"/>
          </a:ln>
        </p:spPr>
        <p:txBody>
          <a:bodyPr/>
          <a:lstStyle/>
          <a:p>
            <a:endParaRPr lang="en-US"/>
          </a:p>
        </p:txBody>
      </p:sp>
      <p:sp>
        <p:nvSpPr>
          <p:cNvPr id="21" name="Text 19"/>
          <p:cNvSpPr/>
          <p:nvPr/>
        </p:nvSpPr>
        <p:spPr>
          <a:xfrm>
            <a:off x="365760" y="6675120"/>
            <a:ext cx="6400800" cy="18288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Hotel Booking Cancellation Prediction  |  Team 32</a:t>
            </a:r>
            <a:endParaRPr lang="en-US" sz="900" dirty="0"/>
          </a:p>
        </p:txBody>
      </p:sp>
      <p:sp>
        <p:nvSpPr>
          <p:cNvPr id="22" name="Text 20"/>
          <p:cNvSpPr/>
          <p:nvPr/>
        </p:nvSpPr>
        <p:spPr>
          <a:xfrm>
            <a:off x="11338560" y="6675120"/>
            <a:ext cx="548640" cy="18288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18 / 19</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E3A68"/>
        </a:solidFill>
        <a:effectLst/>
      </p:bgPr>
    </p:bg>
    <p:spTree>
      <p:nvGrpSpPr>
        <p:cNvPr id="1" name=""/>
        <p:cNvGrpSpPr/>
        <p:nvPr/>
      </p:nvGrpSpPr>
      <p:grpSpPr>
        <a:xfrm>
          <a:off x="0" y="0"/>
          <a:ext cx="0" cy="0"/>
          <a:chOff x="0" y="0"/>
          <a:chExt cx="0" cy="0"/>
        </a:xfrm>
      </p:grpSpPr>
      <p:sp>
        <p:nvSpPr>
          <p:cNvPr id="2" name="Text 0"/>
          <p:cNvSpPr/>
          <p:nvPr/>
        </p:nvSpPr>
        <p:spPr>
          <a:xfrm>
            <a:off x="640080" y="548640"/>
            <a:ext cx="5486400" cy="320040"/>
          </a:xfrm>
          <a:prstGeom prst="rect">
            <a:avLst/>
          </a:prstGeom>
          <a:noFill/>
          <a:ln/>
        </p:spPr>
        <p:txBody>
          <a:bodyPr wrap="square" lIns="0" tIns="0" rIns="0" bIns="0" rtlCol="0" anchor="ctr"/>
          <a:lstStyle/>
          <a:p>
            <a:pPr marL="0" indent="0">
              <a:buNone/>
            </a:pPr>
            <a:r>
              <a:rPr lang="en-US" sz="1100" b="1" kern="0" spc="600" dirty="0">
                <a:solidFill>
                  <a:srgbClr val="F59E0B"/>
                </a:solidFill>
                <a:latin typeface="Calibri" pitchFamily="34" charset="0"/>
                <a:ea typeface="Calibri" pitchFamily="34" charset="-122"/>
                <a:cs typeface="Calibri" pitchFamily="34" charset="-120"/>
              </a:rPr>
              <a:t>WHAT COMES NEXT</a:t>
            </a:r>
            <a:endParaRPr lang="en-US" sz="1100" dirty="0"/>
          </a:p>
        </p:txBody>
      </p:sp>
      <p:sp>
        <p:nvSpPr>
          <p:cNvPr id="3" name="Text 1"/>
          <p:cNvSpPr/>
          <p:nvPr/>
        </p:nvSpPr>
        <p:spPr>
          <a:xfrm>
            <a:off x="640080" y="868680"/>
            <a:ext cx="5486400" cy="59436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Future Work</a:t>
            </a:r>
            <a:endParaRPr lang="en-US" sz="3000" dirty="0"/>
          </a:p>
        </p:txBody>
      </p:sp>
      <p:sp>
        <p:nvSpPr>
          <p:cNvPr id="4" name="Text 2"/>
          <p:cNvSpPr/>
          <p:nvPr/>
        </p:nvSpPr>
        <p:spPr>
          <a:xfrm>
            <a:off x="640080" y="1600200"/>
            <a:ext cx="5486400" cy="457200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DBE7F8"/>
                </a:solidFill>
                <a:latin typeface="Calibri" pitchFamily="34" charset="0"/>
                <a:ea typeface="Calibri" pitchFamily="34" charset="-122"/>
                <a:cs typeface="Calibri" pitchFamily="34" charset="-120"/>
              </a:rPr>
              <a:t>Fix class imbalance with SMOTE or class weights to lift recall on cancellations</a:t>
            </a:r>
            <a:endParaRPr lang="en-US" sz="1300" dirty="0"/>
          </a:p>
          <a:p>
            <a:pPr marL="342900" indent="-342900">
              <a:spcAft>
                <a:spcPts val="600"/>
              </a:spcAft>
              <a:buSzPct val="100000"/>
              <a:buChar char="■"/>
            </a:pPr>
            <a:r>
              <a:rPr lang="en-US" sz="1300" dirty="0">
                <a:solidFill>
                  <a:srgbClr val="DBE7F8"/>
                </a:solidFill>
                <a:latin typeface="Calibri" pitchFamily="34" charset="0"/>
                <a:ea typeface="Calibri" pitchFamily="34" charset="-122"/>
                <a:cs typeface="Calibri" pitchFamily="34" charset="-120"/>
              </a:rPr>
              <a:t>Run grid search or randomized search on RF, KNN and Decision Tree hyperparameters</a:t>
            </a:r>
            <a:endParaRPr lang="en-US" sz="1300" dirty="0"/>
          </a:p>
          <a:p>
            <a:pPr marL="342900" indent="-342900">
              <a:spcAft>
                <a:spcPts val="600"/>
              </a:spcAft>
              <a:buSzPct val="100000"/>
              <a:buChar char="■"/>
            </a:pPr>
            <a:r>
              <a:rPr lang="en-US" sz="1300" dirty="0">
                <a:solidFill>
                  <a:srgbClr val="DBE7F8"/>
                </a:solidFill>
                <a:latin typeface="Calibri" pitchFamily="34" charset="0"/>
                <a:ea typeface="Calibri" pitchFamily="34" charset="-122"/>
                <a:cs typeface="Calibri" pitchFamily="34" charset="-120"/>
              </a:rPr>
              <a:t>Move from a single split to 5 or 10 fold cross validation</a:t>
            </a:r>
            <a:endParaRPr lang="en-US" sz="1300" dirty="0"/>
          </a:p>
          <a:p>
            <a:pPr marL="342900" indent="-342900">
              <a:spcAft>
                <a:spcPts val="600"/>
              </a:spcAft>
              <a:buSzPct val="100000"/>
              <a:buChar char="■"/>
            </a:pPr>
            <a:r>
              <a:rPr lang="en-US" sz="1300" dirty="0">
                <a:solidFill>
                  <a:srgbClr val="DBE7F8"/>
                </a:solidFill>
                <a:latin typeface="Calibri" pitchFamily="34" charset="0"/>
                <a:ea typeface="Calibri" pitchFamily="34" charset="-122"/>
                <a:cs typeface="Calibri" pitchFamily="34" charset="-120"/>
              </a:rPr>
              <a:t>Compare against XGBoost, LightGBM and TabNet to test gradient boosting and tabular DL</a:t>
            </a:r>
            <a:endParaRPr lang="en-US" sz="1300" dirty="0"/>
          </a:p>
          <a:p>
            <a:pPr marL="342900" indent="-342900">
              <a:spcAft>
                <a:spcPts val="600"/>
              </a:spcAft>
              <a:buSzPct val="100000"/>
              <a:buChar char="■"/>
            </a:pPr>
            <a:r>
              <a:rPr lang="en-US" sz="1300" dirty="0">
                <a:solidFill>
                  <a:srgbClr val="DBE7F8"/>
                </a:solidFill>
                <a:latin typeface="Calibri" pitchFamily="34" charset="0"/>
                <a:ea typeface="Calibri" pitchFamily="34" charset="-122"/>
                <a:cs typeface="Calibri" pitchFamily="34" charset="-120"/>
              </a:rPr>
              <a:t>Engineer seasonal features, holiday flags and day of week from dropped date columns</a:t>
            </a:r>
            <a:endParaRPr lang="en-US" sz="1300" dirty="0"/>
          </a:p>
          <a:p>
            <a:pPr marL="342900" indent="-342900">
              <a:spcAft>
                <a:spcPts val="600"/>
              </a:spcAft>
              <a:buSzPct val="100000"/>
              <a:buChar char="■"/>
            </a:pPr>
            <a:r>
              <a:rPr lang="en-US" sz="1300" dirty="0">
                <a:solidFill>
                  <a:srgbClr val="DBE7F8"/>
                </a:solidFill>
                <a:latin typeface="Calibri" pitchFamily="34" charset="0"/>
                <a:ea typeface="Calibri" pitchFamily="34" charset="-122"/>
                <a:cs typeface="Calibri" pitchFamily="34" charset="-120"/>
              </a:rPr>
              <a:t>Wrap the final model in an API for real time risk scoring on incoming bookings</a:t>
            </a:r>
            <a:endParaRPr lang="en-US" sz="1300" dirty="0"/>
          </a:p>
        </p:txBody>
      </p:sp>
      <p:sp>
        <p:nvSpPr>
          <p:cNvPr id="5" name="Shape 3"/>
          <p:cNvSpPr/>
          <p:nvPr/>
        </p:nvSpPr>
        <p:spPr>
          <a:xfrm>
            <a:off x="6400800" y="640080"/>
            <a:ext cx="73152" cy="5486400"/>
          </a:xfrm>
          <a:prstGeom prst="rect">
            <a:avLst/>
          </a:prstGeom>
          <a:solidFill>
            <a:srgbClr val="F59E0B"/>
          </a:solidFill>
          <a:ln w="12700">
            <a:solidFill>
              <a:srgbClr val="F59E0B"/>
            </a:solidFill>
            <a:prstDash val="solid"/>
          </a:ln>
        </p:spPr>
        <p:txBody>
          <a:bodyPr/>
          <a:lstStyle/>
          <a:p>
            <a:endParaRPr lang="en-US"/>
          </a:p>
        </p:txBody>
      </p:sp>
      <p:sp>
        <p:nvSpPr>
          <p:cNvPr id="6" name="Text 4"/>
          <p:cNvSpPr/>
          <p:nvPr/>
        </p:nvSpPr>
        <p:spPr>
          <a:xfrm>
            <a:off x="6766560" y="1828800"/>
            <a:ext cx="5120640" cy="1097280"/>
          </a:xfrm>
          <a:prstGeom prst="rect">
            <a:avLst/>
          </a:prstGeom>
          <a:noFill/>
          <a:ln/>
        </p:spPr>
        <p:txBody>
          <a:bodyPr wrap="square" lIns="0" tIns="0" rIns="0" bIns="0" rtlCol="0" anchor="ctr"/>
          <a:lstStyle/>
          <a:p>
            <a:pPr marL="0" indent="0">
              <a:buNone/>
            </a:pPr>
            <a:r>
              <a:rPr lang="en-US" sz="5600" b="1" dirty="0">
                <a:solidFill>
                  <a:srgbClr val="FFFFFF"/>
                </a:solidFill>
                <a:latin typeface="Calibri" pitchFamily="34" charset="0"/>
                <a:ea typeface="Calibri" pitchFamily="34" charset="-122"/>
                <a:cs typeface="Calibri" pitchFamily="34" charset="-120"/>
              </a:rPr>
              <a:t>Thank You</a:t>
            </a:r>
            <a:endParaRPr lang="en-US" sz="5600" dirty="0"/>
          </a:p>
        </p:txBody>
      </p:sp>
      <p:sp>
        <p:nvSpPr>
          <p:cNvPr id="7" name="Text 5"/>
          <p:cNvSpPr/>
          <p:nvPr/>
        </p:nvSpPr>
        <p:spPr>
          <a:xfrm>
            <a:off x="6766560" y="2971800"/>
            <a:ext cx="5120640" cy="640080"/>
          </a:xfrm>
          <a:prstGeom prst="rect">
            <a:avLst/>
          </a:prstGeom>
          <a:noFill/>
          <a:ln/>
        </p:spPr>
        <p:txBody>
          <a:bodyPr wrap="square" lIns="0" tIns="0" rIns="0" bIns="0" rtlCol="0" anchor="ctr"/>
          <a:lstStyle/>
          <a:p>
            <a:pPr marL="0" indent="0">
              <a:buNone/>
            </a:pPr>
            <a:r>
              <a:rPr lang="en-US" sz="2600" i="1" dirty="0">
                <a:solidFill>
                  <a:srgbClr val="F59E0B"/>
                </a:solidFill>
                <a:latin typeface="Calibri" pitchFamily="34" charset="0"/>
                <a:ea typeface="Calibri" pitchFamily="34" charset="-122"/>
                <a:cs typeface="Calibri" pitchFamily="34" charset="-120"/>
              </a:rPr>
              <a:t>Questions?</a:t>
            </a:r>
            <a:endParaRPr lang="en-US" sz="2600" dirty="0"/>
          </a:p>
        </p:txBody>
      </p:sp>
      <p:sp>
        <p:nvSpPr>
          <p:cNvPr id="8" name="Shape 6"/>
          <p:cNvSpPr/>
          <p:nvPr/>
        </p:nvSpPr>
        <p:spPr>
          <a:xfrm>
            <a:off x="6766560" y="3840480"/>
            <a:ext cx="2286000" cy="0"/>
          </a:xfrm>
          <a:prstGeom prst="line">
            <a:avLst/>
          </a:prstGeom>
          <a:noFill/>
          <a:ln w="19050">
            <a:solidFill>
              <a:srgbClr val="FFFFFF"/>
            </a:solidFill>
            <a:prstDash val="solid"/>
          </a:ln>
        </p:spPr>
        <p:txBody>
          <a:bodyPr/>
          <a:lstStyle/>
          <a:p>
            <a:endParaRPr lang="en-US"/>
          </a:p>
        </p:txBody>
      </p:sp>
      <p:sp>
        <p:nvSpPr>
          <p:cNvPr id="9" name="Text 7"/>
          <p:cNvSpPr/>
          <p:nvPr/>
        </p:nvSpPr>
        <p:spPr>
          <a:xfrm>
            <a:off x="6766560" y="4023360"/>
            <a:ext cx="5120640" cy="182880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Team 32</a:t>
            </a:r>
            <a:endParaRPr lang="en-US" sz="1300" dirty="0"/>
          </a:p>
          <a:p>
            <a:pPr marL="0" indent="0">
              <a:buNone/>
            </a:pPr>
            <a:r>
              <a:rPr lang="en-US" sz="1300" dirty="0">
                <a:solidFill>
                  <a:srgbClr val="CADCFC"/>
                </a:solidFill>
                <a:latin typeface="Calibri" pitchFamily="34" charset="0"/>
                <a:ea typeface="Calibri" pitchFamily="34" charset="-122"/>
                <a:cs typeface="Calibri" pitchFamily="34" charset="-120"/>
              </a:rPr>
              <a:t>Ali Hassan Sulaiman</a:t>
            </a:r>
            <a:endParaRPr lang="en-US" sz="1300" dirty="0"/>
          </a:p>
          <a:p>
            <a:pPr marL="0" indent="0">
              <a:buNone/>
            </a:pPr>
            <a:r>
              <a:rPr lang="en-US" sz="1300" dirty="0">
                <a:solidFill>
                  <a:srgbClr val="CADCFC"/>
                </a:solidFill>
                <a:latin typeface="Calibri" pitchFamily="34" charset="0"/>
                <a:ea typeface="Calibri" pitchFamily="34" charset="-122"/>
                <a:cs typeface="Calibri" pitchFamily="34" charset="-120"/>
              </a:rPr>
              <a:t>Mohamed Waleed Galal</a:t>
            </a:r>
            <a:endParaRPr lang="en-US" sz="1300" dirty="0"/>
          </a:p>
          <a:p>
            <a:pPr marL="0" indent="0">
              <a:buNone/>
            </a:pPr>
            <a:r>
              <a:rPr lang="en-US" sz="1300" dirty="0">
                <a:solidFill>
                  <a:srgbClr val="CADCFC"/>
                </a:solidFill>
                <a:latin typeface="Calibri" pitchFamily="34" charset="0"/>
                <a:ea typeface="Calibri" pitchFamily="34" charset="-122"/>
                <a:cs typeface="Calibri" pitchFamily="34" charset="-120"/>
              </a:rPr>
              <a:t>Omar Hassan Mostafa</a:t>
            </a:r>
            <a:endParaRPr lang="en-US" sz="1300" dirty="0"/>
          </a:p>
          <a:p>
            <a:pPr marL="0" indent="0">
              <a:buNone/>
            </a:pPr>
            <a:r>
              <a:rPr lang="en-US" sz="1300" dirty="0">
                <a:solidFill>
                  <a:srgbClr val="CADCFC"/>
                </a:solidFill>
                <a:latin typeface="Calibri" pitchFamily="34" charset="0"/>
                <a:ea typeface="Calibri" pitchFamily="34" charset="-122"/>
                <a:cs typeface="Calibri" pitchFamily="34" charset="-120"/>
              </a:rPr>
              <a:t>Zyad Tarek Mohamed</a:t>
            </a:r>
            <a:endParaRPr lang="en-US" sz="1300" dirty="0"/>
          </a:p>
        </p:txBody>
      </p:sp>
      <p:sp>
        <p:nvSpPr>
          <p:cNvPr id="10" name="Text 8"/>
          <p:cNvSpPr/>
          <p:nvPr/>
        </p:nvSpPr>
        <p:spPr>
          <a:xfrm>
            <a:off x="6766560" y="5943600"/>
            <a:ext cx="5120640" cy="274320"/>
          </a:xfrm>
          <a:prstGeom prst="rect">
            <a:avLst/>
          </a:prstGeom>
          <a:noFill/>
          <a:ln/>
        </p:spPr>
        <p:txBody>
          <a:bodyPr wrap="square" lIns="0" tIns="0" rIns="0" bIns="0" rtlCol="0" anchor="ctr"/>
          <a:lstStyle/>
          <a:p>
            <a:pPr marL="0" indent="0">
              <a:buNone/>
            </a:pPr>
            <a:r>
              <a:rPr lang="en-US" sz="1100" i="1" dirty="0">
                <a:solidFill>
                  <a:srgbClr val="9CB3D1"/>
                </a:solidFill>
                <a:latin typeface="Calibri" pitchFamily="34" charset="0"/>
                <a:ea typeface="Calibri" pitchFamily="34" charset="-122"/>
                <a:cs typeface="Calibri" pitchFamily="34" charset="-120"/>
              </a:rPr>
              <a:t>Misr International University  ·  Faculty of Computer Science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116</TotalTime>
  <Words>1761</Words>
  <Application>Microsoft Office PowerPoint</Application>
  <PresentationFormat>Widescreen</PresentationFormat>
  <Paragraphs>311</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Hotel Booking Cancellation Prediction</dc:title>
  <dc:subject>PptxGenJS Presentation</dc:subject>
  <dc:creator>Team 32</dc:creator>
  <cp:lastModifiedBy>ali sulaiman</cp:lastModifiedBy>
  <cp:revision>2</cp:revision>
  <dcterms:created xsi:type="dcterms:W3CDTF">2026-05-17T23:58:21Z</dcterms:created>
  <dcterms:modified xsi:type="dcterms:W3CDTF">2026-05-18T09:39:57Z</dcterms:modified>
</cp:coreProperties>
</file>